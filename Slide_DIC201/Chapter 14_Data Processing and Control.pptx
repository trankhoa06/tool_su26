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sldIdLst>
    <p:sldId id="258" r:id="rId2"/>
    <p:sldId id="327" r:id="rId3"/>
    <p:sldId id="296" r:id="rId4"/>
    <p:sldId id="328" r:id="rId5"/>
    <p:sldId id="357" r:id="rId6"/>
    <p:sldId id="359" r:id="rId7"/>
    <p:sldId id="358" r:id="rId8"/>
    <p:sldId id="361" r:id="rId9"/>
    <p:sldId id="360" r:id="rId10"/>
    <p:sldId id="362" r:id="rId11"/>
    <p:sldId id="363" r:id="rId12"/>
    <p:sldId id="364" r:id="rId13"/>
    <p:sldId id="365" r:id="rId14"/>
    <p:sldId id="366" r:id="rId15"/>
    <p:sldId id="367" r:id="rId16"/>
    <p:sldId id="369" r:id="rId17"/>
    <p:sldId id="368" r:id="rId18"/>
    <p:sldId id="370" r:id="rId19"/>
    <p:sldId id="371" r:id="rId20"/>
    <p:sldId id="372" r:id="rId21"/>
    <p:sldId id="373" r:id="rId22"/>
    <p:sldId id="374" r:id="rId23"/>
    <p:sldId id="375" r:id="rId24"/>
    <p:sldId id="376" r:id="rId25"/>
    <p:sldId id="377" r:id="rId26"/>
    <p:sldId id="378" r:id="rId27"/>
    <p:sldId id="380" r:id="rId28"/>
    <p:sldId id="381" r:id="rId29"/>
    <p:sldId id="382" r:id="rId30"/>
    <p:sldId id="383" r:id="rId31"/>
    <p:sldId id="384" r:id="rId32"/>
    <p:sldId id="385" r:id="rId33"/>
    <p:sldId id="386" r:id="rId34"/>
    <p:sldId id="387" r:id="rId35"/>
    <p:sldId id="389" r:id="rId36"/>
    <p:sldId id="356" r:id="rId37"/>
    <p:sldId id="390" r:id="rId3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112020-9413-486F-BA5D-75CDAEC9B132}" v="33" dt="2024-04-17T15:14:20.5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72" autoAdjust="0"/>
    <p:restoredTop sz="94249" autoAdjust="0"/>
  </p:normalViewPr>
  <p:slideViewPr>
    <p:cSldViewPr snapToGrid="0">
      <p:cViewPr varScale="1">
        <p:scale>
          <a:sx n="72" d="100"/>
          <a:sy n="72" d="100"/>
        </p:scale>
        <p:origin x="648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5" d="100"/>
          <a:sy n="55" d="100"/>
        </p:scale>
        <p:origin x="2880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i Cao Van" userId="f7949ac2-728d-41dd-ad7e-3544eb396517" providerId="ADAL" clId="{9A112020-9413-486F-BA5D-75CDAEC9B132}"/>
    <pc:docChg chg="undo custSel addSld delSld modSld">
      <pc:chgData name="Mai Cao Van" userId="f7949ac2-728d-41dd-ad7e-3544eb396517" providerId="ADAL" clId="{9A112020-9413-486F-BA5D-75CDAEC9B132}" dt="2024-04-17T15:14:29.613" v="118" actId="14100"/>
      <pc:docMkLst>
        <pc:docMk/>
      </pc:docMkLst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14208525" sldId="2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26776459" sldId="257"/>
        </pc:sldMkLst>
      </pc:sldChg>
      <pc:sldChg chg="modSp mod modClrScheme chgLayout">
        <pc:chgData name="Mai Cao Van" userId="f7949ac2-728d-41dd-ad7e-3544eb396517" providerId="ADAL" clId="{9A112020-9413-486F-BA5D-75CDAEC9B132}" dt="2024-04-17T14:20:18.691" v="9" actId="207"/>
        <pc:sldMkLst>
          <pc:docMk/>
          <pc:sldMk cId="3190321118" sldId="258"/>
        </pc:sldMkLst>
        <pc:spChg chg="mod ord">
          <ac:chgData name="Mai Cao Van" userId="f7949ac2-728d-41dd-ad7e-3544eb396517" providerId="ADAL" clId="{9A112020-9413-486F-BA5D-75CDAEC9B132}" dt="2024-04-17T14:20:18.691" v="9" actId="207"/>
          <ac:spMkLst>
            <pc:docMk/>
            <pc:sldMk cId="3190321118" sldId="258"/>
            <ac:spMk id="2" creationId="{07CF3735-88FE-51EE-7EA1-A930D1D9D4F9}"/>
          </ac:spMkLst>
        </pc:spChg>
        <pc:spChg chg="mod ord">
          <ac:chgData name="Mai Cao Van" userId="f7949ac2-728d-41dd-ad7e-3544eb396517" providerId="ADAL" clId="{9A112020-9413-486F-BA5D-75CDAEC9B132}" dt="2024-04-17T14:20:02.053" v="5" actId="120"/>
          <ac:spMkLst>
            <pc:docMk/>
            <pc:sldMk cId="3190321118" sldId="258"/>
            <ac:spMk id="9" creationId="{F0932675-FEE9-806C-4C5C-4E45D1CBCBF5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71320278" sldId="25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7350594" sldId="26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06777267" sldId="2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5489809" sldId="2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91464535" sldId="26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6108424" sldId="26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53395001" sldId="26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89765472" sldId="26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60731846" sldId="26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336286143" sldId="26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1732853" sldId="26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43067150" sldId="27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890814" sldId="27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352985877" sldId="27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18896443" sldId="27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31915942" sldId="27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52181570" sldId="27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579499132" sldId="27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058281605" sldId="27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443217586" sldId="27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1532945" sldId="28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617769310" sldId="28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880446481" sldId="28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670850264" sldId="28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727363365" sldId="28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346282213" sldId="28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09053363" sldId="28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94563085" sldId="28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926019977" sldId="288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77283182" sldId="28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2004715" sldId="29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932815543" sldId="29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532717068" sldId="29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474586941" sldId="29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986597189" sldId="29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170217672" sldId="295"/>
        </pc:sldMkLst>
      </pc:sldChg>
      <pc:sldChg chg="addSp delSp modSp mod chgLayout">
        <pc:chgData name="Mai Cao Van" userId="f7949ac2-728d-41dd-ad7e-3544eb396517" providerId="ADAL" clId="{9A112020-9413-486F-BA5D-75CDAEC9B132}" dt="2024-04-17T15:07:47.436" v="76" actId="113"/>
        <pc:sldMkLst>
          <pc:docMk/>
          <pc:sldMk cId="1501905343" sldId="296"/>
        </pc:sldMkLst>
        <pc:spChg chg="mod or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2" creationId="{8C430AE8-0EBE-B0C5-28F2-79A2A6992611}"/>
          </ac:spMkLst>
        </pc:spChg>
        <pc:spChg chg="mod ord">
          <ac:chgData name="Mai Cao Van" userId="f7949ac2-728d-41dd-ad7e-3544eb396517" providerId="ADAL" clId="{9A112020-9413-486F-BA5D-75CDAEC9B132}" dt="2024-04-17T15:03:37.451" v="47" actId="123"/>
          <ac:spMkLst>
            <pc:docMk/>
            <pc:sldMk cId="1501905343" sldId="296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6" creationId="{4E16FE9D-6910-3544-261B-84B87D8CEB42}"/>
          </ac:spMkLst>
        </pc:spChg>
        <pc:spChg chg="add del mod">
          <ac:chgData name="Mai Cao Van" userId="f7949ac2-728d-41dd-ad7e-3544eb396517" providerId="ADAL" clId="{9A112020-9413-486F-BA5D-75CDAEC9B132}" dt="2024-04-17T14:58:01.765" v="16" actId="6264"/>
          <ac:spMkLst>
            <pc:docMk/>
            <pc:sldMk cId="1501905343" sldId="296"/>
            <ac:spMk id="7" creationId="{7F0A6817-88FB-7DF1-0253-7A09FF946583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8" creationId="{4C016DF6-0FEB-F18C-BF4A-135819304B30}"/>
          </ac:spMkLst>
        </pc:spChg>
        <pc:spChg chg="add del mod">
          <ac:chgData name="Mai Cao Van" userId="f7949ac2-728d-41dd-ad7e-3544eb396517" providerId="ADAL" clId="{9A112020-9413-486F-BA5D-75CDAEC9B132}" dt="2024-04-17T15:02:08.447" v="30" actId="6264"/>
          <ac:spMkLst>
            <pc:docMk/>
            <pc:sldMk cId="1501905343" sldId="296"/>
            <ac:spMk id="9" creationId="{F07948B4-DBBE-2601-1A16-1F3D99DFC0B4}"/>
          </ac:spMkLst>
        </pc:spChg>
        <pc:spChg chg="add mod">
          <ac:chgData name="Mai Cao Van" userId="f7949ac2-728d-41dd-ad7e-3544eb396517" providerId="ADAL" clId="{9A112020-9413-486F-BA5D-75CDAEC9B132}" dt="2024-04-17T15:07:47.436" v="76" actId="113"/>
          <ac:spMkLst>
            <pc:docMk/>
            <pc:sldMk cId="1501905343" sldId="296"/>
            <ac:spMk id="13" creationId="{C0DE56BB-D25E-8028-4B39-613B82E2F666}"/>
          </ac:spMkLst>
        </pc:spChg>
        <pc:picChg chg="add del mod">
          <ac:chgData name="Mai Cao Van" userId="f7949ac2-728d-41dd-ad7e-3544eb396517" providerId="ADAL" clId="{9A112020-9413-486F-BA5D-75CDAEC9B132}" dt="2024-04-17T14:58:25.778" v="17" actId="478"/>
          <ac:picMkLst>
            <pc:docMk/>
            <pc:sldMk cId="1501905343" sldId="296"/>
            <ac:picMk id="5" creationId="{DAFB7174-EBC2-F8A4-63D1-02D5BDF15D48}"/>
          </ac:picMkLst>
        </pc:picChg>
        <pc:picChg chg="add mod">
          <ac:chgData name="Mai Cao Van" userId="f7949ac2-728d-41dd-ad7e-3544eb396517" providerId="ADAL" clId="{9A112020-9413-486F-BA5D-75CDAEC9B132}" dt="2024-04-17T15:03:32.009" v="46" actId="1035"/>
          <ac:picMkLst>
            <pc:docMk/>
            <pc:sldMk cId="1501905343" sldId="296"/>
            <ac:picMk id="11" creationId="{3060298A-DE97-347C-64A7-3756612B109F}"/>
          </ac:picMkLst>
        </pc:picChg>
      </pc:sldChg>
      <pc:sldChg chg="addSp delSp modSp add mod chgLayout">
        <pc:chgData name="Mai Cao Van" userId="f7949ac2-728d-41dd-ad7e-3544eb396517" providerId="ADAL" clId="{9A112020-9413-486F-BA5D-75CDAEC9B132}" dt="2024-04-17T15:07:40.195" v="75" actId="113"/>
        <pc:sldMkLst>
          <pc:docMk/>
          <pc:sldMk cId="2933662193" sldId="301"/>
        </pc:sldMkLst>
        <pc:spChg chg="mod or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2" creationId="{8C430AE8-0EBE-B0C5-28F2-79A2A6992611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3" creationId="{70A34787-31ED-7DDC-549A-161AF8900A2B}"/>
          </ac:spMkLst>
        </pc:spChg>
        <pc:spChg chg="mod ord">
          <ac:chgData name="Mai Cao Van" userId="f7949ac2-728d-41dd-ad7e-3544eb396517" providerId="ADAL" clId="{9A112020-9413-486F-BA5D-75CDAEC9B132}" dt="2024-04-17T15:06:11.303" v="68" actId="27636"/>
          <ac:spMkLst>
            <pc:docMk/>
            <pc:sldMk cId="2933662193" sldId="301"/>
            <ac:spMk id="4" creationId="{BE7F8D9A-9F36-3F42-5DDB-B214C4EAC8A6}"/>
          </ac:spMkLst>
        </pc:spChg>
        <pc:spChg chg="add del mod">
          <ac:chgData name="Mai Cao Van" userId="f7949ac2-728d-41dd-ad7e-3544eb396517" providerId="ADAL" clId="{9A112020-9413-486F-BA5D-75CDAEC9B132}" dt="2024-04-17T15:05:44.895" v="59" actId="6264"/>
          <ac:spMkLst>
            <pc:docMk/>
            <pc:sldMk cId="2933662193" sldId="301"/>
            <ac:spMk id="5" creationId="{2AB4403E-1207-5BEB-0BA0-55A57680AB16}"/>
          </ac:spMkLst>
        </pc:spChg>
        <pc:spChg chg="mod">
          <ac:chgData name="Mai Cao Van" userId="f7949ac2-728d-41dd-ad7e-3544eb396517" providerId="ADAL" clId="{9A112020-9413-486F-BA5D-75CDAEC9B132}" dt="2024-04-17T15:07:40.195" v="75" actId="113"/>
          <ac:spMkLst>
            <pc:docMk/>
            <pc:sldMk cId="2933662193" sldId="301"/>
            <ac:spMk id="13" creationId="{C0DE56BB-D25E-8028-4B39-613B82E2F666}"/>
          </ac:spMkLst>
        </pc:spChg>
        <pc:picChg chg="add mod">
          <ac:chgData name="Mai Cao Van" userId="f7949ac2-728d-41dd-ad7e-3544eb396517" providerId="ADAL" clId="{9A112020-9413-486F-BA5D-75CDAEC9B132}" dt="2024-04-17T15:07:11.801" v="72" actId="14100"/>
          <ac:picMkLst>
            <pc:docMk/>
            <pc:sldMk cId="2933662193" sldId="301"/>
            <ac:picMk id="7" creationId="{BACB1871-71F6-5AFF-51A8-84E978A82971}"/>
          </ac:picMkLst>
        </pc:picChg>
        <pc:picChg chg="del">
          <ac:chgData name="Mai Cao Van" userId="f7949ac2-728d-41dd-ad7e-3544eb396517" providerId="ADAL" clId="{9A112020-9413-486F-BA5D-75CDAEC9B132}" dt="2024-04-17T15:05:56.729" v="63" actId="478"/>
          <ac:picMkLst>
            <pc:docMk/>
            <pc:sldMk cId="2933662193" sldId="301"/>
            <ac:picMk id="11" creationId="{3060298A-DE97-347C-64A7-3756612B109F}"/>
          </ac:picMkLst>
        </pc:pic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61348225" sldId="3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320354" sldId="302"/>
        </pc:sldMkLst>
      </pc:sldChg>
      <pc:sldChg chg="modSp add mod">
        <pc:chgData name="Mai Cao Van" userId="f7949ac2-728d-41dd-ad7e-3544eb396517" providerId="ADAL" clId="{9A112020-9413-486F-BA5D-75CDAEC9B132}" dt="2024-04-17T15:14:29.613" v="118" actId="14100"/>
        <pc:sldMkLst>
          <pc:docMk/>
          <pc:sldMk cId="2652356429" sldId="302"/>
        </pc:sldMkLst>
        <pc:spChg chg="mod">
          <ac:chgData name="Mai Cao Van" userId="f7949ac2-728d-41dd-ad7e-3544eb396517" providerId="ADAL" clId="{9A112020-9413-486F-BA5D-75CDAEC9B132}" dt="2024-04-17T15:14:29.613" v="118" actId="14100"/>
          <ac:spMkLst>
            <pc:docMk/>
            <pc:sldMk cId="2652356429" sldId="302"/>
            <ac:spMk id="4" creationId="{BE7F8D9A-9F36-3F42-5DDB-B214C4EAC8A6}"/>
          </ac:spMkLst>
        </pc:spChg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82246672" sldId="3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3158920" sldId="3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54021612" sldId="3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80960752" sldId="3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49476003" sldId="3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81069589" sldId="3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162619783" sldId="3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64759149" sldId="3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21748694" sldId="3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48051221" sldId="3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3469992" sldId="3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15820225" sldId="3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31213231" sldId="3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72900586" sldId="3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20231526" sldId="3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183509001" sldId="3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84775449" sldId="32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71388492" sldId="3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759009" sldId="3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67845728" sldId="3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0621169" sldId="3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53342677" sldId="3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5125376" sldId="3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87807566" sldId="3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07945801" sldId="3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78991458" sldId="3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42944599" sldId="3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47322492" sldId="3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0702777" sldId="3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90726604" sldId="3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34312387" sldId="3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662530898" sldId="3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10533634" sldId="3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24928923" sldId="3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28002459" sldId="3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90179627" sldId="3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63368077" sldId="3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09250700" sldId="3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50418921" sldId="3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57694825" sldId="3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05595158" sldId="34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73060477" sldId="34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59707268" sldId="349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848758112" sldId="350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036275847" sldId="351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181531778" sldId="352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2659275954" sldId="353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3209173124" sldId="354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4247538530" sldId="355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06905501" sldId="356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16005775" sldId="357"/>
        </pc:sldMkLst>
      </pc:sldChg>
      <pc:sldChg chg="del">
        <pc:chgData name="Mai Cao Van" userId="f7949ac2-728d-41dd-ad7e-3544eb396517" providerId="ADAL" clId="{9A112020-9413-486F-BA5D-75CDAEC9B132}" dt="2024-04-17T14:19:53.332" v="0" actId="47"/>
        <pc:sldMkLst>
          <pc:docMk/>
          <pc:sldMk cId="1055634875" sldId="35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20821493" sldId="36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82273687" sldId="36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1358665" sldId="39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87308099" sldId="39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40247633" sldId="40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02376594" sldId="40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873410731" sldId="40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470051078" sldId="40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584010954" sldId="40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4740067" sldId="40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019231035" sldId="40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85599415" sldId="40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364253548" sldId="40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21512525" sldId="41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5239884" sldId="41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939551571" sldId="41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177181734" sldId="41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464186032" sldId="41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237174173" sldId="41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7491730" sldId="41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94990954" sldId="41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99368100" sldId="41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915897664" sldId="41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916007585" sldId="42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662009085" sldId="42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02492514" sldId="42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45303601" sldId="42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072253741" sldId="42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33780426" sldId="42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32503861" sldId="42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778228032" sldId="42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21868727" sldId="42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74550136" sldId="43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578328790" sldId="43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077041457" sldId="43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721886896" sldId="43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00060120" sldId="43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69364085" sldId="43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562749593" sldId="436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893443945" sldId="437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935142140" sldId="438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746830420" sldId="439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2158526831" sldId="440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86389077" sldId="441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628909499" sldId="442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4255187822" sldId="443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896909249" sldId="444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1057333704" sldId="445"/>
        </pc:sldMkLst>
      </pc:sldChg>
      <pc:sldChg chg="del">
        <pc:chgData name="Mai Cao Van" userId="f7949ac2-728d-41dd-ad7e-3544eb396517" providerId="ADAL" clId="{9A112020-9413-486F-BA5D-75CDAEC9B132}" dt="2024-04-17T14:20:32.404" v="10" actId="47"/>
        <pc:sldMkLst>
          <pc:docMk/>
          <pc:sldMk cId="3404045078" sldId="44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EAD9A4-3449-456F-BCB1-B37D2B162820}" type="datetimeFigureOut">
              <a:rPr lang="vi-VN" smtClean="0"/>
              <a:t>27/08/2025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54DB88-6E80-499D-ABB8-38FBF3AE1A25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884432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9648"/>
            <a:ext cx="12192000" cy="690764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72886" y="6356351"/>
            <a:ext cx="2743200" cy="365125"/>
          </a:xfrm>
        </p:spPr>
        <p:txBody>
          <a:bodyPr/>
          <a:lstStyle/>
          <a:p>
            <a:fld id="{601871CC-0A5A-4983-867F-F63CAC6B553F}" type="datetime1">
              <a:rPr lang="vi-VN" smtClean="0"/>
              <a:t>27/08/2025</a:t>
            </a:fld>
            <a:endParaRPr lang="vi-V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4330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79"/>
          <p:cNvSpPr/>
          <p:nvPr userDrawn="1"/>
        </p:nvSpPr>
        <p:spPr>
          <a:xfrm rot="5400000">
            <a:off x="9171884" y="3838468"/>
            <a:ext cx="5623560" cy="41148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400" b="1" dirty="0">
                <a:solidFill>
                  <a:schemeClr val="accent5">
                    <a:lumMod val="75000"/>
                  </a:schemeClr>
                </a:solidFill>
              </a:rPr>
              <a:t>Chapter 14: Data Processing and Control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7305"/>
            <a:ext cx="10515600" cy="549274"/>
          </a:xfr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864303"/>
            <a:ext cx="10515600" cy="5312661"/>
          </a:xfrm>
        </p:spPr>
        <p:txBody>
          <a:bodyPr/>
          <a:lstStyle>
            <a:lvl1pPr>
              <a:defRPr sz="2200"/>
            </a:lvl1pPr>
            <a:lvl2pPr>
              <a:defRPr sz="2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23400" y="6468112"/>
            <a:ext cx="27432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44A9409-5B7A-4A68-9AEC-D10994391474}" type="slidenum">
              <a:rPr lang="vi-VN" smtClean="0"/>
              <a:pPr/>
              <a:t>‹#›</a:t>
            </a:fld>
            <a:endParaRPr lang="vi-VN" dirty="0"/>
          </a:p>
        </p:txBody>
      </p:sp>
      <p:pic>
        <p:nvPicPr>
          <p:cNvPr id="9" name="Picture 8" descr="A black background with text&#10;&#10;Description automatically generated">
            <a:extLst>
              <a:ext uri="{FF2B5EF4-FFF2-40B4-BE49-F238E27FC236}">
                <a16:creationId xmlns:a16="http://schemas.microsoft.com/office/drawing/2014/main" id="{6BF17E32-750A-6C62-EA62-509EF6C9FA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0601" y="177123"/>
            <a:ext cx="2387692" cy="556277"/>
          </a:xfrm>
          <a:prstGeom prst="rect">
            <a:avLst/>
          </a:prstGeom>
        </p:spPr>
      </p:pic>
      <p:grpSp>
        <p:nvGrpSpPr>
          <p:cNvPr id="68" name="Group 67"/>
          <p:cNvGrpSpPr/>
          <p:nvPr userDrawn="1"/>
        </p:nvGrpSpPr>
        <p:grpSpPr>
          <a:xfrm>
            <a:off x="10955782" y="-1564"/>
            <a:ext cx="1234440" cy="1234718"/>
            <a:chOff x="10963402" y="2246"/>
            <a:chExt cx="1234440" cy="1234718"/>
          </a:xfrm>
        </p:grpSpPr>
        <p:grpSp>
          <p:nvGrpSpPr>
            <p:cNvPr id="65" name="Group 64"/>
            <p:cNvGrpSpPr/>
            <p:nvPr userDrawn="1"/>
          </p:nvGrpSpPr>
          <p:grpSpPr>
            <a:xfrm>
              <a:off x="11786362" y="5171"/>
              <a:ext cx="411480" cy="411481"/>
              <a:chOff x="11782552" y="5171"/>
              <a:chExt cx="411480" cy="411481"/>
            </a:xfrm>
          </p:grpSpPr>
          <p:sp>
            <p:nvSpPr>
              <p:cNvPr id="27" name="Right Triangle 26">
                <a:extLst>
                  <a:ext uri="{FF2B5EF4-FFF2-40B4-BE49-F238E27FC236}">
                    <a16:creationId xmlns:a16="http://schemas.microsoft.com/office/drawing/2014/main" id="{104E3744-FC6E-D772-CB2C-94156FE16F5E}"/>
                  </a:ext>
                </a:extLst>
              </p:cNvPr>
              <p:cNvSpPr/>
              <p:nvPr userDrawn="1"/>
            </p:nvSpPr>
            <p:spPr>
              <a:xfrm rot="10800000">
                <a:off x="11782552" y="5172"/>
                <a:ext cx="411480" cy="41148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8" name="Right Triangle 27">
                <a:extLst>
                  <a:ext uri="{FF2B5EF4-FFF2-40B4-BE49-F238E27FC236}">
                    <a16:creationId xmlns:a16="http://schemas.microsoft.com/office/drawing/2014/main" id="{8E526613-AFFA-0BE7-1031-5FE07BE21465}"/>
                  </a:ext>
                </a:extLst>
              </p:cNvPr>
              <p:cNvSpPr/>
              <p:nvPr userDrawn="1"/>
            </p:nvSpPr>
            <p:spPr>
              <a:xfrm>
                <a:off x="11782552" y="5171"/>
                <a:ext cx="411480" cy="41148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3" name="Group 62"/>
            <p:cNvGrpSpPr/>
            <p:nvPr userDrawn="1"/>
          </p:nvGrpSpPr>
          <p:grpSpPr>
            <a:xfrm>
              <a:off x="11786362" y="416048"/>
              <a:ext cx="411480" cy="411480"/>
              <a:chOff x="11790172" y="404618"/>
              <a:chExt cx="411480" cy="411480"/>
            </a:xfrm>
          </p:grpSpPr>
          <p:sp>
            <p:nvSpPr>
              <p:cNvPr id="25" name="Right Triangle 24">
                <a:extLst>
                  <a:ext uri="{FF2B5EF4-FFF2-40B4-BE49-F238E27FC236}">
                    <a16:creationId xmlns:a16="http://schemas.microsoft.com/office/drawing/2014/main" id="{85BC3172-424A-A4E4-CB48-10AEBF5908B8}"/>
                  </a:ext>
                </a:extLst>
              </p:cNvPr>
              <p:cNvSpPr/>
              <p:nvPr userDrawn="1"/>
            </p:nvSpPr>
            <p:spPr>
              <a:xfrm rot="10800000">
                <a:off x="11790172" y="404618"/>
                <a:ext cx="411480" cy="41148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314298E0-6DBD-FD83-9BE9-9C0888F45A6F}"/>
                  </a:ext>
                </a:extLst>
              </p:cNvPr>
              <p:cNvSpPr/>
              <p:nvPr userDrawn="1"/>
            </p:nvSpPr>
            <p:spPr>
              <a:xfrm>
                <a:off x="11790172" y="404618"/>
                <a:ext cx="411480" cy="41148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2" name="Group 61"/>
            <p:cNvGrpSpPr/>
            <p:nvPr userDrawn="1"/>
          </p:nvGrpSpPr>
          <p:grpSpPr>
            <a:xfrm>
              <a:off x="11786362" y="825484"/>
              <a:ext cx="411480" cy="411480"/>
              <a:chOff x="11790172" y="802624"/>
              <a:chExt cx="411480" cy="411480"/>
            </a:xfrm>
          </p:grpSpPr>
          <p:sp>
            <p:nvSpPr>
              <p:cNvPr id="23" name="Right Triangle 22">
                <a:extLst>
                  <a:ext uri="{FF2B5EF4-FFF2-40B4-BE49-F238E27FC236}">
                    <a16:creationId xmlns:a16="http://schemas.microsoft.com/office/drawing/2014/main" id="{91C97430-586C-1852-7B7E-CC8BD43C1F34}"/>
                  </a:ext>
                </a:extLst>
              </p:cNvPr>
              <p:cNvSpPr/>
              <p:nvPr userDrawn="1"/>
            </p:nvSpPr>
            <p:spPr>
              <a:xfrm rot="10800000">
                <a:off x="11790172" y="802624"/>
                <a:ext cx="411480" cy="41148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DE6DCA86-3931-B1AC-3F66-88107D63265F}"/>
                  </a:ext>
                </a:extLst>
              </p:cNvPr>
              <p:cNvSpPr/>
              <p:nvPr userDrawn="1"/>
            </p:nvSpPr>
            <p:spPr>
              <a:xfrm>
                <a:off x="11790172" y="802624"/>
                <a:ext cx="411480" cy="41148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4" name="Group 63"/>
            <p:cNvGrpSpPr/>
            <p:nvPr userDrawn="1"/>
          </p:nvGrpSpPr>
          <p:grpSpPr>
            <a:xfrm>
              <a:off x="11374882" y="416680"/>
              <a:ext cx="411480" cy="411480"/>
              <a:chOff x="11393932" y="409060"/>
              <a:chExt cx="411480" cy="411480"/>
            </a:xfrm>
          </p:grpSpPr>
          <p:sp>
            <p:nvSpPr>
              <p:cNvPr id="21" name="Right Triangle 20">
                <a:extLst>
                  <a:ext uri="{FF2B5EF4-FFF2-40B4-BE49-F238E27FC236}">
                    <a16:creationId xmlns:a16="http://schemas.microsoft.com/office/drawing/2014/main" id="{D7B18993-7C91-F71E-F1EB-8E1AD63B2C42}"/>
                  </a:ext>
                </a:extLst>
              </p:cNvPr>
              <p:cNvSpPr/>
              <p:nvPr userDrawn="1"/>
            </p:nvSpPr>
            <p:spPr>
              <a:xfrm rot="10800000">
                <a:off x="11393932" y="409060"/>
                <a:ext cx="411480" cy="41148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2" name="Right Triangle 21">
                <a:extLst>
                  <a:ext uri="{FF2B5EF4-FFF2-40B4-BE49-F238E27FC236}">
                    <a16:creationId xmlns:a16="http://schemas.microsoft.com/office/drawing/2014/main" id="{A1832769-9077-3069-4A71-C6696C21BC5F}"/>
                  </a:ext>
                </a:extLst>
              </p:cNvPr>
              <p:cNvSpPr/>
              <p:nvPr userDrawn="1"/>
            </p:nvSpPr>
            <p:spPr>
              <a:xfrm>
                <a:off x="11393932" y="409060"/>
                <a:ext cx="411480" cy="41148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6" name="Group 65"/>
            <p:cNvGrpSpPr/>
            <p:nvPr userDrawn="1"/>
          </p:nvGrpSpPr>
          <p:grpSpPr>
            <a:xfrm>
              <a:off x="11374882" y="5293"/>
              <a:ext cx="411480" cy="411480"/>
              <a:chOff x="11382502" y="-6137"/>
              <a:chExt cx="411480" cy="411480"/>
            </a:xfrm>
          </p:grpSpPr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B3697819-6C2D-176B-5402-026EE5B6ADE0}"/>
                  </a:ext>
                </a:extLst>
              </p:cNvPr>
              <p:cNvSpPr/>
              <p:nvPr userDrawn="1"/>
            </p:nvSpPr>
            <p:spPr>
              <a:xfrm rot="10800000">
                <a:off x="11382502" y="-6137"/>
                <a:ext cx="411480" cy="41148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20" name="Right Triangle 19">
                <a:extLst>
                  <a:ext uri="{FF2B5EF4-FFF2-40B4-BE49-F238E27FC236}">
                    <a16:creationId xmlns:a16="http://schemas.microsoft.com/office/drawing/2014/main" id="{04B90D12-2C70-58C5-9D99-5E46BABC09A5}"/>
                  </a:ext>
                </a:extLst>
              </p:cNvPr>
              <p:cNvSpPr/>
              <p:nvPr userDrawn="1"/>
            </p:nvSpPr>
            <p:spPr>
              <a:xfrm>
                <a:off x="11382502" y="-6137"/>
                <a:ext cx="411480" cy="41148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7" name="Group 66"/>
            <p:cNvGrpSpPr/>
            <p:nvPr userDrawn="1"/>
          </p:nvGrpSpPr>
          <p:grpSpPr>
            <a:xfrm>
              <a:off x="10963402" y="2246"/>
              <a:ext cx="411480" cy="411481"/>
              <a:chOff x="10997692" y="-1564"/>
              <a:chExt cx="411480" cy="411481"/>
            </a:xfrm>
          </p:grpSpPr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54406F37-F68C-A4C0-E0EF-7C3C6F4796B1}"/>
                  </a:ext>
                </a:extLst>
              </p:cNvPr>
              <p:cNvSpPr/>
              <p:nvPr userDrawn="1"/>
            </p:nvSpPr>
            <p:spPr>
              <a:xfrm rot="10800000">
                <a:off x="10997692" y="-1563"/>
                <a:ext cx="411480" cy="41148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52350476-19B7-4C57-8D0B-4F30375646DF}"/>
                  </a:ext>
                </a:extLst>
              </p:cNvPr>
              <p:cNvSpPr/>
              <p:nvPr userDrawn="1"/>
            </p:nvSpPr>
            <p:spPr>
              <a:xfrm>
                <a:off x="10997692" y="-1564"/>
                <a:ext cx="411480" cy="41148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grpSp>
        <p:nvGrpSpPr>
          <p:cNvPr id="79" name="Group 78"/>
          <p:cNvGrpSpPr/>
          <p:nvPr userDrawn="1"/>
        </p:nvGrpSpPr>
        <p:grpSpPr>
          <a:xfrm>
            <a:off x="0" y="5223817"/>
            <a:ext cx="1645920" cy="1634359"/>
            <a:chOff x="0" y="5229913"/>
            <a:chExt cx="1645920" cy="1634359"/>
          </a:xfrm>
        </p:grpSpPr>
        <p:grpSp>
          <p:nvGrpSpPr>
            <p:cNvPr id="78" name="Group 77"/>
            <p:cNvGrpSpPr/>
            <p:nvPr userDrawn="1"/>
          </p:nvGrpSpPr>
          <p:grpSpPr>
            <a:xfrm>
              <a:off x="0" y="6453202"/>
              <a:ext cx="411480" cy="411070"/>
              <a:chOff x="0" y="6453202"/>
              <a:chExt cx="411480" cy="411070"/>
            </a:xfrm>
          </p:grpSpPr>
          <p:sp>
            <p:nvSpPr>
              <p:cNvPr id="58" name="Right Triangle 57">
                <a:extLst>
                  <a:ext uri="{FF2B5EF4-FFF2-40B4-BE49-F238E27FC236}">
                    <a16:creationId xmlns:a16="http://schemas.microsoft.com/office/drawing/2014/main" id="{7C6D5D3D-3662-A526-17C5-BFD0909E8140}"/>
                  </a:ext>
                </a:extLst>
              </p:cNvPr>
              <p:cNvSpPr/>
              <p:nvPr userDrawn="1"/>
            </p:nvSpPr>
            <p:spPr>
              <a:xfrm>
                <a:off x="0" y="6453202"/>
                <a:ext cx="411480" cy="41107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9" name="Right Triangle 58">
                <a:extLst>
                  <a:ext uri="{FF2B5EF4-FFF2-40B4-BE49-F238E27FC236}">
                    <a16:creationId xmlns:a16="http://schemas.microsoft.com/office/drawing/2014/main" id="{4B987422-BE46-3E2F-0AC8-24EBCC0299B0}"/>
                  </a:ext>
                </a:extLst>
              </p:cNvPr>
              <p:cNvSpPr/>
              <p:nvPr userDrawn="1"/>
            </p:nvSpPr>
            <p:spPr>
              <a:xfrm rot="10800000">
                <a:off x="0" y="6453202"/>
                <a:ext cx="411480" cy="41107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7" name="Group 76"/>
            <p:cNvGrpSpPr/>
            <p:nvPr userDrawn="1"/>
          </p:nvGrpSpPr>
          <p:grpSpPr>
            <a:xfrm>
              <a:off x="0" y="6047253"/>
              <a:ext cx="411480" cy="411070"/>
              <a:chOff x="0" y="6047253"/>
              <a:chExt cx="411480" cy="411070"/>
            </a:xfrm>
          </p:grpSpPr>
          <p:sp>
            <p:nvSpPr>
              <p:cNvPr id="56" name="Right Triangle 55">
                <a:extLst>
                  <a:ext uri="{FF2B5EF4-FFF2-40B4-BE49-F238E27FC236}">
                    <a16:creationId xmlns:a16="http://schemas.microsoft.com/office/drawing/2014/main" id="{C7394C07-0ADF-EEDA-30DD-D0A5219FD07E}"/>
                  </a:ext>
                </a:extLst>
              </p:cNvPr>
              <p:cNvSpPr/>
              <p:nvPr userDrawn="1"/>
            </p:nvSpPr>
            <p:spPr>
              <a:xfrm>
                <a:off x="0" y="604725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4D6B85FB-6BC6-0DA1-393E-DDC30EFB0268}"/>
                  </a:ext>
                </a:extLst>
              </p:cNvPr>
              <p:cNvSpPr/>
              <p:nvPr userDrawn="1"/>
            </p:nvSpPr>
            <p:spPr>
              <a:xfrm rot="10800000">
                <a:off x="0" y="604725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6" name="Group 75"/>
            <p:cNvGrpSpPr/>
            <p:nvPr userDrawn="1"/>
          </p:nvGrpSpPr>
          <p:grpSpPr>
            <a:xfrm>
              <a:off x="0" y="5638248"/>
              <a:ext cx="411480" cy="411070"/>
              <a:chOff x="0" y="5638248"/>
              <a:chExt cx="411480" cy="411070"/>
            </a:xfrm>
          </p:grpSpPr>
          <p:sp>
            <p:nvSpPr>
              <p:cNvPr id="54" name="Right Triangle 53">
                <a:extLst>
                  <a:ext uri="{FF2B5EF4-FFF2-40B4-BE49-F238E27FC236}">
                    <a16:creationId xmlns:a16="http://schemas.microsoft.com/office/drawing/2014/main" id="{64AB5756-BD28-6111-AFC2-C064394697AA}"/>
                  </a:ext>
                </a:extLst>
              </p:cNvPr>
              <p:cNvSpPr/>
              <p:nvPr userDrawn="1"/>
            </p:nvSpPr>
            <p:spPr>
              <a:xfrm>
                <a:off x="0" y="5638248"/>
                <a:ext cx="411480" cy="41107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5" name="Right Triangle 54">
                <a:extLst>
                  <a:ext uri="{FF2B5EF4-FFF2-40B4-BE49-F238E27FC236}">
                    <a16:creationId xmlns:a16="http://schemas.microsoft.com/office/drawing/2014/main" id="{CCF3BB32-E016-3C59-3296-4EA5666D2CA8}"/>
                  </a:ext>
                </a:extLst>
              </p:cNvPr>
              <p:cNvSpPr/>
              <p:nvPr userDrawn="1"/>
            </p:nvSpPr>
            <p:spPr>
              <a:xfrm rot="10800000">
                <a:off x="0" y="5638248"/>
                <a:ext cx="411480" cy="41107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5" name="Group 74"/>
            <p:cNvGrpSpPr/>
            <p:nvPr userDrawn="1"/>
          </p:nvGrpSpPr>
          <p:grpSpPr>
            <a:xfrm>
              <a:off x="411480" y="6047253"/>
              <a:ext cx="411480" cy="411070"/>
              <a:chOff x="411480" y="6047253"/>
              <a:chExt cx="411480" cy="411070"/>
            </a:xfrm>
          </p:grpSpPr>
          <p:sp>
            <p:nvSpPr>
              <p:cNvPr id="52" name="Right Triangle 51">
                <a:extLst>
                  <a:ext uri="{FF2B5EF4-FFF2-40B4-BE49-F238E27FC236}">
                    <a16:creationId xmlns:a16="http://schemas.microsoft.com/office/drawing/2014/main" id="{8C6B3CA5-8D03-6992-787E-9636C5AE54D9}"/>
                  </a:ext>
                </a:extLst>
              </p:cNvPr>
              <p:cNvSpPr/>
              <p:nvPr userDrawn="1"/>
            </p:nvSpPr>
            <p:spPr>
              <a:xfrm>
                <a:off x="411480" y="6047253"/>
                <a:ext cx="411480" cy="411070"/>
              </a:xfrm>
              <a:prstGeom prst="rtTriangle">
                <a:avLst/>
              </a:prstGeom>
              <a:solidFill>
                <a:srgbClr val="0DB04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3" name="Right Triangle 52">
                <a:extLst>
                  <a:ext uri="{FF2B5EF4-FFF2-40B4-BE49-F238E27FC236}">
                    <a16:creationId xmlns:a16="http://schemas.microsoft.com/office/drawing/2014/main" id="{01491534-CB37-A450-3A13-CF46EEAB6A5F}"/>
                  </a:ext>
                </a:extLst>
              </p:cNvPr>
              <p:cNvSpPr/>
              <p:nvPr userDrawn="1"/>
            </p:nvSpPr>
            <p:spPr>
              <a:xfrm rot="10800000">
                <a:off x="411480" y="6047253"/>
                <a:ext cx="411480" cy="411070"/>
              </a:xfrm>
              <a:prstGeom prst="rtTriangle">
                <a:avLst/>
              </a:prstGeom>
              <a:solidFill>
                <a:srgbClr val="0DB04B">
                  <a:alpha val="4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4" name="Group 73"/>
            <p:cNvGrpSpPr/>
            <p:nvPr userDrawn="1"/>
          </p:nvGrpSpPr>
          <p:grpSpPr>
            <a:xfrm>
              <a:off x="411480" y="6453202"/>
              <a:ext cx="411480" cy="411070"/>
              <a:chOff x="411480" y="6453202"/>
              <a:chExt cx="411480" cy="411070"/>
            </a:xfrm>
          </p:grpSpPr>
          <p:sp>
            <p:nvSpPr>
              <p:cNvPr id="50" name="Right Triangle 49">
                <a:extLst>
                  <a:ext uri="{FF2B5EF4-FFF2-40B4-BE49-F238E27FC236}">
                    <a16:creationId xmlns:a16="http://schemas.microsoft.com/office/drawing/2014/main" id="{032EDF53-67B9-900C-C2F0-BBC97BA72643}"/>
                  </a:ext>
                </a:extLst>
              </p:cNvPr>
              <p:cNvSpPr/>
              <p:nvPr userDrawn="1"/>
            </p:nvSpPr>
            <p:spPr>
              <a:xfrm>
                <a:off x="411480" y="6453202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4860B01E-AAAF-1DB6-003C-7E22ADC21D9A}"/>
                  </a:ext>
                </a:extLst>
              </p:cNvPr>
              <p:cNvSpPr/>
              <p:nvPr userDrawn="1"/>
            </p:nvSpPr>
            <p:spPr>
              <a:xfrm rot="10800000">
                <a:off x="411480" y="6453202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3" name="Group 72"/>
            <p:cNvGrpSpPr/>
            <p:nvPr userDrawn="1"/>
          </p:nvGrpSpPr>
          <p:grpSpPr>
            <a:xfrm>
              <a:off x="822960" y="6453202"/>
              <a:ext cx="411480" cy="411070"/>
              <a:chOff x="822960" y="6453202"/>
              <a:chExt cx="411480" cy="411070"/>
            </a:xfrm>
          </p:grpSpPr>
          <p:sp>
            <p:nvSpPr>
              <p:cNvPr id="48" name="Right Triangle 47">
                <a:extLst>
                  <a:ext uri="{FF2B5EF4-FFF2-40B4-BE49-F238E27FC236}">
                    <a16:creationId xmlns:a16="http://schemas.microsoft.com/office/drawing/2014/main" id="{51E62297-F581-4EDA-971E-CF6196E49344}"/>
                  </a:ext>
                </a:extLst>
              </p:cNvPr>
              <p:cNvSpPr/>
              <p:nvPr userDrawn="1"/>
            </p:nvSpPr>
            <p:spPr>
              <a:xfrm>
                <a:off x="822960" y="6453202"/>
                <a:ext cx="411480" cy="411070"/>
              </a:xfrm>
              <a:prstGeom prst="rtTriangle">
                <a:avLst/>
              </a:prstGeom>
              <a:solidFill>
                <a:srgbClr val="0066B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9" name="Right Triangle 48">
                <a:extLst>
                  <a:ext uri="{FF2B5EF4-FFF2-40B4-BE49-F238E27FC236}">
                    <a16:creationId xmlns:a16="http://schemas.microsoft.com/office/drawing/2014/main" id="{037A4B95-4C76-3379-FE66-7604FC49E7DB}"/>
                  </a:ext>
                </a:extLst>
              </p:cNvPr>
              <p:cNvSpPr/>
              <p:nvPr userDrawn="1"/>
            </p:nvSpPr>
            <p:spPr>
              <a:xfrm rot="10800000">
                <a:off x="822960" y="6453202"/>
                <a:ext cx="411480" cy="411070"/>
              </a:xfrm>
              <a:prstGeom prst="rtTriangle">
                <a:avLst/>
              </a:prstGeom>
              <a:solidFill>
                <a:srgbClr val="0066B2">
                  <a:alpha val="6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2" name="Group 71"/>
            <p:cNvGrpSpPr/>
            <p:nvPr userDrawn="1"/>
          </p:nvGrpSpPr>
          <p:grpSpPr>
            <a:xfrm>
              <a:off x="0" y="5229913"/>
              <a:ext cx="411480" cy="411070"/>
              <a:chOff x="0" y="5229913"/>
              <a:chExt cx="411480" cy="411070"/>
            </a:xfrm>
          </p:grpSpPr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DB35D46E-FCF1-09E4-645B-AE13B4E0622F}"/>
                  </a:ext>
                </a:extLst>
              </p:cNvPr>
              <p:cNvSpPr/>
              <p:nvPr userDrawn="1"/>
            </p:nvSpPr>
            <p:spPr>
              <a:xfrm>
                <a:off x="0" y="522991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7" name="Right Triangle 46">
                <a:extLst>
                  <a:ext uri="{FF2B5EF4-FFF2-40B4-BE49-F238E27FC236}">
                    <a16:creationId xmlns:a16="http://schemas.microsoft.com/office/drawing/2014/main" id="{B49A6AD1-D826-C7CB-D1D8-20588CC9E0D1}"/>
                  </a:ext>
                </a:extLst>
              </p:cNvPr>
              <p:cNvSpPr/>
              <p:nvPr userDrawn="1"/>
            </p:nvSpPr>
            <p:spPr>
              <a:xfrm rot="10800000">
                <a:off x="0" y="522991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1" name="Group 70"/>
            <p:cNvGrpSpPr/>
            <p:nvPr userDrawn="1"/>
          </p:nvGrpSpPr>
          <p:grpSpPr>
            <a:xfrm>
              <a:off x="411480" y="5640998"/>
              <a:ext cx="411480" cy="411070"/>
              <a:chOff x="411480" y="5640998"/>
              <a:chExt cx="411480" cy="411070"/>
            </a:xfrm>
          </p:grpSpPr>
          <p:sp>
            <p:nvSpPr>
              <p:cNvPr id="44" name="Right Triangle 43">
                <a:extLst>
                  <a:ext uri="{FF2B5EF4-FFF2-40B4-BE49-F238E27FC236}">
                    <a16:creationId xmlns:a16="http://schemas.microsoft.com/office/drawing/2014/main" id="{DFBD8121-710E-1D40-00C8-2B5565B6AD50}"/>
                  </a:ext>
                </a:extLst>
              </p:cNvPr>
              <p:cNvSpPr/>
              <p:nvPr userDrawn="1"/>
            </p:nvSpPr>
            <p:spPr>
              <a:xfrm>
                <a:off x="411480" y="5640998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1A9F5181-C41C-5F10-DD79-042329A130E6}"/>
                  </a:ext>
                </a:extLst>
              </p:cNvPr>
              <p:cNvSpPr/>
              <p:nvPr userDrawn="1"/>
            </p:nvSpPr>
            <p:spPr>
              <a:xfrm rot="10800000">
                <a:off x="411480" y="5640998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70" name="Group 69"/>
            <p:cNvGrpSpPr/>
            <p:nvPr userDrawn="1"/>
          </p:nvGrpSpPr>
          <p:grpSpPr>
            <a:xfrm>
              <a:off x="823898" y="6047253"/>
              <a:ext cx="411480" cy="411070"/>
              <a:chOff x="823898" y="6047253"/>
              <a:chExt cx="411480" cy="411070"/>
            </a:xfrm>
          </p:grpSpPr>
          <p:sp>
            <p:nvSpPr>
              <p:cNvPr id="42" name="Right Triangle 41">
                <a:extLst>
                  <a:ext uri="{FF2B5EF4-FFF2-40B4-BE49-F238E27FC236}">
                    <a16:creationId xmlns:a16="http://schemas.microsoft.com/office/drawing/2014/main" id="{6BE3AD03-0CF2-35C6-CC4D-76C769359E09}"/>
                  </a:ext>
                </a:extLst>
              </p:cNvPr>
              <p:cNvSpPr/>
              <p:nvPr userDrawn="1"/>
            </p:nvSpPr>
            <p:spPr>
              <a:xfrm>
                <a:off x="823898" y="6047253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3" name="Right Triangle 42">
                <a:extLst>
                  <a:ext uri="{FF2B5EF4-FFF2-40B4-BE49-F238E27FC236}">
                    <a16:creationId xmlns:a16="http://schemas.microsoft.com/office/drawing/2014/main" id="{E5C70DCE-2D30-1D7B-37FF-8E01E3974699}"/>
                  </a:ext>
                </a:extLst>
              </p:cNvPr>
              <p:cNvSpPr/>
              <p:nvPr userDrawn="1"/>
            </p:nvSpPr>
            <p:spPr>
              <a:xfrm rot="10800000">
                <a:off x="823898" y="6047253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grpSp>
          <p:nvGrpSpPr>
            <p:cNvPr id="69" name="Group 68"/>
            <p:cNvGrpSpPr/>
            <p:nvPr userDrawn="1"/>
          </p:nvGrpSpPr>
          <p:grpSpPr>
            <a:xfrm>
              <a:off x="1234440" y="6453202"/>
              <a:ext cx="411480" cy="411070"/>
              <a:chOff x="1234440" y="6453202"/>
              <a:chExt cx="411480" cy="411070"/>
            </a:xfrm>
          </p:grpSpPr>
          <p:sp>
            <p:nvSpPr>
              <p:cNvPr id="40" name="Right Triangle 39">
                <a:extLst>
                  <a:ext uri="{FF2B5EF4-FFF2-40B4-BE49-F238E27FC236}">
                    <a16:creationId xmlns:a16="http://schemas.microsoft.com/office/drawing/2014/main" id="{13D4CC00-97A2-F50D-DF0C-7CCE44AE3948}"/>
                  </a:ext>
                </a:extLst>
              </p:cNvPr>
              <p:cNvSpPr/>
              <p:nvPr userDrawn="1"/>
            </p:nvSpPr>
            <p:spPr>
              <a:xfrm>
                <a:off x="1234440" y="6453202"/>
                <a:ext cx="411480" cy="411070"/>
              </a:xfrm>
              <a:prstGeom prst="rtTriangle">
                <a:avLst/>
              </a:prstGeom>
              <a:solidFill>
                <a:srgbClr val="F26F2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41" name="Right Triangle 40">
                <a:extLst>
                  <a:ext uri="{FF2B5EF4-FFF2-40B4-BE49-F238E27FC236}">
                    <a16:creationId xmlns:a16="http://schemas.microsoft.com/office/drawing/2014/main" id="{B251A9F0-2DBC-52AA-438D-2222805A9A96}"/>
                  </a:ext>
                </a:extLst>
              </p:cNvPr>
              <p:cNvSpPr/>
              <p:nvPr userDrawn="1"/>
            </p:nvSpPr>
            <p:spPr>
              <a:xfrm rot="10800000">
                <a:off x="1234440" y="6453202"/>
                <a:ext cx="411480" cy="411070"/>
              </a:xfrm>
              <a:prstGeom prst="rtTriangle">
                <a:avLst/>
              </a:prstGeom>
              <a:solidFill>
                <a:srgbClr val="F26F21">
                  <a:alpha val="44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</p:grpSp>
      <p:sp>
        <p:nvSpPr>
          <p:cNvPr id="60" name="Rectangle 59">
            <a:extLst>
              <a:ext uri="{FF2B5EF4-FFF2-40B4-BE49-F238E27FC236}">
                <a16:creationId xmlns:a16="http://schemas.microsoft.com/office/drawing/2014/main" id="{F96A4DE9-D7F0-3ED7-4C5A-62CC32974557}"/>
              </a:ext>
            </a:extLst>
          </p:cNvPr>
          <p:cNvSpPr/>
          <p:nvPr userDrawn="1"/>
        </p:nvSpPr>
        <p:spPr>
          <a:xfrm>
            <a:off x="838199" y="773819"/>
            <a:ext cx="10515600" cy="76054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 userDrawn="1"/>
        </p:nvSpPr>
        <p:spPr>
          <a:xfrm rot="16200000">
            <a:off x="-2412378" y="2412376"/>
            <a:ext cx="5236237" cy="41148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/>
            <a:r>
              <a:rPr lang="en-US" sz="2600" b="1" dirty="0">
                <a:solidFill>
                  <a:schemeClr val="tx1"/>
                </a:solidFill>
              </a:rPr>
              <a:t>DIGITAL</a:t>
            </a:r>
            <a:r>
              <a:rPr lang="en-US" sz="2600" b="1" baseline="0" dirty="0">
                <a:solidFill>
                  <a:schemeClr val="tx1"/>
                </a:solidFill>
              </a:rPr>
              <a:t> CIRCUITS–DIC201</a:t>
            </a:r>
            <a:endParaRPr lang="en-US" sz="2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70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61F7E-FD57-456B-9E1D-D84D10372E3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80117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E75618-61FB-4D94-96B8-BAD5A8A7457A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799743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CF10F2-F3BF-4562-89DD-2B10CBD3EE05}" type="datetime1">
              <a:rPr lang="vi-VN" smtClean="0"/>
              <a:t>27/08/2025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2088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FDAE0-EA4F-42A1-B148-AD9AC22A56DF}" type="datetime1">
              <a:rPr lang="vi-VN" smtClean="0"/>
              <a:t>27/08/2025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92377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67A0B-B56F-4F52-BBCA-98B3D074167B}" type="datetime1">
              <a:rPr lang="vi-VN" smtClean="0"/>
              <a:t>27/08/2025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8613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3DE86-437B-42AF-8A10-BA5649300010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97486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BCE396-3CB5-4BA0-A842-49E646427416}" type="datetime1">
              <a:rPr lang="vi-VN" smtClean="0"/>
              <a:t>27/08/2025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47578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99CBF-0E0B-4833-8FCB-2A6D36E2DE7D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26444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B81296-5D61-485A-8F80-0E9D6FAC6189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46623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5492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985421"/>
            <a:ext cx="10515600" cy="51915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2245E8-9FF8-49CD-8CA9-21B3335B7E4A}" type="datetime1">
              <a:rPr lang="vi-VN" smtClean="0"/>
              <a:t>27/08/2025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4A9409-5B7A-4A68-9AEC-D10994391474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50758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31127D-97D4-0200-8E17-A46606337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6400" y="6356352"/>
            <a:ext cx="2743200" cy="365125"/>
          </a:xfrm>
        </p:spPr>
        <p:txBody>
          <a:bodyPr/>
          <a:lstStyle/>
          <a:p>
            <a:fld id="{644A9409-5B7A-4A68-9AEC-D10994391474}" type="slidenum">
              <a:rPr lang="vi-VN" smtClean="0">
                <a:solidFill>
                  <a:schemeClr val="tx1"/>
                </a:solidFill>
              </a:rPr>
              <a:t>1</a:t>
            </a:fld>
            <a:endParaRPr lang="vi-VN">
              <a:solidFill>
                <a:schemeClr val="tx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7CF3735-88FE-51EE-7EA1-A930D1D9D4F9}"/>
              </a:ext>
            </a:extLst>
          </p:cNvPr>
          <p:cNvSpPr txBox="1">
            <a:spLocks/>
          </p:cNvSpPr>
          <p:nvPr/>
        </p:nvSpPr>
        <p:spPr>
          <a:xfrm>
            <a:off x="1292637" y="1786212"/>
            <a:ext cx="4498563" cy="21264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800" b="1" dirty="0">
                <a:solidFill>
                  <a:schemeClr val="bg1"/>
                </a:solidFill>
              </a:rPr>
              <a:t>Chapter 14:</a:t>
            </a:r>
            <a:br>
              <a:rPr lang="en-US" sz="4800" b="1" dirty="0">
                <a:solidFill>
                  <a:schemeClr val="bg1"/>
                </a:solidFill>
              </a:rPr>
            </a:br>
            <a:r>
              <a:rPr lang="en-US" sz="4800" b="1" dirty="0">
                <a:solidFill>
                  <a:schemeClr val="bg1"/>
                </a:solidFill>
              </a:rPr>
              <a:t>Data Processing and Control</a:t>
            </a:r>
            <a:br>
              <a:rPr lang="en-US" sz="4000" b="1" dirty="0">
                <a:solidFill>
                  <a:schemeClr val="bg1"/>
                </a:solidFill>
              </a:rPr>
            </a:br>
            <a:endParaRPr lang="vi-VN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032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217305"/>
            <a:ext cx="766064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Objectives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3120" y="1145259"/>
            <a:ext cx="10657167" cy="456748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</a:rPr>
              <a:t>After studying this chapter, students should be able to:</a:t>
            </a:r>
          </a:p>
          <a:p>
            <a:pPr marL="0" marR="0"/>
            <a:r>
              <a:rPr lang="en-US" sz="2400" b="1" dirty="0"/>
              <a:t>Understand the basic structure of a computer </a:t>
            </a:r>
            <a:r>
              <a:rPr lang="en-US" sz="2400" dirty="0"/>
              <a:t>– including main units, buses, and key considerations for computer system design.</a:t>
            </a:r>
          </a:p>
          <a:p>
            <a:pPr marL="0" marR="0"/>
            <a:r>
              <a:rPr lang="en-US" sz="2400" b="1" dirty="0"/>
              <a:t>Master the microprocessor </a:t>
            </a:r>
            <a:r>
              <a:rPr lang="en-US" sz="2400" dirty="0"/>
              <a:t>– its components, architecture, operation, and addressing modes.</a:t>
            </a:r>
          </a:p>
          <a:p>
            <a:pPr marL="0" marR="0"/>
            <a:r>
              <a:rPr lang="en-US" sz="2400" b="1" dirty="0"/>
              <a:t>Explain important concepts </a:t>
            </a:r>
            <a:r>
              <a:rPr lang="en-US" sz="2400" dirty="0"/>
              <a:t>– such as DMA, buffers, decoders, interrupts, polling, and bus requests.</a:t>
            </a:r>
          </a:p>
          <a:p>
            <a:pPr marL="0" marR="0"/>
            <a:r>
              <a:rPr lang="en-US" sz="2400" b="1" dirty="0"/>
              <a:t>Explore the operating system and system performance </a:t>
            </a:r>
            <a:r>
              <a:rPr lang="en-US" sz="2400" dirty="0"/>
              <a:t>– including pipelining, multitasking, and multiprocessing.</a:t>
            </a:r>
          </a:p>
          <a:p>
            <a:r>
              <a:rPr lang="en-US" sz="2400" b="1" dirty="0"/>
              <a:t>Get familiar with machine and assembly languages </a:t>
            </a:r>
            <a:r>
              <a:rPr lang="en-US" sz="2400" dirty="0"/>
              <a:t>– write simple programs and distinguish between them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BDAF8E-AF0A-A556-8FFA-586CA276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42424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30AE8-0EBE-B0C5-28F2-79A2A699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120" y="217305"/>
            <a:ext cx="7701280" cy="549274"/>
          </a:xfrm>
        </p:spPr>
        <p:txBody>
          <a:bodyPr/>
          <a:lstStyle/>
          <a:p>
            <a:pPr lvl="0"/>
            <a:r>
              <a:rPr lang="en-US" dirty="0">
                <a:solidFill>
                  <a:srgbClr val="FF0000"/>
                </a:solidFill>
              </a:rPr>
              <a:t>Contents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559ED8-6E89-4441-A9DB-262BE3459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14330" y="1126436"/>
            <a:ext cx="9339470" cy="5341676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dirty="0"/>
              <a:t>14.1.</a:t>
            </a:r>
            <a:r>
              <a:rPr lang="en-US" sz="2400" dirty="0"/>
              <a:t> The Computer System</a:t>
            </a:r>
            <a:br>
              <a:rPr lang="en-US" sz="2400" dirty="0"/>
            </a:br>
            <a:r>
              <a:rPr lang="en-US" sz="2400" b="1" dirty="0"/>
              <a:t>14.2.</a:t>
            </a:r>
            <a:r>
              <a:rPr lang="en-US" sz="2400" dirty="0"/>
              <a:t> Practical Computer System Considerations</a:t>
            </a:r>
            <a:br>
              <a:rPr lang="en-US" sz="2400" dirty="0"/>
            </a:br>
            <a:r>
              <a:rPr lang="en-US" sz="2400" b="1" dirty="0"/>
              <a:t>14.3.</a:t>
            </a:r>
            <a:r>
              <a:rPr lang="en-US" sz="2400" dirty="0"/>
              <a:t> The Processor: Basic Operation</a:t>
            </a:r>
            <a:br>
              <a:rPr lang="en-US" sz="2400" dirty="0"/>
            </a:br>
            <a:r>
              <a:rPr lang="en-US" sz="2400" b="1" dirty="0"/>
              <a:t>14.4.</a:t>
            </a:r>
            <a:r>
              <a:rPr lang="en-US" sz="2400" dirty="0"/>
              <a:t> The Processor: Addressing Modes</a:t>
            </a:r>
            <a:br>
              <a:rPr lang="en-US" sz="2400" dirty="0"/>
            </a:br>
            <a:r>
              <a:rPr lang="en-US" sz="2400" b="1" dirty="0"/>
              <a:t>14.5.</a:t>
            </a:r>
            <a:r>
              <a:rPr lang="en-US" sz="2400" dirty="0"/>
              <a:t> The Processor: Special Operations</a:t>
            </a:r>
            <a:br>
              <a:rPr lang="en-US" sz="2400" dirty="0"/>
            </a:br>
            <a:r>
              <a:rPr lang="en-US" sz="2400" b="1" dirty="0"/>
              <a:t>14.6.</a:t>
            </a:r>
            <a:r>
              <a:rPr lang="en-US" sz="2400" dirty="0"/>
              <a:t> Operating Systems and Hardware</a:t>
            </a:r>
            <a:br>
              <a:rPr lang="en-US" sz="2400" dirty="0"/>
            </a:br>
            <a:r>
              <a:rPr lang="en-US" sz="2400" b="1" dirty="0"/>
              <a:t>14.7.</a:t>
            </a:r>
            <a:r>
              <a:rPr lang="en-US" sz="2400" dirty="0"/>
              <a:t> Programming</a:t>
            </a:r>
            <a:br>
              <a:rPr lang="en-US" sz="2400" dirty="0"/>
            </a:br>
            <a:r>
              <a:rPr lang="en-US" sz="2400" b="1" dirty="0"/>
              <a:t>14.8.</a:t>
            </a:r>
            <a:r>
              <a:rPr lang="en-US" sz="2400" dirty="0"/>
              <a:t> Microcontrollers and Embedded Systems</a:t>
            </a:r>
            <a:br>
              <a:rPr lang="en-US" sz="2400" dirty="0"/>
            </a:br>
            <a:r>
              <a:rPr lang="en-US" sz="2400" b="1" dirty="0"/>
              <a:t>14.9.</a:t>
            </a:r>
            <a:r>
              <a:rPr lang="en-US" sz="2400" dirty="0"/>
              <a:t> System on Chip (SoC)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95D3F3-2FA5-0262-798E-21155E410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01905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14.1.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Computer System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Computer Systems: Core Functions and Components</a:t>
            </a:r>
            <a:br>
              <a:rPr lang="en-US" sz="1600" dirty="0"/>
            </a:br>
            <a:r>
              <a:rPr lang="en-US" dirty="0"/>
              <a:t>Each component in the system plays a role in these tasks – as shown in the block diagram.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4</a:t>
            </a:fld>
            <a:endParaRPr lang="vi-V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D645CAD-3D26-4E23-9AC6-B7B0A6EF70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12" y="1998014"/>
            <a:ext cx="6544588" cy="40296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F727E3-B5B3-4AFE-A5E1-E3A8DB155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4850" y="6239480"/>
            <a:ext cx="5087060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84212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14.1.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Computer System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 Typical Computer System </a:t>
            </a:r>
            <a:br>
              <a:rPr lang="en-US" sz="2000" dirty="0"/>
            </a:b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A3AFDC-98CF-4C37-A4E1-4083BC275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7524" y="978408"/>
            <a:ext cx="5221826" cy="513021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96A5A6-C700-4B93-984D-D02DE785D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0213" y="6320453"/>
            <a:ext cx="6256447" cy="507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1725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14.2.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Practical Computer System Considerations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Shared Signal Lines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4A47A6-5882-4790-A688-C5C50A1775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9227" y="902217"/>
            <a:ext cx="7149091" cy="548970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9C49F5-AD2A-4C3E-A18F-4EEC1E4455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2641" y="6468111"/>
            <a:ext cx="6070194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789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14.2.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Practical Computer System Considerations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marR="0" indent="0"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Tri-State Outputs in Digital Systems</a:t>
            </a:r>
            <a:br>
              <a:rPr lang="en-US" sz="1600" dirty="0"/>
            </a:br>
            <a:r>
              <a:rPr lang="en-US" dirty="0"/>
              <a:t>A tri-state switch disconnects the device from the signal line in High-Z mode.</a:t>
            </a:r>
          </a:p>
          <a:p>
            <a:pPr marL="0" marR="0" indent="0">
              <a:buNone/>
            </a:pPr>
            <a:r>
              <a:rPr lang="en-US" dirty="0"/>
              <a:t>Prevents signal interference when multiple devices share the same bus.</a:t>
            </a:r>
          </a:p>
          <a:p>
            <a:pPr marL="0" marR="0" indent="0">
              <a:buNone/>
            </a:pPr>
            <a:r>
              <a:rPr lang="en-US" dirty="0"/>
              <a:t>Only one device should drive the bus at a time to avoid bus contention.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4409D-61A5-4212-82E3-413728A6B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249" y="2832480"/>
            <a:ext cx="10702267" cy="28880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22EE26-38AD-465B-AD7D-A9C655ABD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0445" y="6136960"/>
            <a:ext cx="529663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49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14.2.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Practical Computer System Considerations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4716449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Signal Loading and Buffering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The issue of inputs affecting the performance of an output to which they are connected is called </a:t>
            </a:r>
            <a:r>
              <a:rPr lang="en-US" b="1" dirty="0"/>
              <a:t>signal loading.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034581-FA25-4B1D-9C86-3CBD96FCC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835" y="945825"/>
            <a:ext cx="5512566" cy="547867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E70A4D-5E66-4C91-9FA9-392CB13C4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047" y="6344505"/>
            <a:ext cx="7563906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21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14.2.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Practical Computer System Considerations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931" y="1259352"/>
            <a:ext cx="4409224" cy="5146217"/>
          </a:xfrm>
        </p:spPr>
        <p:txBody>
          <a:bodyPr>
            <a:normAutofit/>
          </a:bodyPr>
          <a:lstStyle/>
          <a:p>
            <a:pPr marL="0" marR="0" indent="0"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Device Selection </a:t>
            </a:r>
          </a:p>
          <a:p>
            <a:pPr marL="0" marR="0" indent="0">
              <a:buNone/>
            </a:pPr>
            <a:br>
              <a:rPr lang="en-US" sz="1600" dirty="0"/>
            </a:br>
            <a:r>
              <a:rPr lang="en-US" dirty="0"/>
              <a:t>The processor uses the address bus to access devices such as </a:t>
            </a:r>
            <a:r>
              <a:rPr lang="en-US" b="1" dirty="0"/>
              <a:t>ROM, RAM, and I/O.</a:t>
            </a:r>
          </a:p>
          <a:p>
            <a:pPr marL="0" marR="0" indent="0" algn="just">
              <a:buNone/>
            </a:pPr>
            <a:r>
              <a:rPr lang="en-US" dirty="0"/>
              <a:t>Each device has a special pin called </a:t>
            </a:r>
            <a:r>
              <a:rPr lang="en-US" b="1" dirty="0"/>
              <a:t>chip select (CS) </a:t>
            </a:r>
            <a:r>
              <a:rPr lang="en-US" dirty="0"/>
              <a:t>or </a:t>
            </a:r>
            <a:r>
              <a:rPr lang="en-US" b="1" dirty="0"/>
              <a:t>chip enable (CE) </a:t>
            </a:r>
            <a:r>
              <a:rPr lang="en-US" dirty="0"/>
              <a:t>to determine when it is activated.</a:t>
            </a:r>
          </a:p>
          <a:p>
            <a:pPr marL="0" marR="0" indent="0" algn="just">
              <a:buNone/>
            </a:pPr>
            <a:r>
              <a:rPr lang="en-US" dirty="0"/>
              <a:t>It is not practical for the processor to have a separate control line for each device ⇒ </a:t>
            </a:r>
            <a:r>
              <a:rPr lang="en-US" b="1" dirty="0"/>
              <a:t>decoders</a:t>
            </a:r>
            <a:r>
              <a:rPr lang="en-US" dirty="0"/>
              <a:t> or </a:t>
            </a:r>
            <a:r>
              <a:rPr lang="en-US" b="1" dirty="0"/>
              <a:t>PLDs</a:t>
            </a:r>
            <a:r>
              <a:rPr lang="en-US" dirty="0"/>
              <a:t> are used to generate device select signals.</a:t>
            </a:r>
          </a:p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9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A43FE3D-5B40-4A98-AF75-019ECDE42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749" y="1505578"/>
            <a:ext cx="6083286" cy="465376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247ACA6-E0F2-4DB1-A5A4-0702CF09D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0695" y="6371173"/>
            <a:ext cx="7290340" cy="462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49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14.2.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Practical Computer System Considerations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System Timing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System timing ensures the processor meets the setup/hold times of peripherals using </a:t>
            </a:r>
            <a:r>
              <a:rPr lang="en-US" b="1" dirty="0"/>
              <a:t>synchronous</a:t>
            </a:r>
            <a:r>
              <a:rPr lang="en-US" dirty="0"/>
              <a:t>, </a:t>
            </a:r>
            <a:r>
              <a:rPr lang="en-US" b="1" dirty="0"/>
              <a:t>asynchronous</a:t>
            </a:r>
            <a:r>
              <a:rPr lang="en-US" dirty="0"/>
              <a:t>, or </a:t>
            </a:r>
            <a:r>
              <a:rPr lang="en-US" b="1" dirty="0" err="1"/>
              <a:t>semisynchronous</a:t>
            </a:r>
            <a:r>
              <a:rPr lang="en-US" dirty="0"/>
              <a:t> buses. Wait states may be added to slow down the processor when peripherals cannot keep up with its speed.</a:t>
            </a:r>
            <a:endParaRPr lang="en-US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10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CB748E-E094-4ED7-99F9-57FA990A8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495" y="2843628"/>
            <a:ext cx="6839905" cy="31341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675126-79B6-4ED5-B796-F68C72B03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8640" y="6263296"/>
            <a:ext cx="7211431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736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Basic Operation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Microprocessor (CPU)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The four basic elements that are common to all microprocessors are the arithmetic logic unit (ALU), the instruction decoder, the register set, and the timing and control unit.</a:t>
            </a:r>
            <a:endParaRPr lang="en-US" b="1" i="1" dirty="0">
              <a:solidFill>
                <a:srgbClr val="00B0F0"/>
              </a:solidFill>
              <a:latin typeface="Aptos Display (Headings)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4C9B97-1EFC-4841-9571-F373793ED9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0186" y="2057801"/>
            <a:ext cx="4985179" cy="44103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AD53D1E-DF05-4FBA-A1E4-6489D7FB9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186" y="6504188"/>
            <a:ext cx="5071301" cy="3538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FA1819-6CFC-4F33-BFDE-D803A667FA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0937" y="2406126"/>
            <a:ext cx="2144538" cy="252368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103456-A598-4578-802C-13B9244677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889" y="5247655"/>
            <a:ext cx="2638128" cy="530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1811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Basic Operation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Fetch/Execute Cycle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When a program is being run, the processor goes through a repetitive cycle consisting of two fundamental phases.</a:t>
            </a:r>
            <a:br>
              <a:rPr lang="en-US" dirty="0"/>
            </a:br>
            <a:endParaRPr lang="en-US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97186F-EBFB-4126-93E7-08028B6F6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1278" y="2516495"/>
            <a:ext cx="6848983" cy="24927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D486AC-4DC4-4C2E-9197-F63D80902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6848" y="5513980"/>
            <a:ext cx="5984769" cy="610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486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Basic Operation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20870"/>
            <a:ext cx="10530840" cy="547105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Pipelining </a:t>
            </a:r>
            <a:br>
              <a:rPr lang="en-US" sz="1600" dirty="0"/>
            </a:br>
            <a:r>
              <a:rPr lang="en-US" dirty="0"/>
              <a:t>A technique where the microprocessor begins executing the next instruction in a program before the previous instruction has been completed is called </a:t>
            </a:r>
            <a:r>
              <a:rPr lang="en-US" b="1" dirty="0"/>
              <a:t>pipelining</a:t>
            </a:r>
            <a:r>
              <a:rPr lang="en-US" dirty="0"/>
              <a:t>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6E8DC2-B281-4CAE-84D7-8CAF78375B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7213" y="2066172"/>
            <a:ext cx="4128986" cy="24298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E216ED-967B-47CD-87E7-AEB52C8AA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213" y="4496022"/>
            <a:ext cx="4144386" cy="23246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4E45C19-1773-4F09-BC7A-75241CE0C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9105" y="2489601"/>
            <a:ext cx="3747188" cy="3168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F70B23E-51BA-4A45-8D50-1367CDA2D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5823" y="6313821"/>
            <a:ext cx="3858779" cy="36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70854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Basic Operation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Processor Elements </a:t>
            </a:r>
            <a:br>
              <a:rPr lang="en-US" sz="1600" dirty="0"/>
            </a:br>
            <a:r>
              <a:rPr lang="en-US" dirty="0"/>
              <a:t>This part of the processor contains the logic to perform arithmetic and logic operations. Data are transferred into the </a:t>
            </a:r>
            <a:r>
              <a:rPr lang="en-US" b="1" dirty="0"/>
              <a:t>ALU</a:t>
            </a:r>
            <a:r>
              <a:rPr lang="en-US" dirty="0"/>
              <a:t> from the accumulator and from the data register. 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4F40EF-D8E8-4307-8B98-C0F6B4DE8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69" y="2136912"/>
            <a:ext cx="9446381" cy="3742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AA3398A-3AE7-410C-859C-30C11F8E5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992" y="6223533"/>
            <a:ext cx="6036583" cy="417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902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Basic Operation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Processor and the Memory </a:t>
            </a:r>
            <a:br>
              <a:rPr lang="en-US" sz="1600" dirty="0"/>
            </a:br>
            <a:r>
              <a:rPr lang="en-US" dirty="0"/>
              <a:t>The processor is connected to a memory with the address bus and data bus. Also, there are</a:t>
            </a:r>
            <a:br>
              <a:rPr lang="en-US" dirty="0"/>
            </a:br>
            <a:r>
              <a:rPr lang="en-US" dirty="0"/>
              <a:t>certain control signals that must be sent between the processor and the memory, such as</a:t>
            </a:r>
            <a:br>
              <a:rPr lang="en-US" dirty="0"/>
            </a:br>
            <a:r>
              <a:rPr lang="en-US" dirty="0"/>
              <a:t>the read and write controls. 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A90EFF-0F66-497E-B722-E5248180B6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7532" y="2404454"/>
            <a:ext cx="5336936" cy="36365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94D0BF-A587-4FAB-8BEF-0CE83167E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7089" y="6216494"/>
            <a:ext cx="4855077" cy="484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7568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Basic Operation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Read Operation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6DBE3A-B6D5-4CF6-BEF8-4460C9DF7C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822" y="1573691"/>
            <a:ext cx="7499528" cy="45500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FBE4020-64D8-4A5C-AB45-020D71C45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504" y="6391921"/>
            <a:ext cx="4731315" cy="327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092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14.3.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Basic Operation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The Write Operation </a:t>
            </a: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C258AA-391B-4C40-8F86-EEF56AE24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849" y="1548576"/>
            <a:ext cx="7739410" cy="462693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6F7516-6125-4797-A010-8194A65660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893" y="6362093"/>
            <a:ext cx="5293280" cy="33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982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14.4.</a:t>
            </a:r>
            <a:r>
              <a:rPr lang="en-US" sz="2800" dirty="0">
                <a:solidFill>
                  <a:srgbClr val="FF0000"/>
                </a:solidFill>
              </a:rPr>
              <a:t>The Processor: Addressing Modes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Inherent Addressing </a:t>
            </a: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EA1461-5DDB-4B05-863E-5F3CA11BB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079" y="978408"/>
            <a:ext cx="6662711" cy="50758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04385E-5CC8-44F3-8756-F3CF82EEB9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046" y="6239229"/>
            <a:ext cx="5839406" cy="48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069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14.4.</a:t>
            </a:r>
            <a:r>
              <a:rPr lang="en-US" sz="2800" dirty="0">
                <a:solidFill>
                  <a:srgbClr val="FF0000"/>
                </a:solidFill>
              </a:rPr>
              <a:t>The Processor: Addressing Modes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Immediate Addressing </a:t>
            </a:r>
            <a:br>
              <a:rPr lang="en-US" sz="1600" dirty="0"/>
            </a:br>
            <a:endParaRPr lang="en-US" sz="20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19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3B1C99-17A3-4A26-863F-24E27A2EA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348" y="902217"/>
            <a:ext cx="6065877" cy="54656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0933E6-61FB-4489-83FB-3DFC26C688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965" y="6332055"/>
            <a:ext cx="6835550" cy="50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81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14.4.</a:t>
            </a:r>
            <a:r>
              <a:rPr lang="en-US" sz="2800" dirty="0">
                <a:solidFill>
                  <a:srgbClr val="FF0000"/>
                </a:solidFill>
              </a:rPr>
              <a:t>The Processor: Addressing Modes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Direct Addressing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20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9ADB7D-028F-4588-B506-74693E6FF2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1831" y="902217"/>
            <a:ext cx="5997519" cy="53471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C3097F-9B13-4AA4-A5AD-89B0BC262E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472" y="6399038"/>
            <a:ext cx="4118379" cy="38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32203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14.4.</a:t>
            </a:r>
            <a:r>
              <a:rPr lang="en-US" sz="2800" dirty="0">
                <a:solidFill>
                  <a:srgbClr val="FF0000"/>
                </a:solidFill>
              </a:rPr>
              <a:t>The Processor: Addressing Modes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Indexed Addressing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3E8E25-3E98-491A-BD34-1675197E2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1829" y="978408"/>
            <a:ext cx="6191370" cy="563879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0F30AA-5C23-4C75-BAA9-44536B7F7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84162"/>
            <a:ext cx="4515782" cy="46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115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14.4.</a:t>
            </a:r>
            <a:r>
              <a:rPr lang="en-US" sz="2800" dirty="0">
                <a:solidFill>
                  <a:srgbClr val="FF0000"/>
                </a:solidFill>
              </a:rPr>
              <a:t>The Processor: Addressing Modes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Relative Addressing </a:t>
            </a:r>
            <a:br>
              <a:rPr lang="en-US" sz="2000" dirty="0"/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22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BA421-AD4F-4450-8F9A-12F311C2A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182" y="964105"/>
            <a:ext cx="5854011" cy="58173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EC78C5-B04C-4994-A489-B88119B547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392" y="6441608"/>
            <a:ext cx="5445499" cy="423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1337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14.5.</a:t>
            </a:r>
            <a:r>
              <a:rPr lang="vi-VN" sz="28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Special Operations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Polling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A3485C-BEC4-4822-BF00-5BA67A7DA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8960" y="1390598"/>
            <a:ext cx="8011643" cy="500132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7A50A4-8D7B-482F-A677-D6B3A2C10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6783" y="6427832"/>
            <a:ext cx="5428175" cy="36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118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14.5.</a:t>
            </a:r>
            <a:r>
              <a:rPr lang="vi-VN" sz="28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Special Operations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Interrupts and Exceptions </a:t>
            </a:r>
            <a:br>
              <a:rPr lang="en-US" sz="2000" dirty="0"/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24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FD3D60-1E86-4009-84DF-1EDF0B554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6035" y="1411068"/>
            <a:ext cx="7851761" cy="49808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AE2CFFA-643A-4D4C-AEAF-0163EC3FE7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1386" y="6438295"/>
            <a:ext cx="4001058" cy="304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7792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14.5.</a:t>
            </a:r>
            <a:r>
              <a:rPr lang="vi-VN" sz="2800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The Processor: Special Operations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Direct Memory Access (DMA) </a:t>
            </a:r>
            <a:br>
              <a:rPr lang="en-US" sz="2000" dirty="0"/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25</a:t>
            </a:fld>
            <a:endParaRPr lang="vi-V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A2B8E5-EC05-46CE-90C9-479B6F03B4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573" y="1389319"/>
            <a:ext cx="6600009" cy="49706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5B8FC0-323D-4177-8E8B-ED4DC6A4E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0681" y="6391921"/>
            <a:ext cx="4503962" cy="366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2261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14.6.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Operating Systems and Hardware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Multiple Processes </a:t>
            </a:r>
            <a:br>
              <a:rPr lang="en-US" sz="2000" dirty="0"/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26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A6248A-E7A8-4FF9-9199-9D8C24F44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491" y="1096489"/>
            <a:ext cx="6344535" cy="182905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4347E0-BE00-4760-AB2C-1D81EB0FC5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7491" y="3458089"/>
            <a:ext cx="5410955" cy="28578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B615252-086B-4B07-A3AA-B6CAB4ED11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3807" y="6510002"/>
            <a:ext cx="5391902" cy="3524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760AC1-617B-4B08-844E-E502D9ECB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2833" y="3016113"/>
            <a:ext cx="4620270" cy="323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1234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14.7.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Programming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Levels of Programming Languages </a:t>
            </a:r>
            <a:br>
              <a:rPr lang="en-US" sz="2000" dirty="0"/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27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8A6EC9-F329-483D-8DF5-BD47BCB1F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264" y="1385512"/>
            <a:ext cx="4815788" cy="4921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CE2FF0B-6E48-42D4-B2F8-F758EEF1E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8468" y="6383332"/>
            <a:ext cx="7978607" cy="41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65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14.7.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Programming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Assemblers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An assembler translates and converts a program written in assembly language into machine</a:t>
            </a:r>
            <a:r>
              <a:rPr lang="vi-VN" dirty="0"/>
              <a:t> </a:t>
            </a:r>
            <a:r>
              <a:rPr lang="en-US" dirty="0"/>
              <a:t>code</a:t>
            </a:r>
            <a:r>
              <a:rPr lang="vi-VN" dirty="0"/>
              <a:t>.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28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9E86FE4-BA82-4085-9D7E-9FAC50140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1272" y="2461930"/>
            <a:ext cx="9229456" cy="1672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4710D35-ED13-448A-A618-A5608EFDB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706" y="5284778"/>
            <a:ext cx="5820587" cy="333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7282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14.7.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Programming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Compilers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A compiler is a program that compiles or translates a program written in a high-level language</a:t>
            </a:r>
            <a:r>
              <a:rPr lang="vi-VN" dirty="0"/>
              <a:t> </a:t>
            </a:r>
            <a:r>
              <a:rPr lang="en-US" dirty="0"/>
              <a:t>and</a:t>
            </a:r>
            <a:r>
              <a:rPr lang="vi-VN" dirty="0"/>
              <a:t> </a:t>
            </a:r>
            <a:r>
              <a:rPr lang="en-US" dirty="0"/>
              <a:t>converts</a:t>
            </a:r>
            <a:r>
              <a:rPr lang="vi-VN" dirty="0"/>
              <a:t> </a:t>
            </a:r>
            <a:r>
              <a:rPr lang="en-US" dirty="0"/>
              <a:t>it</a:t>
            </a:r>
            <a:r>
              <a:rPr lang="vi-VN" dirty="0"/>
              <a:t> </a:t>
            </a:r>
            <a:r>
              <a:rPr lang="en-US" dirty="0"/>
              <a:t>into</a:t>
            </a:r>
            <a:r>
              <a:rPr lang="vi-VN" dirty="0"/>
              <a:t> </a:t>
            </a:r>
            <a:r>
              <a:rPr lang="en-US" dirty="0"/>
              <a:t>machine</a:t>
            </a:r>
            <a:r>
              <a:rPr lang="vi-VN" dirty="0"/>
              <a:t> </a:t>
            </a:r>
            <a:r>
              <a:rPr lang="en-US" dirty="0"/>
              <a:t>code</a:t>
            </a:r>
            <a:r>
              <a:rPr lang="vi-VN" dirty="0"/>
              <a:t>.</a:t>
            </a:r>
            <a:br>
              <a:rPr lang="en-US" dirty="0"/>
            </a:b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endParaRPr lang="en-US" sz="2400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29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A991CD-AE57-4474-9B1E-00A9A2995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771" y="3052234"/>
            <a:ext cx="8800457" cy="15382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D8BD23D-1082-4D74-9C79-47AB7CC58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148" y="5251955"/>
            <a:ext cx="6796252" cy="47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060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14.7.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Programming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Compilers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All high-level languages, such as C++, will run on any computer. A given high-level</a:t>
            </a:r>
            <a:r>
              <a:rPr lang="vi-VN" dirty="0"/>
              <a:t> </a:t>
            </a:r>
            <a:r>
              <a:rPr lang="en-US" dirty="0"/>
              <a:t>language is valid for any computer, but the compiler that goes with it is specific to a particular</a:t>
            </a:r>
            <a:r>
              <a:rPr lang="vi-VN" dirty="0"/>
              <a:t> </a:t>
            </a:r>
            <a:r>
              <a:rPr lang="en-US" dirty="0"/>
              <a:t>type</a:t>
            </a:r>
            <a:r>
              <a:rPr lang="vi-VN" dirty="0"/>
              <a:t> </a:t>
            </a:r>
            <a:r>
              <a:rPr lang="en-US" dirty="0"/>
              <a:t>of</a:t>
            </a:r>
            <a:r>
              <a:rPr lang="vi-VN" dirty="0"/>
              <a:t> </a:t>
            </a:r>
            <a:r>
              <a:rPr lang="en-US" dirty="0"/>
              <a:t>CPU. </a:t>
            </a: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30</a:t>
            </a:fld>
            <a:endParaRPr lang="vi-V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AD283D-A6BF-4AF4-AFAE-93D5AE5F2E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1744" y="2097045"/>
            <a:ext cx="6455840" cy="403792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6CBCE6-74D1-4D23-8058-73732756C4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668" y="6391921"/>
            <a:ext cx="7971332" cy="38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69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14.8.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Microcontrollers and Embedded Systems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Microcontroller</a:t>
            </a:r>
            <a:r>
              <a:rPr lang="en-US" sz="1800" b="0" i="0" dirty="0">
                <a:solidFill>
                  <a:srgbClr val="00803E"/>
                </a:solidFill>
                <a:effectLst/>
                <a:latin typeface="Helvetica" panose="020B0604020202020204" pitchFamily="34" charset="0"/>
              </a:rPr>
              <a:t> </a:t>
            </a: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Basics </a:t>
            </a:r>
            <a:br>
              <a:rPr lang="en-US" sz="2000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31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AF7A2A7-4E7D-4325-8C5B-2C7BDD36F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087" y="1403063"/>
            <a:ext cx="9355992" cy="46555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F53933-8D57-4B8C-9201-7229BAD04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630" y="6215621"/>
            <a:ext cx="5679445" cy="42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9971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14.8.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Microcontrollers and Embedded Systems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Microcontrollers in Embedded Systems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32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3BB951-2E33-4FDB-A835-D18A7236A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502" y="1412378"/>
            <a:ext cx="9723538" cy="483899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BFD41D-D86E-4F8A-A279-34950E30F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9144" y="6352004"/>
            <a:ext cx="8736254" cy="50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6710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14.8.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Microcontrollers and Embedded Systems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Automated Systems </a:t>
            </a:r>
            <a:br>
              <a:rPr lang="en-US" sz="2000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33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8C39BFA-B119-463C-976A-8E10A64F76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0996" y="1462236"/>
            <a:ext cx="9469744" cy="41566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FB9C44-9E67-4E6C-8E77-804431C5A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210" y="5875049"/>
            <a:ext cx="5838340" cy="36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301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14.9.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System on Chip (SoC)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vi-VN" sz="2400" b="1" i="1" dirty="0">
                <a:solidFill>
                  <a:srgbClr val="00B0F0"/>
                </a:solidFill>
                <a:latin typeface="Aptos Display (Headings)"/>
              </a:rPr>
              <a:t>S</a:t>
            </a:r>
            <a:r>
              <a:rPr lang="en-US" sz="2400" b="1" i="1" dirty="0" err="1">
                <a:solidFill>
                  <a:srgbClr val="00B0F0"/>
                </a:solidFill>
                <a:latin typeface="Aptos Display (Headings)"/>
              </a:rPr>
              <a:t>ystem</a:t>
            </a: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on chip (SoC)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dirty="0"/>
              <a:t>A </a:t>
            </a:r>
            <a:r>
              <a:rPr lang="en-US" b="1" dirty="0"/>
              <a:t>system on chip (SoC) </a:t>
            </a:r>
            <a:r>
              <a:rPr lang="en-US" dirty="0"/>
              <a:t>is an integrated circuit that combines all components of a</a:t>
            </a:r>
            <a:r>
              <a:rPr lang="vi-VN" dirty="0"/>
              <a:t> </a:t>
            </a:r>
            <a:r>
              <a:rPr lang="en-US" dirty="0"/>
              <a:t>computer or other electronic system on a single chip. The SoC offers reduced manufacturing</a:t>
            </a:r>
            <a:r>
              <a:rPr lang="vi-VN" dirty="0"/>
              <a:t> </a:t>
            </a:r>
            <a:r>
              <a:rPr lang="en-US" dirty="0"/>
              <a:t>costs</a:t>
            </a:r>
            <a:r>
              <a:rPr lang="vi-VN" dirty="0"/>
              <a:t> </a:t>
            </a:r>
            <a:r>
              <a:rPr lang="en-US" dirty="0"/>
              <a:t>and</a:t>
            </a:r>
            <a:r>
              <a:rPr lang="vi-VN" dirty="0"/>
              <a:t> </a:t>
            </a:r>
            <a:r>
              <a:rPr lang="en-US" dirty="0"/>
              <a:t>smaller</a:t>
            </a:r>
            <a:r>
              <a:rPr lang="vi-VN" dirty="0"/>
              <a:t> </a:t>
            </a:r>
            <a:r>
              <a:rPr lang="en-US" dirty="0"/>
              <a:t>system</a:t>
            </a:r>
            <a:r>
              <a:rPr lang="vi-VN" dirty="0"/>
              <a:t> </a:t>
            </a:r>
            <a:r>
              <a:rPr lang="en-US" dirty="0"/>
              <a:t>configurations;</a:t>
            </a:r>
            <a:r>
              <a:rPr lang="vi-VN" dirty="0"/>
              <a:t> </a:t>
            </a:r>
            <a:r>
              <a:rPr lang="en-US" dirty="0"/>
              <a:t>Package</a:t>
            </a:r>
            <a:r>
              <a:rPr lang="vi-VN" dirty="0"/>
              <a:t> </a:t>
            </a:r>
            <a:r>
              <a:rPr lang="en-US" dirty="0"/>
              <a:t>sizes</a:t>
            </a:r>
            <a:r>
              <a:rPr lang="vi-VN" dirty="0"/>
              <a:t> </a:t>
            </a:r>
            <a:r>
              <a:rPr lang="en-US" dirty="0"/>
              <a:t>can</a:t>
            </a:r>
            <a:r>
              <a:rPr lang="vi-VN" dirty="0"/>
              <a:t> </a:t>
            </a:r>
            <a:r>
              <a:rPr lang="en-US" dirty="0"/>
              <a:t>be</a:t>
            </a:r>
            <a:r>
              <a:rPr lang="vi-VN" dirty="0"/>
              <a:t> </a:t>
            </a:r>
            <a:r>
              <a:rPr lang="en-US" dirty="0"/>
              <a:t>smaller</a:t>
            </a:r>
            <a:r>
              <a:rPr lang="vi-VN" dirty="0"/>
              <a:t> </a:t>
            </a:r>
            <a:r>
              <a:rPr lang="en-US" dirty="0"/>
              <a:t>than</a:t>
            </a:r>
            <a:r>
              <a:rPr lang="vi-VN" dirty="0"/>
              <a:t> </a:t>
            </a:r>
            <a:r>
              <a:rPr lang="en-US" dirty="0"/>
              <a:t>a</a:t>
            </a:r>
            <a:r>
              <a:rPr lang="vi-VN" dirty="0"/>
              <a:t> </a:t>
            </a:r>
            <a:r>
              <a:rPr lang="en-US" dirty="0"/>
              <a:t>dime</a:t>
            </a:r>
            <a:r>
              <a:rPr lang="vi-VN" dirty="0"/>
              <a:t>.</a:t>
            </a:r>
            <a:r>
              <a:rPr lang="en-US" dirty="0"/>
              <a:t>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34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52E70B6-5C2E-4181-95DF-2B1D672E0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8400" y="2867709"/>
            <a:ext cx="6719288" cy="26584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F2DA01-E861-49A2-AC71-644E86B005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897" y="5967433"/>
            <a:ext cx="8483098" cy="673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64322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lvl="0"/>
            <a:r>
              <a:rPr lang="en-US" sz="2800" b="1" dirty="0">
                <a:solidFill>
                  <a:srgbClr val="FF0000"/>
                </a:solidFill>
              </a:rPr>
              <a:t>14.9.</a:t>
            </a:r>
            <a:r>
              <a:rPr lang="vi-VN" b="1" dirty="0">
                <a:solidFill>
                  <a:srgbClr val="FF0000"/>
                </a:solidFill>
              </a:rPr>
              <a:t> </a:t>
            </a:r>
            <a:r>
              <a:rPr lang="en-US" sz="2800" dirty="0">
                <a:solidFill>
                  <a:srgbClr val="FF0000"/>
                </a:solidFill>
              </a:rPr>
              <a:t>System on Chip (SoC)</a:t>
            </a:r>
            <a:endParaRPr lang="vi-VN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" y="978408"/>
            <a:ext cx="10530840" cy="541351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Generic block diagram of a typical SoC </a:t>
            </a:r>
            <a:br>
              <a:rPr lang="en-US" sz="2400" b="1" i="1" dirty="0">
                <a:solidFill>
                  <a:srgbClr val="00B0F0"/>
                </a:solidFill>
                <a:latin typeface="Aptos Display (Headings)"/>
              </a:rPr>
            </a:br>
            <a:r>
              <a:rPr lang="en-US" sz="2400" b="1" i="1" dirty="0">
                <a:solidFill>
                  <a:srgbClr val="00B0F0"/>
                </a:solidFill>
                <a:latin typeface="Aptos Display (Headings)"/>
              </a:rPr>
              <a:t>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35</a:t>
            </a:fld>
            <a:endParaRPr lang="vi-V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0C2A45-E678-494B-B87B-53AD5C605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7965" y="1421270"/>
            <a:ext cx="6383346" cy="5411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8186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41A71-ED29-0AF4-318D-3A8D2C460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480CEC-6A1B-B285-32B7-23659E84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17305"/>
            <a:ext cx="9216390" cy="549274"/>
          </a:xfrm>
        </p:spPr>
        <p:txBody>
          <a:bodyPr/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rgbClr val="FF0000"/>
                </a:solidFill>
              </a:rPr>
              <a:t>SUMMARY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67286E-DE80-1367-FDC7-A4E738D8A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4975" y="1749287"/>
            <a:ext cx="10323442" cy="4904867"/>
          </a:xfrm>
        </p:spPr>
        <p:txBody>
          <a:bodyPr>
            <a:noAutofit/>
          </a:bodyPr>
          <a:lstStyle/>
          <a:p>
            <a:pPr marL="0" marR="0">
              <a:lnSpc>
                <a:spcPct val="150000"/>
              </a:lnSpc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The CPU has four main components: ALU, registers, control unit, and instruction decoder.</a:t>
            </a:r>
          </a:p>
          <a:p>
            <a:pPr marL="0" marR="0">
              <a:lnSpc>
                <a:spcPct val="150000"/>
              </a:lnSpc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A computer performs three main tasks: input, process, and output data.</a:t>
            </a:r>
          </a:p>
          <a:p>
            <a:pPr marL="0" marR="0">
              <a:lnSpc>
                <a:spcPct val="150000"/>
              </a:lnSpc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Different types of memory are used for specialized functions (e.g., cache).</a:t>
            </a:r>
          </a:p>
          <a:p>
            <a:pPr marL="0" marR="0">
              <a:lnSpc>
                <a:spcPct val="150000"/>
              </a:lnSpc>
            </a:pPr>
            <a:r>
              <a:rPr lang="en-US" b="1" dirty="0">
                <a:effectLst/>
                <a:latin typeface="Aptos (Body)"/>
                <a:ea typeface="Times New Roman" panose="02020603050405020304" pitchFamily="18" charset="0"/>
              </a:rPr>
              <a:t>Pipelining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, </a:t>
            </a:r>
            <a:r>
              <a:rPr lang="en-US" b="1" dirty="0">
                <a:effectLst/>
                <a:latin typeface="Aptos (Body)"/>
                <a:ea typeface="Times New Roman" panose="02020603050405020304" pitchFamily="18" charset="0"/>
              </a:rPr>
              <a:t>multitasking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, and </a:t>
            </a:r>
            <a:r>
              <a:rPr lang="en-US" b="1" dirty="0">
                <a:effectLst/>
                <a:latin typeface="Aptos (Body)"/>
                <a:ea typeface="Times New Roman" panose="02020603050405020304" pitchFamily="18" charset="0"/>
              </a:rPr>
              <a:t>multiprocessing</a:t>
            </a: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 improve processing performance.</a:t>
            </a:r>
          </a:p>
          <a:p>
            <a:pPr marL="0" marR="0">
              <a:lnSpc>
                <a:spcPct val="150000"/>
              </a:lnSpc>
            </a:pPr>
            <a:r>
              <a:rPr lang="en-US" dirty="0">
                <a:effectLst/>
                <a:latin typeface="Aptos (Body)"/>
                <a:ea typeface="Times New Roman" panose="02020603050405020304" pitchFamily="18" charset="0"/>
              </a:rPr>
              <a:t>Microcontrollers are suitable for embedded systems and real-time processing.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br>
              <a:rPr lang="en-US" dirty="0"/>
            </a:br>
            <a:br>
              <a:rPr lang="en-US" b="1" i="1" dirty="0">
                <a:solidFill>
                  <a:srgbClr val="00B0F0"/>
                </a:solidFill>
                <a:latin typeface="Aptos Display (Headings)"/>
              </a:rPr>
            </a:br>
            <a:endParaRPr lang="en-US" b="1" i="1" dirty="0">
              <a:solidFill>
                <a:srgbClr val="00B0F0"/>
              </a:solidFill>
              <a:latin typeface="Aptos Display (Headings)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12D87C-985F-1EFB-31F9-DDFC2A735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36</a:t>
            </a:fld>
            <a:endParaRPr lang="vi-V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A7B579-B374-4407-8EB1-CBF8DB15545C}"/>
              </a:ext>
            </a:extLst>
          </p:cNvPr>
          <p:cNvSpPr txBox="1"/>
          <p:nvPr/>
        </p:nvSpPr>
        <p:spPr>
          <a:xfrm>
            <a:off x="1138713" y="1007215"/>
            <a:ext cx="858488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00B0F0"/>
                </a:solidFill>
                <a:latin typeface="Aptos (Body)"/>
                <a:cs typeface="Times New Roman" panose="02020603050405020304" pitchFamily="18" charset="0"/>
              </a:rPr>
              <a:t>Chapter 14: Data Processing and Control</a:t>
            </a:r>
            <a:br>
              <a:rPr lang="en-US" sz="2800" dirty="0"/>
            </a:br>
            <a:endParaRPr lang="en-US" sz="2800" b="1" dirty="0">
              <a:solidFill>
                <a:srgbClr val="00B0F0"/>
              </a:solidFill>
              <a:latin typeface="Aptos (Body)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9600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9C23C-E04A-4EDE-A572-3C9C5AF03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MULTIPLE-CHOICE TEST AND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951463-7E92-4307-A413-682266047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2621884"/>
            <a:ext cx="10515600" cy="197662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solidFill>
                  <a:srgbClr val="0070C0"/>
                </a:solidFill>
              </a:rPr>
              <a:t>Complete the true/false questions, multiple-choice questions, and end-of-chapter exercises in the primary textbook.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A8595-C7DB-4A6B-833E-76AEA3A0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4A9409-5B7A-4A68-9AEC-D10994391474}" type="slidenum">
              <a:rPr lang="vi-VN" smtClean="0"/>
              <a:t>37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047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6721</TotalTime>
  <Words>1127</Words>
  <Application>Microsoft Office PowerPoint</Application>
  <PresentationFormat>Widescreen</PresentationFormat>
  <Paragraphs>127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5" baseType="lpstr">
      <vt:lpstr>Aptos</vt:lpstr>
      <vt:lpstr>Aptos (Body)</vt:lpstr>
      <vt:lpstr>Aptos Display</vt:lpstr>
      <vt:lpstr>Aptos Display (Headings)</vt:lpstr>
      <vt:lpstr>Arial</vt:lpstr>
      <vt:lpstr>Helvetica</vt:lpstr>
      <vt:lpstr>Times New Roman</vt:lpstr>
      <vt:lpstr>Office Theme</vt:lpstr>
      <vt:lpstr>PowerPoint Presentation</vt:lpstr>
      <vt:lpstr>Objectives</vt:lpstr>
      <vt:lpstr>Contents</vt:lpstr>
      <vt:lpstr>14.1. The Computer System</vt:lpstr>
      <vt:lpstr>14.1. The Computer System</vt:lpstr>
      <vt:lpstr>14.2. Practical Computer System Considerations</vt:lpstr>
      <vt:lpstr>14.2. Practical Computer System Considerations</vt:lpstr>
      <vt:lpstr>14.2. Practical Computer System Considerations</vt:lpstr>
      <vt:lpstr>14.2. Practical Computer System Considerations</vt:lpstr>
      <vt:lpstr>14.2. Practical Computer System Considerations</vt:lpstr>
      <vt:lpstr>14.3. The Processor: Basic Operation</vt:lpstr>
      <vt:lpstr>14.3. The Processor: Basic Operation</vt:lpstr>
      <vt:lpstr>14.3. The Processor: Basic Operation</vt:lpstr>
      <vt:lpstr>14.3. The Processor: Basic Operation</vt:lpstr>
      <vt:lpstr>14.3. The Processor: Basic Operation</vt:lpstr>
      <vt:lpstr>14.3. The Processor: Basic Operation</vt:lpstr>
      <vt:lpstr>14.3. The Processor: Basic Operation</vt:lpstr>
      <vt:lpstr>14.4.The Processor: Addressing Modes</vt:lpstr>
      <vt:lpstr>14.4.The Processor: Addressing Modes</vt:lpstr>
      <vt:lpstr>14.4.The Processor: Addressing Modes</vt:lpstr>
      <vt:lpstr>14.4.The Processor: Addressing Modes</vt:lpstr>
      <vt:lpstr>14.4.The Processor: Addressing Modes</vt:lpstr>
      <vt:lpstr>14.5. The Processor: Special Operations</vt:lpstr>
      <vt:lpstr>14.5. The Processor: Special Operations</vt:lpstr>
      <vt:lpstr>14.5. The Processor: Special Operations</vt:lpstr>
      <vt:lpstr>14.6. Operating Systems and Hardware</vt:lpstr>
      <vt:lpstr>14.7. Programming</vt:lpstr>
      <vt:lpstr>14.7. Programming</vt:lpstr>
      <vt:lpstr>14.7. Programming</vt:lpstr>
      <vt:lpstr>14.7. Programming</vt:lpstr>
      <vt:lpstr>14.8. Microcontrollers and Embedded Systems</vt:lpstr>
      <vt:lpstr>14.8. Microcontrollers and Embedded Systems</vt:lpstr>
      <vt:lpstr>14.8. Microcontrollers and Embedded Systems</vt:lpstr>
      <vt:lpstr>14.9. System on Chip (SoC)</vt:lpstr>
      <vt:lpstr>14.9. System on Chip (SoC)</vt:lpstr>
      <vt:lpstr>SUMMARY</vt:lpstr>
      <vt:lpstr>MULTIPLE-CHOICE TEST AND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Chapter 1: Electrical fundamentals 1.1. Fundamentals units (SI) 1.2. Conductors, insulators, voltage and resistance 1.3. Ohm’s Law 1.4. Electric fields 1.5. Magnetic fields 1.6. Circuit diagrams 1.7. Practical investigation &amp; Problems</dc:title>
  <dc:creator>MaiCV2</dc:creator>
  <cp:keywords>ICI101</cp:keywords>
  <cp:lastModifiedBy>Đặng Văn Hiếu</cp:lastModifiedBy>
  <cp:revision>268</cp:revision>
  <dcterms:created xsi:type="dcterms:W3CDTF">2024-04-08T01:59:57Z</dcterms:created>
  <dcterms:modified xsi:type="dcterms:W3CDTF">2025-08-27T03:47:01Z</dcterms:modified>
</cp:coreProperties>
</file>