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8" r:id="rId2"/>
    <p:sldId id="327" r:id="rId3"/>
    <p:sldId id="296" r:id="rId4"/>
    <p:sldId id="328" r:id="rId5"/>
    <p:sldId id="329" r:id="rId6"/>
    <p:sldId id="330" r:id="rId7"/>
    <p:sldId id="331" r:id="rId8"/>
    <p:sldId id="334" r:id="rId9"/>
    <p:sldId id="332" r:id="rId10"/>
    <p:sldId id="335" r:id="rId11"/>
    <p:sldId id="333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8" r:id="rId24"/>
    <p:sldId id="347" r:id="rId25"/>
    <p:sldId id="349" r:id="rId26"/>
    <p:sldId id="350" r:id="rId27"/>
    <p:sldId id="351" r:id="rId28"/>
    <p:sldId id="353" r:id="rId29"/>
    <p:sldId id="354" r:id="rId30"/>
    <p:sldId id="355" r:id="rId31"/>
    <p:sldId id="357" r:id="rId32"/>
    <p:sldId id="358" r:id="rId33"/>
    <p:sldId id="356" r:id="rId34"/>
    <p:sldId id="36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2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4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0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0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9648"/>
            <a:ext cx="12192000" cy="69076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886" y="6356351"/>
            <a:ext cx="2743200" cy="365125"/>
          </a:xfrm>
        </p:spPr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 userDrawn="1"/>
        </p:nvSpPr>
        <p:spPr>
          <a:xfrm rot="5400000">
            <a:off x="9171884" y="3838468"/>
            <a:ext cx="5623560" cy="411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3400" y="6468112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44A9409-5B7A-4A68-9AEC-D10994391474}" type="slidenum">
              <a:rPr lang="vi-VN" smtClean="0"/>
              <a:pPr/>
              <a:t>‹#›</a:t>
            </a:fld>
            <a:endParaRPr lang="vi-VN" dirty="0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68" name="Group 67"/>
          <p:cNvGrpSpPr/>
          <p:nvPr userDrawn="1"/>
        </p:nvGrpSpPr>
        <p:grpSpPr>
          <a:xfrm>
            <a:off x="10955782" y="-1564"/>
            <a:ext cx="1234440" cy="1234718"/>
            <a:chOff x="10963402" y="2246"/>
            <a:chExt cx="1234440" cy="1234718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1786362" y="5171"/>
              <a:ext cx="411480" cy="411481"/>
              <a:chOff x="11782552" y="5171"/>
              <a:chExt cx="411480" cy="411481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 rot="10800000">
                <a:off x="11782552" y="5172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>
                <a:off x="11782552" y="5171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3" name="Group 62"/>
            <p:cNvGrpSpPr/>
            <p:nvPr userDrawn="1"/>
          </p:nvGrpSpPr>
          <p:grpSpPr>
            <a:xfrm>
              <a:off x="11786362" y="416048"/>
              <a:ext cx="411480" cy="411480"/>
              <a:chOff x="11790172" y="404618"/>
              <a:chExt cx="411480" cy="41148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 rot="10800000"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2" name="Group 61"/>
            <p:cNvGrpSpPr/>
            <p:nvPr userDrawn="1"/>
          </p:nvGrpSpPr>
          <p:grpSpPr>
            <a:xfrm>
              <a:off x="11786362" y="825484"/>
              <a:ext cx="411480" cy="411480"/>
              <a:chOff x="11790172" y="802624"/>
              <a:chExt cx="411480" cy="41148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 rot="10800000"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11374882" y="416680"/>
              <a:ext cx="411480" cy="411480"/>
              <a:chOff x="11393932" y="409060"/>
              <a:chExt cx="411480" cy="41148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 rot="10800000"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11374882" y="5293"/>
              <a:ext cx="411480" cy="411480"/>
              <a:chOff x="11382502" y="-6137"/>
              <a:chExt cx="411480" cy="41148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 rot="10800000"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10963402" y="2246"/>
              <a:ext cx="411480" cy="411481"/>
              <a:chOff x="10997692" y="-1564"/>
              <a:chExt cx="411480" cy="411481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 rot="10800000">
                <a:off x="10997692" y="-1563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>
                <a:off x="10997692" y="-156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79" name="Group 78"/>
          <p:cNvGrpSpPr/>
          <p:nvPr userDrawn="1"/>
        </p:nvGrpSpPr>
        <p:grpSpPr>
          <a:xfrm>
            <a:off x="0" y="5223817"/>
            <a:ext cx="1645920" cy="1634359"/>
            <a:chOff x="0" y="5229913"/>
            <a:chExt cx="1645920" cy="1634359"/>
          </a:xfrm>
        </p:grpSpPr>
        <p:grpSp>
          <p:nvGrpSpPr>
            <p:cNvPr id="78" name="Group 77"/>
            <p:cNvGrpSpPr/>
            <p:nvPr userDrawn="1"/>
          </p:nvGrpSpPr>
          <p:grpSpPr>
            <a:xfrm>
              <a:off x="0" y="6453202"/>
              <a:ext cx="411480" cy="411070"/>
              <a:chOff x="0" y="6453202"/>
              <a:chExt cx="411480" cy="41107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7" name="Group 76"/>
            <p:cNvGrpSpPr/>
            <p:nvPr userDrawn="1"/>
          </p:nvGrpSpPr>
          <p:grpSpPr>
            <a:xfrm>
              <a:off x="0" y="6047253"/>
              <a:ext cx="411480" cy="411070"/>
              <a:chOff x="0" y="6047253"/>
              <a:chExt cx="411480" cy="41107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6" name="Group 75"/>
            <p:cNvGrpSpPr/>
            <p:nvPr userDrawn="1"/>
          </p:nvGrpSpPr>
          <p:grpSpPr>
            <a:xfrm>
              <a:off x="0" y="5638248"/>
              <a:ext cx="411480" cy="411070"/>
              <a:chOff x="0" y="5638248"/>
              <a:chExt cx="411480" cy="41107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5" name="Group 74"/>
            <p:cNvGrpSpPr/>
            <p:nvPr userDrawn="1"/>
          </p:nvGrpSpPr>
          <p:grpSpPr>
            <a:xfrm>
              <a:off x="411480" y="6047253"/>
              <a:ext cx="411480" cy="411070"/>
              <a:chOff x="411480" y="6047253"/>
              <a:chExt cx="411480" cy="41107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4" name="Group 73"/>
            <p:cNvGrpSpPr/>
            <p:nvPr userDrawn="1"/>
          </p:nvGrpSpPr>
          <p:grpSpPr>
            <a:xfrm>
              <a:off x="411480" y="6453202"/>
              <a:ext cx="411480" cy="411070"/>
              <a:chOff x="411480" y="6453202"/>
              <a:chExt cx="411480" cy="41107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822960" y="6453202"/>
              <a:ext cx="411480" cy="411070"/>
              <a:chOff x="822960" y="6453202"/>
              <a:chExt cx="411480" cy="41107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2" name="Group 71"/>
            <p:cNvGrpSpPr/>
            <p:nvPr userDrawn="1"/>
          </p:nvGrpSpPr>
          <p:grpSpPr>
            <a:xfrm>
              <a:off x="0" y="5229913"/>
              <a:ext cx="411480" cy="411070"/>
              <a:chOff x="0" y="5229913"/>
              <a:chExt cx="411480" cy="41107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11480" y="5640998"/>
              <a:ext cx="411480" cy="411070"/>
              <a:chOff x="411480" y="5640998"/>
              <a:chExt cx="411480" cy="41107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823898" y="6047253"/>
              <a:ext cx="411480" cy="411070"/>
              <a:chOff x="823898" y="6047253"/>
              <a:chExt cx="411480" cy="41107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1234440" y="6453202"/>
              <a:ext cx="411480" cy="411070"/>
              <a:chOff x="1234440" y="6453202"/>
              <a:chExt cx="411480" cy="41107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199" y="773819"/>
            <a:ext cx="10515600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412378" y="2412376"/>
            <a:ext cx="5236237" cy="411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/>
            <a:r>
              <a:rPr lang="en-US" sz="2600" b="1" dirty="0">
                <a:solidFill>
                  <a:schemeClr val="tx1"/>
                </a:solidFill>
              </a:rPr>
              <a:t>DIGITAL</a:t>
            </a:r>
            <a:r>
              <a:rPr lang="en-US" sz="2600" b="1" baseline="0" dirty="0">
                <a:solidFill>
                  <a:schemeClr val="tx1"/>
                </a:solidFill>
              </a:rPr>
              <a:t> CIRCUITS–DIC201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>
                <a:solidFill>
                  <a:schemeClr val="tx1"/>
                </a:solidFill>
              </a:rPr>
              <a:t>1</a:t>
            </a:fld>
            <a:endParaRPr lang="vi-VN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 txBox="1">
            <a:spLocks/>
          </p:cNvSpPr>
          <p:nvPr/>
        </p:nvSpPr>
        <p:spPr>
          <a:xfrm>
            <a:off x="1385402" y="1574178"/>
            <a:ext cx="4710598" cy="2126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Chapter 12: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Signal Conversion and Processing</a:t>
            </a:r>
            <a:endParaRPr lang="vi-V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66064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1145259"/>
            <a:ext cx="10657167" cy="4567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</a:rPr>
              <a:t>After studying this chapter, students should be able to: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0D0D0D"/>
                </a:solidFill>
              </a:rPr>
              <a:t>Understand the process and purpose of Analog to Digital signal conversions, versa.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0D0D0D"/>
                </a:solidFill>
              </a:rPr>
              <a:t>Explain how ADCs and DACs operate.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0D0D0D"/>
                </a:solidFill>
              </a:rPr>
              <a:t>Explain the basic concepts of a digital signal processor (DSP).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0D0D0D"/>
                </a:solidFill>
              </a:rPr>
              <a:t>Describe the basic architecture of a DSP.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  <p:sp>
        <p:nvSpPr>
          <p:cNvPr id="4" name="TextBox 3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70128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Contents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1254977"/>
            <a:ext cx="10119360" cy="44977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12.1. </a:t>
            </a:r>
            <a:r>
              <a:rPr lang="en-US" sz="2400" dirty="0"/>
              <a:t>Analog-to-Digital Conversion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12.2. </a:t>
            </a:r>
            <a:r>
              <a:rPr lang="en-US" sz="2400" dirty="0"/>
              <a:t>Methods of Analog-to-Digital Conversion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12.3. </a:t>
            </a:r>
            <a:r>
              <a:rPr lang="en-US" sz="2400" dirty="0"/>
              <a:t>Methods of Digital-to-Analog Conversion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12.4. </a:t>
            </a:r>
            <a:r>
              <a:rPr lang="en-US" sz="2400" dirty="0"/>
              <a:t>Digital Signal Processing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12.5. </a:t>
            </a:r>
            <a:r>
              <a:rPr lang="en-US" sz="2400" dirty="0"/>
              <a:t>The Digital Signal Processor (DSP)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  <p:sp>
        <p:nvSpPr>
          <p:cNvPr id="7" name="TextBox 6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effectLst/>
                <a:latin typeface="Aptos Display (Headings)"/>
              </a:rPr>
              <a:t>Sampling and Filtering</a:t>
            </a: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00AC5-8950-4A5D-A971-EEF49CA1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840" y="978407"/>
            <a:ext cx="6416241" cy="5051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C6146D-0F4B-401D-8122-AE802477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950" y="6374001"/>
            <a:ext cx="5719936" cy="45949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CF9F71D-FCD9-493A-813E-0DD225C1B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83" y="1676216"/>
            <a:ext cx="4174435" cy="401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Sampling is the process of taking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discrete measurements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of an analog signal at regular intervals.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Each sample captures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amplitude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of the signal at that instant.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The more samples taken → the more accurate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digital representation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of the waveform.</a:t>
            </a:r>
          </a:p>
        </p:txBody>
      </p:sp>
    </p:spTree>
    <p:extLst>
      <p:ext uri="{BB962C8B-B14F-4D97-AF65-F5344CB8AC3E}">
        <p14:creationId xmlns:p14="http://schemas.microsoft.com/office/powerpoint/2010/main" val="12884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Sampling Theorem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To accurately represent an analog signal, the sampling frequency (</a:t>
            </a:r>
            <a:r>
              <a:rPr lang="en-US" i="1" dirty="0"/>
              <a:t>fₛₐₘₚₗₑ</a:t>
            </a:r>
            <a:r>
              <a:rPr lang="en-US" dirty="0"/>
              <a:t>) must be greater than at least twice the highest frequency (</a:t>
            </a:r>
            <a:r>
              <a:rPr lang="en-US" i="1" dirty="0"/>
              <a:t>fₐ₍ₘₐₓ₎</a:t>
            </a:r>
            <a:r>
              <a:rPr lang="en-US" dirty="0"/>
              <a:t>) of the analog signal.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7BBBE-4F47-468F-91B4-57669AB3F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75" y="2670550"/>
            <a:ext cx="11014825" cy="3626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7E440-1630-4D67-ADE0-684F95A73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209" y="6391921"/>
            <a:ext cx="5906324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CE6798-6404-45D5-A3C4-B8EBA55D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43" y="2369075"/>
            <a:ext cx="2590914" cy="93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859" y="978408"/>
            <a:ext cx="11113465" cy="5413513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Need for Filtering </a:t>
            </a:r>
            <a:br>
              <a:rPr lang="en-US" sz="2000" dirty="0"/>
            </a:br>
            <a:r>
              <a:rPr lang="en-US" dirty="0">
                <a:latin typeface="Aptos (Body)"/>
              </a:rPr>
              <a:t>Low-pass filters are essential to remove frequency components above the Nyquist frequency.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Aptos (Body)"/>
              </a:rPr>
              <a:t>If high-frequency signals are not filtered, aliasing occurs.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latin typeface="Aptos (Body)"/>
              </a:rPr>
              <a:t>Use an anti-aliasing filter (low-pass) to eliminate unwanted high frequencies before sampling.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0AF97-1DC0-407F-AD3F-90D21AE3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5" y="3167271"/>
            <a:ext cx="5038753" cy="28546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95979F-32CC-41D4-A617-B0E57F7D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13" y="3167271"/>
            <a:ext cx="5679427" cy="2694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6FCC01-1D39-4082-AE06-544F03927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350" y="6021945"/>
            <a:ext cx="6011975" cy="581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24040E-1F03-44EA-B692-CEAD451CE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35" y="5976975"/>
            <a:ext cx="5038753" cy="46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2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Holding the Sampled Value </a:t>
            </a:r>
            <a:br>
              <a:rPr lang="en-US" sz="2000" dirty="0"/>
            </a:br>
            <a:r>
              <a:rPr lang="en-US" dirty="0">
                <a:latin typeface="Aptos (Body)"/>
              </a:rPr>
              <a:t>This sample-and-hold operation results in a “stairstep” waveform that approximates the analog input waveform </a:t>
            </a:r>
            <a:br>
              <a:rPr lang="en-US" dirty="0">
                <a:latin typeface="Aptos (Body)"/>
              </a:rPr>
            </a:br>
            <a:br>
              <a:rPr lang="en-US" dirty="0">
                <a:latin typeface="Aptos (Body)"/>
              </a:rPr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BC0C0-4EB9-4A1F-BC88-E19665348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6271"/>
            <a:ext cx="10468973" cy="384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6A9D6-506B-4014-9720-820EBFC91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835" y="6391920"/>
            <a:ext cx="6018240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Analog-to-Digital Conversion </a:t>
            </a:r>
            <a:br>
              <a:rPr lang="en-US" sz="2000" dirty="0"/>
            </a:br>
            <a:r>
              <a:rPr lang="en-US" b="1" dirty="0"/>
              <a:t>Analog-to-digital</a:t>
            </a:r>
            <a:r>
              <a:rPr lang="en-US" dirty="0"/>
              <a:t> conversion is the process of converting the output of the sample and hold circuit to a series of binary codes that represent the amplitude of the analog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</a:br>
            <a:r>
              <a:rPr lang="en-US" dirty="0"/>
              <a:t>input at each of the sample times. </a:t>
            </a:r>
            <a:br>
              <a:rPr lang="en-US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3D36C-3E29-4389-8430-BAEED0FC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04" y="2820937"/>
            <a:ext cx="11188551" cy="268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A6FBB-7CDB-4C83-9D78-C763089E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940" y="5721966"/>
            <a:ext cx="9182100" cy="100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87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889854"/>
            <a:ext cx="11261431" cy="557825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Quantization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The process of converting an analog value to a code is called quantization. During the quantization process, the ADC converts each sampled value of the analog signal to a binary code. </a:t>
            </a:r>
            <a:br>
              <a:rPr lang="en-US" dirty="0"/>
            </a:br>
            <a:br>
              <a:rPr lang="en-US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5456C4-3AA2-45AD-89A0-76EC7C268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00" y="2422767"/>
            <a:ext cx="5801535" cy="3820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C27CB-D46D-42C1-9794-A511B657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142" y="2648052"/>
            <a:ext cx="4576946" cy="3820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98CEB-6D8D-4B7B-8BC9-EF4DBA2D7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01" y="6202321"/>
            <a:ext cx="6290330" cy="5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7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12.1. Analog-to-Digital Conversion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889854"/>
            <a:ext cx="11261431" cy="557825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Quantization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Increasing the number of quantization bits greatly enhances the fidelity of the reconstructed analog signal.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60B9A0-9146-4408-B1D9-E7467B9E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48" y="2271984"/>
            <a:ext cx="6051311" cy="3762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A76AD9-243A-49E6-8000-94B909BB8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65" y="2271984"/>
            <a:ext cx="4369749" cy="3652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4DA26B-9FA0-4E35-822A-15B455D31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191" y="6176130"/>
            <a:ext cx="7698535" cy="68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0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 Quick Look at an Operational Amplifier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A72AB-A776-4DF3-952C-B03A3D90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83" y="1758908"/>
            <a:ext cx="1935014" cy="918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1C7C0-5D27-4434-A0C2-C6CBFE86E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94" y="2793061"/>
            <a:ext cx="9831172" cy="3086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4DF0EA-6BC8-464C-9E67-07A2D4490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445" y="6226113"/>
            <a:ext cx="5496692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1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Flash (Simultaneous) Analog-to-Digital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B10AD-94FC-43DE-9D3A-D1D87F28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7" y="1550505"/>
            <a:ext cx="8212404" cy="5314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EA728-A5C9-47FA-97A6-072252A3E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054" y="6417986"/>
            <a:ext cx="3781953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80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Dual-Slope Analog-to-Digital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4C928-64F6-48D0-B46A-EAF4CCEB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65" y="1611714"/>
            <a:ext cx="7712429" cy="5221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18B7D-B627-46EC-B38A-0FE6E0869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379" y="6365220"/>
            <a:ext cx="3971525" cy="47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8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Successive-Approximation Analog-to-Digital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B5B76-CA8E-40DF-9993-B71A486A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4" y="1599066"/>
            <a:ext cx="6062660" cy="4524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C8A9CA-9651-4A4A-BEA5-E42ABD9D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897" y="6315997"/>
            <a:ext cx="5210902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2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Successive-Approximation Analog-to-Digital Converter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469992-7140-4F78-817B-24D750FF5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108" y="1510943"/>
            <a:ext cx="7230332" cy="4701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3264BB-3F5D-4E79-BF29-B0176CEE7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567" y="6458132"/>
            <a:ext cx="7681654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0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Sigma-Delta Analog-to-Digital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ABFDF-8F53-4BAC-B928-AD127FA90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826" y="1750291"/>
            <a:ext cx="8515517" cy="3974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DE7E82-D2E2-4C78-9ECD-1A186F9B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648" y="6003941"/>
            <a:ext cx="865943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9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Sigma-Delta ADC Functional Block Diagram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93E02E-7B15-44D8-B409-4D609190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72" y="1710958"/>
            <a:ext cx="9782209" cy="3722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C66A88-82EB-44C9-911E-D39167EB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900" y="6162628"/>
            <a:ext cx="7325747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26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Testing Analog-to-Digital Converters </a:t>
            </a: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41E81-4908-4D02-89CD-FE4F38B18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61" y="1535125"/>
            <a:ext cx="9344478" cy="2189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69BFF-BD9C-4023-9448-73E397A93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61" y="3917463"/>
            <a:ext cx="9737277" cy="2474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560EDD-3619-49AF-8C88-5DCDD9883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292" y="6458132"/>
            <a:ext cx="391972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7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12.2. </a:t>
            </a:r>
            <a:r>
              <a:rPr lang="en-US" sz="2800" dirty="0">
                <a:solidFill>
                  <a:srgbClr val="FF0000"/>
                </a:solidFill>
              </a:rPr>
              <a:t>Methods of Analog-to-Digital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Analog-to-Digital Conversion Errors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>
                <a:latin typeface="Aptos (Body)"/>
              </a:rPr>
              <a:t>In a flash ADC, for example, a failure of one of the op-amp comparators can cause a missing-code error.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3D118-69E4-4A30-9F66-40C2700A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9" y="2326972"/>
            <a:ext cx="10668857" cy="39048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D6C620-59AD-4C33-B8C9-2234B7D02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682" y="6335586"/>
            <a:ext cx="6736668" cy="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6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12.3. </a:t>
            </a:r>
            <a:r>
              <a:rPr lang="en-US" sz="2800" dirty="0">
                <a:solidFill>
                  <a:srgbClr val="FF0000"/>
                </a:solidFill>
              </a:rPr>
              <a:t>Methods of Digital-to-Analog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Binary-Weighted-Input Digital-to-Analog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3130B-CE6A-41DE-9D4B-6D2E9951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653" y="1742839"/>
            <a:ext cx="8542277" cy="41367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51E36-EF36-4954-9602-6E3968F8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270" y="6272822"/>
            <a:ext cx="597300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39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12.3. </a:t>
            </a:r>
            <a:r>
              <a:rPr lang="en-US" sz="2800" dirty="0">
                <a:solidFill>
                  <a:srgbClr val="FF0000"/>
                </a:solidFill>
              </a:rPr>
              <a:t>Methods of Digital-to-Analog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R/2R Ladder Digital-to-Analog Converter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53168-DC0D-46AB-BE85-15291CD0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2108700"/>
            <a:ext cx="7325747" cy="3505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30CE42-3675-4B1C-A49B-3C269EA20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710" y="6048963"/>
            <a:ext cx="3653326" cy="34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6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12.3. </a:t>
            </a:r>
            <a:r>
              <a:rPr lang="en-US" sz="2800" dirty="0">
                <a:solidFill>
                  <a:srgbClr val="FF0000"/>
                </a:solidFill>
              </a:rPr>
              <a:t>Methods of Digital-to-Analog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Testing Digital-to-Analog Converters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C1121-E3F8-430C-85F6-49538251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14" y="2146853"/>
            <a:ext cx="9530572" cy="34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95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12.3. </a:t>
            </a:r>
            <a:r>
              <a:rPr lang="en-US" sz="2800" dirty="0">
                <a:solidFill>
                  <a:srgbClr val="FF0000"/>
                </a:solidFill>
              </a:rPr>
              <a:t>Methods of Digital-to-Analog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03" y="105459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Digital-to-Analog Conversion Errors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7B83A-077D-4E29-B550-3232B7584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85" y="2301919"/>
            <a:ext cx="5336952" cy="29188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B836F-3CB8-4428-AA60-031F42D20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55" y="2327617"/>
            <a:ext cx="5478049" cy="2804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6FA9E-2961-4693-937E-8466AE65A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281" y="5952773"/>
            <a:ext cx="8251719" cy="60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48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12.3. </a:t>
            </a:r>
            <a:r>
              <a:rPr lang="en-US" sz="2800" dirty="0">
                <a:solidFill>
                  <a:srgbClr val="FF0000"/>
                </a:solidFill>
              </a:rPr>
              <a:t>Methods of Digital-to-Analog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Reconstruction Filter </a:t>
            </a: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8E02E9-878D-4512-8F8C-BA86529A2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66" y="2188778"/>
            <a:ext cx="11284667" cy="2992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92C97-81BB-4D1F-B0DC-BF0EAD1D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955" y="5621175"/>
            <a:ext cx="6451286" cy="4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26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12.4. </a:t>
            </a:r>
            <a:r>
              <a:rPr lang="en-US" sz="2800" dirty="0">
                <a:solidFill>
                  <a:srgbClr val="FF0000"/>
                </a:solidFill>
              </a:rPr>
              <a:t>Digital Signal 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85132"/>
            <a:ext cx="10530840" cy="5413513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What is DSP?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>
                <a:latin typeface="Aptos (Body)"/>
              </a:rPr>
              <a:t>DSP converts </a:t>
            </a:r>
            <a:r>
              <a:rPr lang="en-US" b="1" dirty="0">
                <a:latin typeface="Aptos (Body)"/>
              </a:rPr>
              <a:t>analog signals </a:t>
            </a:r>
            <a:r>
              <a:rPr lang="en-US" dirty="0">
                <a:latin typeface="Aptos (Body)"/>
              </a:rPr>
              <a:t>(e.g., sound, video, sensor data) into </a:t>
            </a:r>
            <a:r>
              <a:rPr lang="en-US" b="1" dirty="0">
                <a:latin typeface="Aptos (Body)"/>
              </a:rPr>
              <a:t>digital form</a:t>
            </a:r>
            <a:r>
              <a:rPr lang="en-US" dirty="0">
                <a:latin typeface="Aptos (Body)"/>
              </a:rPr>
              <a:t>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Aptos (Body)"/>
              </a:rPr>
              <a:t>Enables enhancement, filtering, and transformation of signals for various applications.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688F8-7700-4E32-8800-41A0C8EE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15" y="2608477"/>
            <a:ext cx="6609535" cy="3644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1CF4B1-FE67-4DF1-B879-E476B5607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030" y="6329178"/>
            <a:ext cx="8897592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85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12.4. </a:t>
            </a:r>
            <a:r>
              <a:rPr lang="en-US" sz="2800" dirty="0">
                <a:solidFill>
                  <a:srgbClr val="FF0000"/>
                </a:solidFill>
              </a:rPr>
              <a:t>Digital Signal 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sv-SE" sz="2400" b="1" i="1" dirty="0">
                <a:solidFill>
                  <a:srgbClr val="00B0F0"/>
                </a:solidFill>
                <a:latin typeface="Aptos Display (Headings)"/>
              </a:rPr>
              <a:t>Digital Signal Processing System – Block Diagram</a:t>
            </a:r>
            <a:br>
              <a:rPr lang="en-US" sz="2000" dirty="0"/>
            </a:br>
            <a:r>
              <a:rPr lang="en-US" dirty="0">
                <a:latin typeface="Aptos (Body)"/>
              </a:rPr>
              <a:t>DSP is a specialized, high-speed processor used for real-time computational tasks.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Aptos (Body)"/>
              </a:rPr>
              <a:t>The entire system converts analog signals into digital form → processes them → then outputs a high-quality analog signal.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dirty="0">
                <a:latin typeface="Aptos (Body)"/>
              </a:rPr>
            </a:br>
            <a:endParaRPr lang="en-US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21B1E-0D10-444E-87EF-B2A2FBD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4" y="3045621"/>
            <a:ext cx="11244492" cy="1923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DC38F-529F-43C5-9634-41905496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350" y="5711152"/>
            <a:ext cx="8625521" cy="55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62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DSP in Signal Processing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7803C-8B03-4DDF-8E84-6DD6DD50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72" y="2108953"/>
            <a:ext cx="10044015" cy="2880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83105A-7555-4124-9141-718EBF2D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78" y="5697029"/>
            <a:ext cx="726659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14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DSP in a Cellular Telephone </a:t>
            </a: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F7B28-2F7C-4AD8-B8ED-159A79D3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04" y="1444165"/>
            <a:ext cx="10457996" cy="4481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73E44C-E2A8-462B-A370-8EBEE42C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762" y="6325116"/>
            <a:ext cx="5525271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8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Basic DSP Architecture 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D24F1E-82A2-41A2-A5ED-83B7C907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07" y="2208942"/>
            <a:ext cx="9473729" cy="2696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4BD282-2055-49A7-AC30-F4ECFA4C1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246" y="5748874"/>
            <a:ext cx="7792537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78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8" y="867534"/>
            <a:ext cx="10386391" cy="5524387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 Specific DSP 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48D32-1961-41B8-B9C7-A06D3223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859" y="1321598"/>
            <a:ext cx="6492860" cy="507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866062-98D6-406B-A0DC-07346E28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57" y="6458133"/>
            <a:ext cx="6395954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20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8" y="867534"/>
            <a:ext cx="10386391" cy="5524387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Pipeline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9CCEA-F478-46A6-82C6-215572BC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70" y="1480231"/>
            <a:ext cx="7426312" cy="1594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E8E062-850A-4E4E-9845-448CDFD6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998" y="3301160"/>
            <a:ext cx="7252004" cy="513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6DA3F2-7916-4354-9691-7B3BDE392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093" y="4174444"/>
            <a:ext cx="7268589" cy="1333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6855E3-2821-4723-9FAA-35E23ECAD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889" y="5948289"/>
            <a:ext cx="6611273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64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12.5. </a:t>
            </a:r>
            <a:r>
              <a:rPr lang="en-US" sz="2800" dirty="0">
                <a:solidFill>
                  <a:srgbClr val="FF0000"/>
                </a:solidFill>
              </a:rPr>
              <a:t>The Digital Signal Processor (DSP)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8" y="867534"/>
            <a:ext cx="10386391" cy="5524387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Packaging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000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FB66A-5A5B-4B4C-AE5F-0FAE2387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35" y="1795000"/>
            <a:ext cx="7659757" cy="387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305337-9F7E-4B0C-9E7F-D318B50A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292" y="4654463"/>
            <a:ext cx="3529780" cy="812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C09799-B86C-41F2-8DA0-587875F3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763" y="6077631"/>
            <a:ext cx="3936473" cy="39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35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SUMMARY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75" y="1254977"/>
            <a:ext cx="10323442" cy="5399177"/>
          </a:xfrm>
        </p:spPr>
        <p:txBody>
          <a:bodyPr>
            <a:noAutofit/>
          </a:bodyPr>
          <a:lstStyle/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Aptos (Body)"/>
              </a:rPr>
              <a:t>1.  Sampling &amp; Nyquist Theorem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Sampling converts an analog signal into discrete pulses representing amplitude.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The sampling frequency must be at least twice the highest frequency (Nyquist theorem).</a:t>
            </a:r>
          </a:p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Aptos (Body)"/>
              </a:rPr>
              <a:t>2.  ADC &amp; DAC Conversion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ADC converts analog signals to binary codes.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DAC converts digital codes back into analog signals.</a:t>
            </a:r>
          </a:p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Aptos (Body)"/>
              </a:rPr>
              <a:t>3.  Digital Signal Processing (DSP)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DSP refers to processing analog signals in digital form, usually in real time, for the purpose of enhancing or modifying the signal.</a:t>
            </a:r>
          </a:p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Aptos (Body)"/>
              </a:rPr>
              <a:t>4.  DSP System Architecture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Includes: Anti-aliasing filter, Sample-and-hold circuit, ADC, DSP, DAC, and Reconstruction filter.</a:t>
            </a:r>
          </a:p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Aptos (Body)"/>
              </a:rPr>
              <a:t>5.  DSP Architecture Features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DSP is a specialized processor, optimized for speed and real-time data processing.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Typically based on the Harvard architecture (separate program and data memory).</a:t>
            </a:r>
          </a:p>
          <a:p>
            <a:pPr marL="457200" marR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Aptos (Body)"/>
              </a:rPr>
              <a:t>Supports pipeline operation: fetch, decode, and execute stages.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dirty="0"/>
            </a:br>
            <a:br>
              <a:rPr lang="en-US" b="1" i="1" dirty="0">
                <a:solidFill>
                  <a:srgbClr val="00B0F0"/>
                </a:solidFill>
                <a:latin typeface="Aptos Display (Headings)"/>
              </a:rPr>
            </a:br>
            <a:endParaRPr lang="en-US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 rot="5400000">
            <a:off x="9378265" y="3676879"/>
            <a:ext cx="52131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Chapter 12: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Conversion and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7B579-B374-4407-8EB1-CBF8DB15545C}"/>
              </a:ext>
            </a:extLst>
          </p:cNvPr>
          <p:cNvSpPr txBox="1"/>
          <p:nvPr/>
        </p:nvSpPr>
        <p:spPr>
          <a:xfrm>
            <a:off x="822960" y="838709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ptos (Body)"/>
                <a:cs typeface="Times New Roman" panose="02020603050405020304" pitchFamily="18" charset="0"/>
              </a:rPr>
              <a:t>Chapter 12: Programmable Logic </a:t>
            </a:r>
          </a:p>
        </p:txBody>
      </p:sp>
    </p:spTree>
    <p:extLst>
      <p:ext uri="{BB962C8B-B14F-4D97-AF65-F5344CB8AC3E}">
        <p14:creationId xmlns:p14="http://schemas.microsoft.com/office/powerpoint/2010/main" val="2802960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6554</TotalTime>
  <Words>1211</Words>
  <Application>Microsoft Office PowerPoint</Application>
  <PresentationFormat>Widescreen</PresentationFormat>
  <Paragraphs>165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(Body)</vt:lpstr>
      <vt:lpstr>Aptos Display</vt:lpstr>
      <vt:lpstr>Aptos Display (Headings)</vt:lpstr>
      <vt:lpstr>Arial</vt:lpstr>
      <vt:lpstr>Times New Roman</vt:lpstr>
      <vt:lpstr>Times-Roman</vt:lpstr>
      <vt:lpstr>Office Theme</vt:lpstr>
      <vt:lpstr>PowerPoint Presentation</vt:lpstr>
      <vt:lpstr>Objectives</vt:lpstr>
      <vt:lpstr>Contents</vt:lpstr>
      <vt:lpstr>12.1. Analog-to-Digital Conversion</vt:lpstr>
      <vt:lpstr>12.1. Analog-to-Digital Conversion</vt:lpstr>
      <vt:lpstr>12.1. Analog-to-Digital Conversion</vt:lpstr>
      <vt:lpstr>12.1. Analog-to-Digital Conversion</vt:lpstr>
      <vt:lpstr>12.1. Analog-to-Digital Conversion</vt:lpstr>
      <vt:lpstr>12.1. Analog-to-Digital Conversion</vt:lpstr>
      <vt:lpstr>12.1.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12.2. Methods of Analog-to-Digital Conversion</vt:lpstr>
      <vt:lpstr>12.3. Methods of Digital-to-Analog Conversion</vt:lpstr>
      <vt:lpstr>12.3. Methods of Digital-to-Analog Conversion</vt:lpstr>
      <vt:lpstr>12.3. Methods of Digital-to-Analog Conversion</vt:lpstr>
      <vt:lpstr>12.3. Methods of Digital-to-Analog Conversion</vt:lpstr>
      <vt:lpstr>12.3. Methods of Digital-to-Analog Conversion</vt:lpstr>
      <vt:lpstr>12.4. Digital Signal Processing</vt:lpstr>
      <vt:lpstr>12.4. Digital Signal Processing</vt:lpstr>
      <vt:lpstr>12.5. The Digital Signal Processor (DSP)</vt:lpstr>
      <vt:lpstr>12.5. The Digital Signal Processor (DSP)</vt:lpstr>
      <vt:lpstr>12.5. The Digital Signal Processor (DSP)</vt:lpstr>
      <vt:lpstr>12.5. The Digital Signal Processor (DSP)</vt:lpstr>
      <vt:lpstr>12.5. The Digital Signal Processor (DSP)</vt:lpstr>
      <vt:lpstr>12.5. The Digital Signal Processor (DSP)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256</cp:revision>
  <dcterms:created xsi:type="dcterms:W3CDTF">2024-04-08T01:59:57Z</dcterms:created>
  <dcterms:modified xsi:type="dcterms:W3CDTF">2025-08-27T03:46:35Z</dcterms:modified>
</cp:coreProperties>
</file>