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58" r:id="rId2"/>
    <p:sldId id="327" r:id="rId3"/>
    <p:sldId id="296" r:id="rId4"/>
    <p:sldId id="329" r:id="rId5"/>
    <p:sldId id="369" r:id="rId6"/>
    <p:sldId id="370" r:id="rId7"/>
    <p:sldId id="372" r:id="rId8"/>
    <p:sldId id="373" r:id="rId9"/>
    <p:sldId id="375" r:id="rId10"/>
    <p:sldId id="374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8" r:id="rId22"/>
    <p:sldId id="386" r:id="rId23"/>
    <p:sldId id="387" r:id="rId24"/>
    <p:sldId id="389" r:id="rId25"/>
    <p:sldId id="390" r:id="rId26"/>
    <p:sldId id="391" r:id="rId27"/>
    <p:sldId id="393" r:id="rId28"/>
    <p:sldId id="394" r:id="rId29"/>
    <p:sldId id="392" r:id="rId30"/>
    <p:sldId id="395" r:id="rId31"/>
    <p:sldId id="396" r:id="rId32"/>
    <p:sldId id="397" r:id="rId33"/>
    <p:sldId id="398" r:id="rId34"/>
    <p:sldId id="399" r:id="rId35"/>
    <p:sldId id="400" r:id="rId36"/>
    <p:sldId id="402" r:id="rId37"/>
    <p:sldId id="403" r:id="rId38"/>
    <p:sldId id="368" r:id="rId39"/>
    <p:sldId id="367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12020-9413-486F-BA5D-75CDAEC9B132}" v="33" dt="2024-04-17T15:14:20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15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33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Cao Van" userId="f7949ac2-728d-41dd-ad7e-3544eb396517" providerId="ADAL" clId="{9A112020-9413-486F-BA5D-75CDAEC9B132}"/>
    <pc:docChg chg="undo custSel addSld delSld modSld">
      <pc:chgData name="Mai Cao Van" userId="f7949ac2-728d-41dd-ad7e-3544eb396517" providerId="ADAL" clId="{9A112020-9413-486F-BA5D-75CDAEC9B132}" dt="2024-04-17T15:14:29.613" v="118" actId="14100"/>
      <pc:docMkLst>
        <pc:docMk/>
      </pc:docMkLst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14208525" sldId="2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26776459" sldId="257"/>
        </pc:sldMkLst>
      </pc:sldChg>
      <pc:sldChg chg="modSp mod modClrScheme chgLayout">
        <pc:chgData name="Mai Cao Van" userId="f7949ac2-728d-41dd-ad7e-3544eb396517" providerId="ADAL" clId="{9A112020-9413-486F-BA5D-75CDAEC9B132}" dt="2024-04-17T14:20:18.691" v="9" actId="207"/>
        <pc:sldMkLst>
          <pc:docMk/>
          <pc:sldMk cId="3190321118" sldId="258"/>
        </pc:sldMkLst>
        <pc:spChg chg="mod ord">
          <ac:chgData name="Mai Cao Van" userId="f7949ac2-728d-41dd-ad7e-3544eb396517" providerId="ADAL" clId="{9A112020-9413-486F-BA5D-75CDAEC9B132}" dt="2024-04-17T14:20:18.691" v="9" actId="207"/>
          <ac:spMkLst>
            <pc:docMk/>
            <pc:sldMk cId="3190321118" sldId="258"/>
            <ac:spMk id="2" creationId="{07CF3735-88FE-51EE-7EA1-A930D1D9D4F9}"/>
          </ac:spMkLst>
        </pc:spChg>
        <pc:spChg chg="mod ord">
          <ac:chgData name="Mai Cao Van" userId="f7949ac2-728d-41dd-ad7e-3544eb396517" providerId="ADAL" clId="{9A112020-9413-486F-BA5D-75CDAEC9B132}" dt="2024-04-17T14:20:02.053" v="5" actId="120"/>
          <ac:spMkLst>
            <pc:docMk/>
            <pc:sldMk cId="3190321118" sldId="258"/>
            <ac:spMk id="9" creationId="{F0932675-FEE9-806C-4C5C-4E45D1CBCBF5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71320278" sldId="25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7350594" sldId="26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06777267" sldId="2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5489809" sldId="2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91464535" sldId="26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6108424" sldId="26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53395001" sldId="26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89765472" sldId="26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60731846" sldId="26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336286143" sldId="26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1732853" sldId="26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43067150" sldId="27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890814" sldId="27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352985877" sldId="27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18896443" sldId="27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31915942" sldId="27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52181570" sldId="27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79499132" sldId="27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058281605" sldId="27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443217586" sldId="27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1532945" sldId="28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617769310" sldId="28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880446481" sldId="28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70850264" sldId="28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727363365" sldId="28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346282213" sldId="28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09053363" sldId="28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94563085" sldId="28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26019977" sldId="28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77283182" sldId="28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2004715" sldId="29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32815543" sldId="29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32717068" sldId="29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74586941" sldId="29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986597189" sldId="29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170217672" sldId="295"/>
        </pc:sldMkLst>
      </pc:sldChg>
      <pc:sldChg chg="addSp delSp modSp mod chgLayout">
        <pc:chgData name="Mai Cao Van" userId="f7949ac2-728d-41dd-ad7e-3544eb396517" providerId="ADAL" clId="{9A112020-9413-486F-BA5D-75CDAEC9B132}" dt="2024-04-17T15:07:47.436" v="76" actId="113"/>
        <pc:sldMkLst>
          <pc:docMk/>
          <pc:sldMk cId="1501905343" sldId="296"/>
        </pc:sldMkLst>
        <pc:spChg chg="mod or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2" creationId="{8C430AE8-0EBE-B0C5-28F2-79A2A6992611}"/>
          </ac:spMkLst>
        </pc:spChg>
        <pc:spChg chg="mod ord">
          <ac:chgData name="Mai Cao Van" userId="f7949ac2-728d-41dd-ad7e-3544eb396517" providerId="ADAL" clId="{9A112020-9413-486F-BA5D-75CDAEC9B132}" dt="2024-04-17T15:03:37.451" v="47" actId="123"/>
          <ac:spMkLst>
            <pc:docMk/>
            <pc:sldMk cId="1501905343" sldId="296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6" creationId="{4E16FE9D-6910-3544-261B-84B87D8CEB42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7" creationId="{7F0A6817-88FB-7DF1-0253-7A09FF946583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8" creationId="{4C016DF6-0FEB-F18C-BF4A-135819304B30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9" creationId="{F07948B4-DBBE-2601-1A16-1F3D99DFC0B4}"/>
          </ac:spMkLst>
        </pc:spChg>
        <pc:spChg chg="add mod">
          <ac:chgData name="Mai Cao Van" userId="f7949ac2-728d-41dd-ad7e-3544eb396517" providerId="ADAL" clId="{9A112020-9413-486F-BA5D-75CDAEC9B132}" dt="2024-04-17T15:07:47.436" v="76" actId="113"/>
          <ac:spMkLst>
            <pc:docMk/>
            <pc:sldMk cId="1501905343" sldId="296"/>
            <ac:spMk id="13" creationId="{C0DE56BB-D25E-8028-4B39-613B82E2F666}"/>
          </ac:spMkLst>
        </pc:spChg>
        <pc:picChg chg="add del mod">
          <ac:chgData name="Mai Cao Van" userId="f7949ac2-728d-41dd-ad7e-3544eb396517" providerId="ADAL" clId="{9A112020-9413-486F-BA5D-75CDAEC9B132}" dt="2024-04-17T14:58:25.778" v="17" actId="478"/>
          <ac:picMkLst>
            <pc:docMk/>
            <pc:sldMk cId="1501905343" sldId="296"/>
            <ac:picMk id="5" creationId="{DAFB7174-EBC2-F8A4-63D1-02D5BDF15D48}"/>
          </ac:picMkLst>
        </pc:picChg>
        <pc:picChg chg="add mod">
          <ac:chgData name="Mai Cao Van" userId="f7949ac2-728d-41dd-ad7e-3544eb396517" providerId="ADAL" clId="{9A112020-9413-486F-BA5D-75CDAEC9B132}" dt="2024-04-17T15:03:32.009" v="46" actId="1035"/>
          <ac:picMkLst>
            <pc:docMk/>
            <pc:sldMk cId="1501905343" sldId="296"/>
            <ac:picMk id="11" creationId="{3060298A-DE97-347C-64A7-3756612B109F}"/>
          </ac:picMkLst>
        </pc:picChg>
      </pc:sldChg>
      <pc:sldChg chg="addSp delSp modSp add mod chgLayout">
        <pc:chgData name="Mai Cao Van" userId="f7949ac2-728d-41dd-ad7e-3544eb396517" providerId="ADAL" clId="{9A112020-9413-486F-BA5D-75CDAEC9B132}" dt="2024-04-17T15:07:40.195" v="75" actId="113"/>
        <pc:sldMkLst>
          <pc:docMk/>
          <pc:sldMk cId="2933662193" sldId="301"/>
        </pc:sldMkLst>
        <pc:spChg chg="mod or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2" creationId="{8C430AE8-0EBE-B0C5-28F2-79A2A6992611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3" creationId="{70A34787-31ED-7DDC-549A-161AF8900A2B}"/>
          </ac:spMkLst>
        </pc:spChg>
        <pc:spChg chg="mod ord">
          <ac:chgData name="Mai Cao Van" userId="f7949ac2-728d-41dd-ad7e-3544eb396517" providerId="ADAL" clId="{9A112020-9413-486F-BA5D-75CDAEC9B132}" dt="2024-04-17T15:06:11.303" v="68" actId="27636"/>
          <ac:spMkLst>
            <pc:docMk/>
            <pc:sldMk cId="2933662193" sldId="301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5" creationId="{2AB4403E-1207-5BEB-0BA0-55A57680AB16}"/>
          </ac:spMkLst>
        </pc:spChg>
        <pc:spChg chg="mod">
          <ac:chgData name="Mai Cao Van" userId="f7949ac2-728d-41dd-ad7e-3544eb396517" providerId="ADAL" clId="{9A112020-9413-486F-BA5D-75CDAEC9B132}" dt="2024-04-17T15:07:40.195" v="75" actId="113"/>
          <ac:spMkLst>
            <pc:docMk/>
            <pc:sldMk cId="2933662193" sldId="301"/>
            <ac:spMk id="13" creationId="{C0DE56BB-D25E-8028-4B39-613B82E2F666}"/>
          </ac:spMkLst>
        </pc:spChg>
        <pc:picChg chg="add mod">
          <ac:chgData name="Mai Cao Van" userId="f7949ac2-728d-41dd-ad7e-3544eb396517" providerId="ADAL" clId="{9A112020-9413-486F-BA5D-75CDAEC9B132}" dt="2024-04-17T15:07:11.801" v="72" actId="14100"/>
          <ac:picMkLst>
            <pc:docMk/>
            <pc:sldMk cId="2933662193" sldId="301"/>
            <ac:picMk id="7" creationId="{BACB1871-71F6-5AFF-51A8-84E978A82971}"/>
          </ac:picMkLst>
        </pc:picChg>
        <pc:picChg chg="del">
          <ac:chgData name="Mai Cao Van" userId="f7949ac2-728d-41dd-ad7e-3544eb396517" providerId="ADAL" clId="{9A112020-9413-486F-BA5D-75CDAEC9B132}" dt="2024-04-17T15:05:56.729" v="63" actId="478"/>
          <ac:picMkLst>
            <pc:docMk/>
            <pc:sldMk cId="2933662193" sldId="301"/>
            <ac:picMk id="11" creationId="{3060298A-DE97-347C-64A7-3756612B109F}"/>
          </ac:picMkLst>
        </pc:pic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61348225" sldId="3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320354" sldId="302"/>
        </pc:sldMkLst>
      </pc:sldChg>
      <pc:sldChg chg="modSp add mod">
        <pc:chgData name="Mai Cao Van" userId="f7949ac2-728d-41dd-ad7e-3544eb396517" providerId="ADAL" clId="{9A112020-9413-486F-BA5D-75CDAEC9B132}" dt="2024-04-17T15:14:29.613" v="118" actId="14100"/>
        <pc:sldMkLst>
          <pc:docMk/>
          <pc:sldMk cId="2652356429" sldId="302"/>
        </pc:sldMkLst>
        <pc:spChg chg="mod">
          <ac:chgData name="Mai Cao Van" userId="f7949ac2-728d-41dd-ad7e-3544eb396517" providerId="ADAL" clId="{9A112020-9413-486F-BA5D-75CDAEC9B132}" dt="2024-04-17T15:14:29.613" v="118" actId="14100"/>
          <ac:spMkLst>
            <pc:docMk/>
            <pc:sldMk cId="2652356429" sldId="302"/>
            <ac:spMk id="4" creationId="{BE7F8D9A-9F36-3F42-5DDB-B214C4EAC8A6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82246672" sldId="3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3158920" sldId="3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54021612" sldId="3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80960752" sldId="3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49476003" sldId="3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81069589" sldId="3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162619783" sldId="3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64759149" sldId="3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21748694" sldId="3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48051221" sldId="3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3469992" sldId="3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15820225" sldId="3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31213231" sldId="3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72900586" sldId="3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20231526" sldId="3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83509001" sldId="3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84775449" sldId="32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71388492" sldId="3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759009" sldId="3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67845728" sldId="3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0621169" sldId="3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53342677" sldId="3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5125376" sldId="3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87807566" sldId="3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07945801" sldId="3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78991458" sldId="3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42944599" sldId="3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47322492" sldId="3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0702777" sldId="3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0726604" sldId="3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4312387" sldId="3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62530898" sldId="3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10533634" sldId="3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24928923" sldId="3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8002459" sldId="3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90179627" sldId="3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63368077" sldId="3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09250700" sldId="3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50418921" sldId="3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57694825" sldId="3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05595158" sldId="34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73060477" sldId="34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59707268" sldId="34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848758112" sldId="35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036275847" sldId="35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181531778" sldId="35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59275954" sldId="35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09173124" sldId="35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247538530" sldId="35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6905501" sldId="3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16005775" sldId="35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55634875" sldId="35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183660468" sldId="3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22368251" sldId="3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1358665" sldId="39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308099" sldId="39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40247633" sldId="4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02376594" sldId="40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73410731" sldId="4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70051078" sldId="4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84010954" sldId="4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4740067" sldId="4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19231035" sldId="4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85599415" sldId="4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64253548" sldId="4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21512525" sldId="4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5239884" sldId="4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9551571" sldId="4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77181734" sldId="4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64186032" sldId="4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7174173" sldId="4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7491730" sldId="41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94990954" sldId="4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9368100" sldId="41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15897664" sldId="4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16007585" sldId="4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662009085" sldId="4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02492514" sldId="4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5303601" sldId="4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72253741" sldId="4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3780426" sldId="4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2503861" sldId="4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78228032" sldId="4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21868727" sldId="4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74550136" sldId="4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78328790" sldId="4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77041457" sldId="4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21886896" sldId="4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00060120" sldId="43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364085" sldId="4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562749593" sldId="4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3443945" sldId="4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35142140" sldId="4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6830420" sldId="4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58526831" sldId="4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6389077" sldId="4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28909499" sldId="4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55187822" sldId="4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6909249" sldId="4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57333704" sldId="4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04045078" sldId="4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AD9A4-3449-456F-BCB1-B37D2B162820}" type="datetimeFigureOut">
              <a:rPr lang="vi-VN" smtClean="0"/>
              <a:t>27/08/2025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4DB88-6E80-499D-ABB8-38FBF3AE1A2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443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871CC-0A5A-4983-867F-F63CAC6B553F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B0B5C0-74F0-4EC6-A51D-11457A899F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093"/>
            <a:ext cx="12192000" cy="690764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1E02220-0385-4125-BDB5-59B8FEFF76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932" y="3278144"/>
            <a:ext cx="10515600" cy="5492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1: </a:t>
            </a:r>
          </a:p>
        </p:txBody>
      </p:sp>
    </p:spTree>
    <p:extLst>
      <p:ext uri="{BB962C8B-B14F-4D97-AF65-F5344CB8AC3E}">
        <p14:creationId xmlns:p14="http://schemas.microsoft.com/office/powerpoint/2010/main" val="134330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305"/>
            <a:ext cx="10515600" cy="549274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4303"/>
            <a:ext cx="10515600" cy="5312661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99EF-8D3C-452B-935C-C3A0B15262A2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Picture 8" descr="A black background with text&#10;&#10;Description automatically generated">
            <a:extLst>
              <a:ext uri="{FF2B5EF4-FFF2-40B4-BE49-F238E27FC236}">
                <a16:creationId xmlns:a16="http://schemas.microsoft.com/office/drawing/2014/main" id="{6BF17E32-750A-6C62-EA62-509EF6C9F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77123"/>
            <a:ext cx="2387692" cy="55627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E78CCE1-A7DE-F222-F3C0-FAB53CC3E40F}"/>
              </a:ext>
            </a:extLst>
          </p:cNvPr>
          <p:cNvGrpSpPr/>
          <p:nvPr userDrawn="1"/>
        </p:nvGrpSpPr>
        <p:grpSpPr>
          <a:xfrm>
            <a:off x="10566400" y="-5737"/>
            <a:ext cx="1625600" cy="1213792"/>
            <a:chOff x="7924800" y="-5737"/>
            <a:chExt cx="1219200" cy="121379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F9A6EB5-51CE-4781-B164-2A67653CBBD5}"/>
                </a:ext>
              </a:extLst>
            </p:cNvPr>
            <p:cNvGrpSpPr/>
            <p:nvPr userDrawn="1"/>
          </p:nvGrpSpPr>
          <p:grpSpPr>
            <a:xfrm rot="10800000">
              <a:off x="8737600" y="-5737"/>
              <a:ext cx="406400" cy="406400"/>
              <a:chOff x="4388744" y="4805680"/>
              <a:chExt cx="406400" cy="406400"/>
            </a:xfrm>
          </p:grpSpPr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104E3744-FC6E-D772-CB2C-94156FE16F5E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8E526613-AFFA-0BE7-1031-5FE07BE21465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FEF925B-CCED-3ED6-A724-D231382E7FAE}"/>
                </a:ext>
              </a:extLst>
            </p:cNvPr>
            <p:cNvGrpSpPr/>
            <p:nvPr userDrawn="1"/>
          </p:nvGrpSpPr>
          <p:grpSpPr>
            <a:xfrm rot="10800000">
              <a:off x="8737600" y="395255"/>
              <a:ext cx="406400" cy="406400"/>
              <a:chOff x="4388744" y="4805680"/>
              <a:chExt cx="406400" cy="406400"/>
            </a:xfrm>
          </p:grpSpPr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85BC3172-424A-A4E4-CB48-10AEBF5908B8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314298E0-6DBD-FD83-9BE9-9C0888F45A6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46E5D2-3503-0CA5-5F0A-EB3B0DF62742}"/>
                </a:ext>
              </a:extLst>
            </p:cNvPr>
            <p:cNvGrpSpPr/>
            <p:nvPr userDrawn="1"/>
          </p:nvGrpSpPr>
          <p:grpSpPr>
            <a:xfrm rot="10800000">
              <a:off x="8737600" y="801655"/>
              <a:ext cx="406400" cy="406400"/>
              <a:chOff x="4388744" y="4805680"/>
              <a:chExt cx="406400" cy="406400"/>
            </a:xfrm>
          </p:grpSpPr>
          <p:sp>
            <p:nvSpPr>
              <p:cNvPr id="23" name="Right Triangle 22">
                <a:extLst>
                  <a:ext uri="{FF2B5EF4-FFF2-40B4-BE49-F238E27FC236}">
                    <a16:creationId xmlns:a16="http://schemas.microsoft.com/office/drawing/2014/main" id="{91C97430-586C-1852-7B7E-CC8BD43C1F34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DE6DCA86-3931-B1AC-3F66-88107D6326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20317D3-6B3D-2DF1-0986-9A0970332111}"/>
                </a:ext>
              </a:extLst>
            </p:cNvPr>
            <p:cNvGrpSpPr/>
            <p:nvPr userDrawn="1"/>
          </p:nvGrpSpPr>
          <p:grpSpPr>
            <a:xfrm rot="10800000">
              <a:off x="8331200" y="399790"/>
              <a:ext cx="406400" cy="406400"/>
              <a:chOff x="4388744" y="4805680"/>
              <a:chExt cx="406400" cy="406400"/>
            </a:xfrm>
          </p:grpSpPr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D7B18993-7C91-F71E-F1EB-8E1AD63B2C42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Right Triangle 21">
                <a:extLst>
                  <a:ext uri="{FF2B5EF4-FFF2-40B4-BE49-F238E27FC236}">
                    <a16:creationId xmlns:a16="http://schemas.microsoft.com/office/drawing/2014/main" id="{A1832769-9077-3069-4A71-C6696C21BC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FDE1C15-F987-A9D6-90C9-FCC16E16565E}"/>
                </a:ext>
              </a:extLst>
            </p:cNvPr>
            <p:cNvGrpSpPr/>
            <p:nvPr userDrawn="1"/>
          </p:nvGrpSpPr>
          <p:grpSpPr>
            <a:xfrm rot="10800000">
              <a:off x="8331200" y="-5737"/>
              <a:ext cx="406400" cy="406400"/>
              <a:chOff x="4388744" y="4805680"/>
              <a:chExt cx="406400" cy="406400"/>
            </a:xfrm>
          </p:grpSpPr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B3697819-6C2D-176B-5402-026EE5B6ADE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04B90D12-2C70-58C5-9D99-5E46BABC09A5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6205393-F4AA-F4B4-AD11-0C74DE379B3D}"/>
                </a:ext>
              </a:extLst>
            </p:cNvPr>
            <p:cNvGrpSpPr/>
            <p:nvPr userDrawn="1"/>
          </p:nvGrpSpPr>
          <p:grpSpPr>
            <a:xfrm rot="10800000">
              <a:off x="7924800" y="0"/>
              <a:ext cx="406400" cy="406400"/>
              <a:chOff x="4388744" y="4805680"/>
              <a:chExt cx="406400" cy="406400"/>
            </a:xfrm>
          </p:grpSpPr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54406F37-F68C-A4C0-E0EF-7C3C6F4796B1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52350476-19B7-4C57-8D0B-4F30375646D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4D367E-E1F8-341D-D917-08BD1F010572}"/>
              </a:ext>
            </a:extLst>
          </p:cNvPr>
          <p:cNvGrpSpPr/>
          <p:nvPr userDrawn="1"/>
        </p:nvGrpSpPr>
        <p:grpSpPr>
          <a:xfrm>
            <a:off x="0" y="5223817"/>
            <a:ext cx="2167467" cy="1627220"/>
            <a:chOff x="0" y="5223817"/>
            <a:chExt cx="1625600" cy="162722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C158FEA-DEF2-99FD-0979-F462D61695E2}"/>
                </a:ext>
              </a:extLst>
            </p:cNvPr>
            <p:cNvGrpSpPr/>
            <p:nvPr userDrawn="1"/>
          </p:nvGrpSpPr>
          <p:grpSpPr>
            <a:xfrm>
              <a:off x="0" y="6444637"/>
              <a:ext cx="406400" cy="406400"/>
              <a:chOff x="4388744" y="4805680"/>
              <a:chExt cx="406400" cy="406400"/>
            </a:xfrm>
          </p:grpSpPr>
          <p:sp>
            <p:nvSpPr>
              <p:cNvPr id="58" name="Right Triangle 57">
                <a:extLst>
                  <a:ext uri="{FF2B5EF4-FFF2-40B4-BE49-F238E27FC236}">
                    <a16:creationId xmlns:a16="http://schemas.microsoft.com/office/drawing/2014/main" id="{7C6D5D3D-3662-A526-17C5-BFD0909E814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Right Triangle 58">
                <a:extLst>
                  <a:ext uri="{FF2B5EF4-FFF2-40B4-BE49-F238E27FC236}">
                    <a16:creationId xmlns:a16="http://schemas.microsoft.com/office/drawing/2014/main" id="{4B987422-BE46-3E2F-0AC8-24EBCC0299B0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6989AF4-E961-10A8-F915-9DFEC26E085C}"/>
                </a:ext>
              </a:extLst>
            </p:cNvPr>
            <p:cNvGrpSpPr/>
            <p:nvPr userDrawn="1"/>
          </p:nvGrpSpPr>
          <p:grpSpPr>
            <a:xfrm>
              <a:off x="0" y="6036687"/>
              <a:ext cx="406400" cy="406400"/>
              <a:chOff x="4388744" y="4805680"/>
              <a:chExt cx="406400" cy="406400"/>
            </a:xfrm>
          </p:grpSpPr>
          <p:sp>
            <p:nvSpPr>
              <p:cNvPr id="56" name="Right Triangle 55">
                <a:extLst>
                  <a:ext uri="{FF2B5EF4-FFF2-40B4-BE49-F238E27FC236}">
                    <a16:creationId xmlns:a16="http://schemas.microsoft.com/office/drawing/2014/main" id="{C7394C07-0ADF-EEDA-30DD-D0A5219FD07E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4D6B85FB-6BC6-0DA1-393E-DDC30EFB0268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246BD03-559E-886D-81AC-DBFB87CADBF9}"/>
                </a:ext>
              </a:extLst>
            </p:cNvPr>
            <p:cNvGrpSpPr/>
            <p:nvPr userDrawn="1"/>
          </p:nvGrpSpPr>
          <p:grpSpPr>
            <a:xfrm>
              <a:off x="0" y="5627513"/>
              <a:ext cx="406400" cy="406400"/>
              <a:chOff x="4388744" y="4805680"/>
              <a:chExt cx="406400" cy="406400"/>
            </a:xfrm>
          </p:grpSpPr>
          <p:sp>
            <p:nvSpPr>
              <p:cNvPr id="54" name="Right Triangle 53">
                <a:extLst>
                  <a:ext uri="{FF2B5EF4-FFF2-40B4-BE49-F238E27FC236}">
                    <a16:creationId xmlns:a16="http://schemas.microsoft.com/office/drawing/2014/main" id="{64AB5756-BD28-6111-AFC2-C064394697AA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Right Triangle 54">
                <a:extLst>
                  <a:ext uri="{FF2B5EF4-FFF2-40B4-BE49-F238E27FC236}">
                    <a16:creationId xmlns:a16="http://schemas.microsoft.com/office/drawing/2014/main" id="{CCF3BB32-E016-3C59-3296-4EA5666D2CA8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28B65E6-9A0C-F7BE-BC2D-BDD3DD7B8218}"/>
                </a:ext>
              </a:extLst>
            </p:cNvPr>
            <p:cNvGrpSpPr/>
            <p:nvPr userDrawn="1"/>
          </p:nvGrpSpPr>
          <p:grpSpPr>
            <a:xfrm>
              <a:off x="406400" y="6039110"/>
              <a:ext cx="406400" cy="406400"/>
              <a:chOff x="4388744" y="4805680"/>
              <a:chExt cx="406400" cy="406400"/>
            </a:xfrm>
          </p:grpSpPr>
          <p:sp>
            <p:nvSpPr>
              <p:cNvPr id="52" name="Right Triangle 51">
                <a:extLst>
                  <a:ext uri="{FF2B5EF4-FFF2-40B4-BE49-F238E27FC236}">
                    <a16:creationId xmlns:a16="http://schemas.microsoft.com/office/drawing/2014/main" id="{8C6B3CA5-8D03-6992-787E-9636C5AE54D9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Right Triangle 52">
                <a:extLst>
                  <a:ext uri="{FF2B5EF4-FFF2-40B4-BE49-F238E27FC236}">
                    <a16:creationId xmlns:a16="http://schemas.microsoft.com/office/drawing/2014/main" id="{01491534-CB37-A450-3A13-CF46EEAB6A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116C4A8-5AE4-E1A8-6E48-4A1C5234432D}"/>
                </a:ext>
              </a:extLst>
            </p:cNvPr>
            <p:cNvGrpSpPr/>
            <p:nvPr userDrawn="1"/>
          </p:nvGrpSpPr>
          <p:grpSpPr>
            <a:xfrm>
              <a:off x="406400" y="6444637"/>
              <a:ext cx="406400" cy="406400"/>
              <a:chOff x="4388744" y="4805680"/>
              <a:chExt cx="406400" cy="406400"/>
            </a:xfrm>
          </p:grpSpPr>
          <p:sp>
            <p:nvSpPr>
              <p:cNvPr id="50" name="Right Triangle 49">
                <a:extLst>
                  <a:ext uri="{FF2B5EF4-FFF2-40B4-BE49-F238E27FC236}">
                    <a16:creationId xmlns:a16="http://schemas.microsoft.com/office/drawing/2014/main" id="{032EDF53-67B9-900C-C2F0-BBC97BA72643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Right Triangle 50">
                <a:extLst>
                  <a:ext uri="{FF2B5EF4-FFF2-40B4-BE49-F238E27FC236}">
                    <a16:creationId xmlns:a16="http://schemas.microsoft.com/office/drawing/2014/main" id="{4860B01E-AAAF-1DB6-003C-7E22ADC21D9A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337ABB6-45A0-FED1-0AAC-59A550733ECA}"/>
                </a:ext>
              </a:extLst>
            </p:cNvPr>
            <p:cNvGrpSpPr/>
            <p:nvPr userDrawn="1"/>
          </p:nvGrpSpPr>
          <p:grpSpPr>
            <a:xfrm>
              <a:off x="812800" y="6438900"/>
              <a:ext cx="406400" cy="406400"/>
              <a:chOff x="4388744" y="4805680"/>
              <a:chExt cx="406400" cy="406400"/>
            </a:xfrm>
          </p:grpSpPr>
          <p:sp>
            <p:nvSpPr>
              <p:cNvPr id="48" name="Right Triangle 47">
                <a:extLst>
                  <a:ext uri="{FF2B5EF4-FFF2-40B4-BE49-F238E27FC236}">
                    <a16:creationId xmlns:a16="http://schemas.microsoft.com/office/drawing/2014/main" id="{51E62297-F581-4EDA-971E-CF6196E49344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9" name="Right Triangle 48">
                <a:extLst>
                  <a:ext uri="{FF2B5EF4-FFF2-40B4-BE49-F238E27FC236}">
                    <a16:creationId xmlns:a16="http://schemas.microsoft.com/office/drawing/2014/main" id="{037A4B95-4C76-3379-FE66-7604FC49E7DB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B20C747-7466-D5D7-568D-2A3BFAFCDBFB}"/>
                </a:ext>
              </a:extLst>
            </p:cNvPr>
            <p:cNvGrpSpPr/>
            <p:nvPr userDrawn="1"/>
          </p:nvGrpSpPr>
          <p:grpSpPr>
            <a:xfrm>
              <a:off x="0" y="5223817"/>
              <a:ext cx="406400" cy="406400"/>
              <a:chOff x="4388744" y="4805680"/>
              <a:chExt cx="406400" cy="406400"/>
            </a:xfrm>
          </p:grpSpPr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DB35D46E-FCF1-09E4-645B-AE13B4E0622F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Right Triangle 46">
                <a:extLst>
                  <a:ext uri="{FF2B5EF4-FFF2-40B4-BE49-F238E27FC236}">
                    <a16:creationId xmlns:a16="http://schemas.microsoft.com/office/drawing/2014/main" id="{B49A6AD1-D826-C7CB-D1D8-20588CC9E0D1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D65BDAA-B74A-ED26-EBA5-74251871D610}"/>
                </a:ext>
              </a:extLst>
            </p:cNvPr>
            <p:cNvGrpSpPr/>
            <p:nvPr userDrawn="1"/>
          </p:nvGrpSpPr>
          <p:grpSpPr>
            <a:xfrm>
              <a:off x="406400" y="5634752"/>
              <a:ext cx="406400" cy="406400"/>
              <a:chOff x="4388744" y="4805680"/>
              <a:chExt cx="406400" cy="406400"/>
            </a:xfrm>
          </p:grpSpPr>
          <p:sp>
            <p:nvSpPr>
              <p:cNvPr id="44" name="Right Triangle 43">
                <a:extLst>
                  <a:ext uri="{FF2B5EF4-FFF2-40B4-BE49-F238E27FC236}">
                    <a16:creationId xmlns:a16="http://schemas.microsoft.com/office/drawing/2014/main" id="{DFBD8121-710E-1D40-00C8-2B5565B6AD5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1A9F5181-C41C-5F10-DD79-042329A130E6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B5BA187-B815-DCCA-A175-F6AB12C44120}"/>
                </a:ext>
              </a:extLst>
            </p:cNvPr>
            <p:cNvGrpSpPr/>
            <p:nvPr userDrawn="1"/>
          </p:nvGrpSpPr>
          <p:grpSpPr>
            <a:xfrm>
              <a:off x="795664" y="6038237"/>
              <a:ext cx="406400" cy="406400"/>
              <a:chOff x="4388744" y="4805680"/>
              <a:chExt cx="406400" cy="406400"/>
            </a:xfrm>
          </p:grpSpPr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6BE3AD03-0CF2-35C6-CC4D-76C769359E09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Right Triangle 42">
                <a:extLst>
                  <a:ext uri="{FF2B5EF4-FFF2-40B4-BE49-F238E27FC236}">
                    <a16:creationId xmlns:a16="http://schemas.microsoft.com/office/drawing/2014/main" id="{E5C70DCE-2D30-1D7B-37FF-8E01E3974699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9EC07A9-39B6-2A62-45F8-D31E81902E36}"/>
                </a:ext>
              </a:extLst>
            </p:cNvPr>
            <p:cNvGrpSpPr/>
            <p:nvPr userDrawn="1"/>
          </p:nvGrpSpPr>
          <p:grpSpPr>
            <a:xfrm>
              <a:off x="1219200" y="6433833"/>
              <a:ext cx="406400" cy="406400"/>
              <a:chOff x="4388744" y="4805680"/>
              <a:chExt cx="406400" cy="406400"/>
            </a:xfrm>
          </p:grpSpPr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13D4CC00-97A2-F50D-DF0C-7CCE44AE3948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Right Triangle 40">
                <a:extLst>
                  <a:ext uri="{FF2B5EF4-FFF2-40B4-BE49-F238E27FC236}">
                    <a16:creationId xmlns:a16="http://schemas.microsoft.com/office/drawing/2014/main" id="{B251A9F0-2DBC-52AA-438D-2222805A9A96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96A4DE9-D7F0-3ED7-4C5A-62CC32974557}"/>
              </a:ext>
            </a:extLst>
          </p:cNvPr>
          <p:cNvSpPr/>
          <p:nvPr userDrawn="1"/>
        </p:nvSpPr>
        <p:spPr>
          <a:xfrm>
            <a:off x="838200" y="773819"/>
            <a:ext cx="10244667" cy="7605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D40F12B-C8B7-47FD-9A66-8C604B484D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-2349455" y="2334255"/>
            <a:ext cx="5240782" cy="54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0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1F7E-FD57-456B-9E1D-D84D10372E3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011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5618-61FB-4D94-96B8-BAD5A8A7457A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97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F10F2-F3BF-4562-89DD-2B10CBD3EE05}" type="datetime1">
              <a:rPr lang="vi-VN" smtClean="0"/>
              <a:t>27/08/2025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088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AE0-EA4F-42A1-B148-AD9AC22A56DF}" type="datetime1">
              <a:rPr lang="vi-VN" smtClean="0"/>
              <a:t>27/08/2025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237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7A0B-B56F-4F52-BBCA-98B3D074167B}" type="datetime1">
              <a:rPr lang="vi-VN" smtClean="0"/>
              <a:t>27/08/2025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861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DE86-437B-42AF-8A10-BA5649300010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748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CE396-3CB5-4BA0-A842-49E646427416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757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99CBF-0E0B-4833-8FCB-2A6D36E2DE7D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644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1296-5D61-485A-8F80-0E9D6FAC6189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662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85421"/>
            <a:ext cx="10515600" cy="519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245E8-9FF8-49CD-8CA9-21B3335B7E4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07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3735-88FE-51EE-7EA1-A930D1D9D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140" y="1"/>
            <a:ext cx="4876800" cy="527436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Chapter 2: Number Systems,</a:t>
            </a:r>
            <a:br>
              <a:rPr lang="en-US" b="1" dirty="0"/>
            </a:br>
            <a:r>
              <a:rPr lang="en-US" b="1" dirty="0"/>
              <a:t>Operations, and Codes </a:t>
            </a:r>
            <a:br>
              <a:rPr lang="en-US" dirty="0"/>
            </a:br>
            <a:endParaRPr lang="vi-V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1127D-97D4-0200-8E17-A46606337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032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305"/>
            <a:ext cx="920115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Chapter Objectives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230"/>
            <a:ext cx="11181522" cy="5501684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After studying this chapter, students should be able to: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Review the decimal and binary number systems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, including counting and conversions between them.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Perform binary arithmetic operations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, including for signed numbers using 1’s complement, 2’s complement, and sign-magnitude.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Represent signed binary numbers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in various formats: sign-magnitude, 1’s complement, 2’s complement, and floating-point.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Convert between binary, hexadecimal, and octal number systems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Perform arithmetic in hexadecimal and BCD (Binary Coded Decimal)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Convert between binary and Gray code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, and understand the ASCII character encoding.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Learn error detection methods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, including basic techniques and cyclic redundancy check (CRC).</a:t>
            </a:r>
            <a:endParaRPr lang="en-US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endParaRPr lang="en-US" dirty="0">
              <a:solidFill>
                <a:srgbClr val="0D0D0D"/>
              </a:solidFill>
              <a:latin typeface="Aptos (Body)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B9C3314-EA8F-4264-A427-B52B4ED40BA8}"/>
              </a:ext>
            </a:extLst>
          </p:cNvPr>
          <p:cNvSpPr txBox="1">
            <a:spLocks/>
          </p:cNvSpPr>
          <p:nvPr/>
        </p:nvSpPr>
        <p:spPr>
          <a:xfrm>
            <a:off x="2152650" y="3941529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DAF8E-AF0A-A556-8FFA-586CA276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242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878" y="217305"/>
            <a:ext cx="9257472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Chapter Outline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965" y="926295"/>
            <a:ext cx="10349948" cy="5795182"/>
          </a:xfrm>
        </p:spPr>
        <p:txBody>
          <a:bodyPr>
            <a:noAutofit/>
          </a:bodyPr>
          <a:lstStyle/>
          <a:p>
            <a:pPr marL="0" indent="0">
              <a:lnSpc>
                <a:spcPct val="117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latin typeface="Aptos (Body)"/>
                <a:cs typeface="Times New Roman" panose="02020603050405020304" pitchFamily="18" charset="0"/>
              </a:rPr>
              <a:t>2.1 Decimal Numbers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latin typeface="Aptos (Body)"/>
                <a:cs typeface="Times New Roman" panose="02020603050405020304" pitchFamily="18" charset="0"/>
              </a:rPr>
              <a:t>2.2 Binary Numbers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latin typeface="Aptos (Body)"/>
                <a:cs typeface="Times New Roman" panose="02020603050405020304" pitchFamily="18" charset="0"/>
              </a:rPr>
              <a:t>2.3 Decimal-to-Binary Conversion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latin typeface="Aptos (Body)"/>
                <a:cs typeface="Times New Roman" panose="02020603050405020304" pitchFamily="18" charset="0"/>
              </a:rPr>
              <a:t>2.4 Binary Arithmetic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latin typeface="Aptos (Body)"/>
                <a:cs typeface="Times New Roman" panose="02020603050405020304" pitchFamily="18" charset="0"/>
              </a:rPr>
              <a:t>2.5 Complements of Binary Numbers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latin typeface="Aptos (Body)"/>
                <a:cs typeface="Times New Roman" panose="02020603050405020304" pitchFamily="18" charset="0"/>
              </a:rPr>
              <a:t>2.6 Signed Numbers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latin typeface="Aptos (Body)"/>
                <a:cs typeface="Times New Roman" panose="02020603050405020304" pitchFamily="18" charset="0"/>
              </a:rPr>
              <a:t>2.7 Arithmetic Operations with Signed Numbers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latin typeface="Aptos (Body)"/>
                <a:cs typeface="Times New Roman" panose="02020603050405020304" pitchFamily="18" charset="0"/>
              </a:rPr>
              <a:t>2.8 Hexadecimal Numbers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latin typeface="Aptos (Body)"/>
                <a:cs typeface="Times New Roman" panose="02020603050405020304" pitchFamily="18" charset="0"/>
              </a:rPr>
              <a:t>2.9 Octal Numbers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latin typeface="Aptos (Body)"/>
                <a:cs typeface="Times New Roman" panose="02020603050405020304" pitchFamily="18" charset="0"/>
              </a:rPr>
              <a:t>2.10 Binary Coded Decimal (BCD)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latin typeface="Aptos (Body)"/>
                <a:cs typeface="Times New Roman" panose="02020603050405020304" pitchFamily="18" charset="0"/>
              </a:rPr>
              <a:t>2.11 Digital Codes</a:t>
            </a:r>
            <a:br>
              <a:rPr lang="en-US" dirty="0">
                <a:latin typeface="Aptos (Body)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ptos (Body)"/>
              </a:rPr>
              <a:t>Multiple-choice test and Problems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B9C3314-EA8F-4264-A427-B52B4ED40BA8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95D3F3-2FA5-0262-798E-21155E4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190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1.1. Decimal Numbers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99930"/>
            <a:ext cx="10774018" cy="5235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decimal number system has ten digits: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In 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decimal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number system each of the ten digits, 0 through 9, represents a certain quantity.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4</a:t>
            </a:fld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3E6105-4534-44DF-8706-FF79645BE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014" y="2443170"/>
            <a:ext cx="7121336" cy="348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134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1.1. Decimal Numbers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73426"/>
            <a:ext cx="11184834" cy="5262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decimal number system has a base of 10: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position of each digit in a decimal number indicates the magnitude of the quantity represented and can be assigned a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weight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. The weights for whole numbers are positive powers of ten that increase from right to left, beginning with 10^0 = 1.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  <a:p>
            <a:pPr marL="0" indent="0"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42021"/>
                </a:solidFill>
                <a:latin typeface="Aptos (Body)"/>
              </a:rPr>
              <a:t>For fractional numbers, the weights are negative powers of ten that decrease from left to right beginning with 10^-1</a:t>
            </a:r>
            <a:r>
              <a:rPr lang="en-US" sz="2100" dirty="0">
                <a:solidFill>
                  <a:srgbClr val="242021"/>
                </a:solidFill>
                <a:latin typeface="Aptos (Body)"/>
              </a:rPr>
              <a:t>. </a:t>
            </a:r>
            <a:br>
              <a:rPr lang="en-US" sz="2100" dirty="0">
                <a:solidFill>
                  <a:srgbClr val="242021"/>
                </a:solidFill>
                <a:latin typeface="Aptos (Body)"/>
              </a:rPr>
            </a:br>
            <a:br>
              <a:rPr lang="en-US" sz="2100" dirty="0">
                <a:solidFill>
                  <a:srgbClr val="242021"/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5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7BEE74-04C1-4D0C-8150-8EF6FD82E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914" y="2551421"/>
            <a:ext cx="4282171" cy="651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049153-DEDE-44A4-AFCA-667D3CFD6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298" y="4769411"/>
            <a:ext cx="4907352" cy="143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4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1.2. Binary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5" y="1086678"/>
            <a:ext cx="10442712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value of a digit is determined by its position in the number. </a:t>
            </a:r>
          </a:p>
          <a:p>
            <a:pPr marL="0" indent="0" algn="just"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6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CB633E-9828-4105-AD08-0781BBD8B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832" y="1601319"/>
            <a:ext cx="5460823" cy="5256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727A3D-4268-47D7-8894-D632D2756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044" y="2636650"/>
            <a:ext cx="2521738" cy="182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32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1.2. Binary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1065564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An Application</a:t>
            </a:r>
          </a:p>
          <a:p>
            <a:pPr marL="0" indent="0">
              <a:buNone/>
            </a:pPr>
            <a:r>
              <a:rPr lang="en-US" dirty="0">
                <a:latin typeface="Aptos (Body)"/>
              </a:rPr>
              <a:t>Each set of logic levels represents a 4-bit binary number (HIGH = 1 and LOW = 0), as indicated. As the decoder receives these waveforms, it decodes each set of four bits and converts it to the corresponding decimal number in the 7-segment display.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7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C903F9-6D4D-43E8-8F4D-CA4938F78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8" y="2926897"/>
            <a:ext cx="11648662" cy="358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1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1.2. Binary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1317356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Weighting Structure of Binary Numbers</a:t>
            </a:r>
            <a:br>
              <a:rPr lang="en-US" sz="2100" dirty="0">
                <a:latin typeface="Aptos (Body)"/>
              </a:rPr>
            </a:br>
            <a:r>
              <a:rPr lang="en-US" dirty="0">
                <a:latin typeface="Aptos (Body)"/>
              </a:rPr>
              <a:t>The right-most bit is the </a:t>
            </a:r>
            <a:r>
              <a:rPr lang="en-US" b="1" dirty="0">
                <a:latin typeface="Aptos (Body)"/>
              </a:rPr>
              <a:t>LSB</a:t>
            </a:r>
            <a:r>
              <a:rPr lang="en-US" dirty="0">
                <a:latin typeface="Aptos (Body)"/>
              </a:rPr>
              <a:t> (least significant bit) in a binary whole number and weights 2⁰ = 1. The weights increase from right to left by a power of two for each bit. The left-most bit is the </a:t>
            </a:r>
            <a:r>
              <a:rPr lang="en-US" b="1" dirty="0">
                <a:latin typeface="Aptos (Body)"/>
              </a:rPr>
              <a:t>MSB</a:t>
            </a:r>
            <a:r>
              <a:rPr lang="en-US" dirty="0">
                <a:latin typeface="Aptos (Body)"/>
              </a:rPr>
              <a:t> (most significant bit); its weight depends on the size of the binary number.</a:t>
            </a: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  <a:p>
            <a:pPr marL="0" indent="0">
              <a:buNone/>
            </a:pPr>
            <a:r>
              <a:rPr lang="en-US" sz="2100" dirty="0"/>
              <a:t>example, 2⁹ = 512 and 2⁻⁷ = 0.0078125</a:t>
            </a: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8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3DECB-D031-436E-A94F-E098E7500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866" y="2592460"/>
            <a:ext cx="5063856" cy="11377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96DF2E-ACFC-4018-8348-486D97E9D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38" y="4050323"/>
            <a:ext cx="11155560" cy="270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0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1.3. Decimal-to-Binary Conversion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To get the binary number for a given decimal number, find the binary weights that add up to the decimal number.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decimal number 9, for example, can be expressed as the sum of binary weights as follows:</a:t>
            </a:r>
            <a:r>
              <a:rPr lang="en-US" dirty="0">
                <a:latin typeface="Aptos (Body)"/>
              </a:rPr>
              <a:t> </a:t>
            </a:r>
            <a:br>
              <a:rPr lang="en-US" dirty="0">
                <a:latin typeface="Aptos (Body)"/>
              </a:rPr>
            </a:br>
            <a:endParaRPr lang="en-US" dirty="0">
              <a:latin typeface="Aptos (Body)"/>
            </a:endParaRPr>
          </a:p>
          <a:p>
            <a:pPr marL="0" indent="0">
              <a:buNone/>
            </a:pPr>
            <a:endParaRPr lang="en-US" dirty="0">
              <a:latin typeface="Aptos (Body)"/>
            </a:endParaRPr>
          </a:p>
          <a:p>
            <a:pPr marL="0" indent="0">
              <a:buNone/>
            </a:pPr>
            <a:endParaRPr lang="en-US" dirty="0">
              <a:latin typeface="Aptos (Body)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Placing 1s in the appropriate weight positions, 2^3 and 2^0, and 0s in the 2^2 and 2^1 positions determines the binary number for decimal 9.</a:t>
            </a:r>
            <a:r>
              <a:rPr lang="en-US" dirty="0">
                <a:latin typeface="Aptos (Body)"/>
              </a:rPr>
              <a:t> </a:t>
            </a:r>
            <a:br>
              <a:rPr lang="en-US" dirty="0">
                <a:latin typeface="Aptos (Body)"/>
              </a:rPr>
            </a:br>
            <a:endParaRPr lang="en-US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9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00D5C-9786-4109-BA11-2BDD2D6DA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647" y="2773951"/>
            <a:ext cx="4188706" cy="530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65EF19-74D1-465A-BFC3-56E57030F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543" y="4959462"/>
            <a:ext cx="6181417" cy="100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9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1.3. Decimal-to-Binary Conversion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Repeated Division-by-2 Method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42021"/>
                </a:solidFill>
                <a:effectLst/>
                <a:latin typeface="Times-Roman"/>
              </a:rPr>
              <a:t>A systematic method of converting whole numbers from decimal to binary is the </a:t>
            </a:r>
            <a:r>
              <a:rPr lang="en-US" b="0" i="1" dirty="0">
                <a:solidFill>
                  <a:srgbClr val="242021"/>
                </a:solidFill>
                <a:effectLst/>
                <a:latin typeface="Times-Italic"/>
              </a:rPr>
              <a:t>repeated division-by-2 </a:t>
            </a:r>
            <a:r>
              <a:rPr lang="en-US" b="0" i="0" dirty="0">
                <a:solidFill>
                  <a:srgbClr val="242021"/>
                </a:solidFill>
                <a:effectLst/>
                <a:latin typeface="Times-Roman"/>
              </a:rPr>
              <a:t>process.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10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8E8AD6-69F7-47D7-898E-FFFE8749B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419" y="2141956"/>
            <a:ext cx="6577161" cy="455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23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1.3. Decimal-to-Binary Conversion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967409"/>
            <a:ext cx="10774018" cy="5368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Repeated Multiplication by 2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As you have seen, decimal whole numbers can be converted to binary by repeated division by 2. Decimal fractions can be converted to binary by repeated multiplication by 2.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11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9FAFB-7117-492C-AD01-993DE73C7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95" y="2345800"/>
            <a:ext cx="8379801" cy="451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80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1.4. Binary Arithmetic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Binary Addition 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       </a:t>
            </a:r>
            <a:r>
              <a:rPr lang="en-US" b="1" dirty="0">
                <a:latin typeface="Aptos (Body)"/>
              </a:rPr>
              <a:t>In binary 1  1  10, not 2: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four basic rules for adding binary digits (bits) are as follows.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12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55EA6-8A46-41FB-ACF0-43EB0C8A1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3" y="2231069"/>
            <a:ext cx="6388960" cy="2315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89A1FD-4B7E-4312-B322-EDF7179AB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504" y="2376881"/>
            <a:ext cx="4263692" cy="3109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049932-AAD9-4909-AF85-3A39134FA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213" y="4929578"/>
            <a:ext cx="2404084" cy="17260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F24934-0322-48CC-BB0C-8010754F4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102" y="4866268"/>
            <a:ext cx="2479101" cy="156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8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1.4. Binary Arithmetic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027997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113182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Binary Subtraction </a:t>
            </a:r>
            <a:br>
              <a:rPr lang="en-US" dirty="0">
                <a:latin typeface="Aptos (Body)"/>
              </a:rPr>
            </a:br>
            <a:r>
              <a:rPr lang="en-US" b="1" i="0" dirty="0">
                <a:effectLst/>
                <a:latin typeface="Aptos (Body)"/>
              </a:rPr>
              <a:t>    In binary 10  1  1, not 9: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four basic rules for subtracting bits are as follows.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13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A0342A-4DB9-46C5-8EB5-B89E5B5F5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87" y="2292358"/>
            <a:ext cx="4810508" cy="17689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47932E-2440-4CE4-9693-9665F59C0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997" y="2444018"/>
            <a:ext cx="6707822" cy="2696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87EEA9-8CD9-4EA7-AC46-5476A6855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7137" y="4794632"/>
            <a:ext cx="2207315" cy="160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95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1.4. Binary Arithmetic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Binary Multiplication </a:t>
            </a:r>
            <a:br>
              <a:rPr lang="en-US" sz="2100" dirty="0">
                <a:latin typeface="Aptos (Body)"/>
              </a:rPr>
            </a:br>
            <a:r>
              <a:rPr lang="en-US" b="1" i="0" dirty="0">
                <a:effectLst/>
                <a:latin typeface="Aptos (Body)"/>
              </a:rPr>
              <a:t>Binary multiplication of two bits is the same as multiplication of the decimal digits 0 and 1:</a:t>
            </a:r>
            <a:br>
              <a:rPr lang="en-US" b="1" dirty="0"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four basic rules for multiplying bits are as follows.</a:t>
            </a: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14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AEF5-4523-433E-8F88-977456DA6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845" y="3285936"/>
            <a:ext cx="1687468" cy="19446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53AE3F-3A7E-4DA4-A6B8-886424BEA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149" y="2916470"/>
            <a:ext cx="4838677" cy="333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2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1.4. Binary Arithmetic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Binary Division </a:t>
            </a:r>
            <a:br>
              <a:rPr lang="en-US" dirty="0">
                <a:latin typeface="Aptos (Body)"/>
              </a:rPr>
            </a:br>
            <a:r>
              <a:rPr lang="en-US" b="0" i="0" dirty="0">
                <a:effectLst/>
                <a:latin typeface="Aptos (Body)"/>
              </a:rPr>
              <a:t>A calculator can be used to perform</a:t>
            </a:r>
            <a:r>
              <a:rPr lang="vi-VN" b="0" i="0" dirty="0">
                <a:effectLst/>
                <a:latin typeface="Aptos (Body)"/>
              </a:rPr>
              <a:t> </a:t>
            </a:r>
            <a:r>
              <a:rPr lang="en-US" b="0" i="0" dirty="0">
                <a:effectLst/>
                <a:latin typeface="Aptos (Body)"/>
              </a:rPr>
              <a:t>arithmetic operations with binary</a:t>
            </a:r>
            <a:r>
              <a:rPr lang="vi-VN" b="0" i="0" dirty="0">
                <a:effectLst/>
                <a:latin typeface="Aptos (Body)"/>
              </a:rPr>
              <a:t> </a:t>
            </a:r>
            <a:r>
              <a:rPr lang="en-US" b="0" i="0" dirty="0">
                <a:effectLst/>
                <a:latin typeface="Aptos (Body)"/>
              </a:rPr>
              <a:t>numbers as long as the capacity of</a:t>
            </a:r>
            <a:r>
              <a:rPr lang="vi-VN" b="0" i="0" dirty="0">
                <a:effectLst/>
                <a:latin typeface="Aptos (Body)"/>
              </a:rPr>
              <a:t> </a:t>
            </a:r>
            <a:r>
              <a:rPr lang="en-US" b="0" i="0" dirty="0">
                <a:effectLst/>
                <a:latin typeface="Aptos (Body)"/>
              </a:rPr>
              <a:t>the calculator is not exceeded.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15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A89589-C908-4FC0-BFF8-F265F955D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99" y="3049592"/>
            <a:ext cx="2626090" cy="2547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4F58BE-479D-42A2-8047-714F86E51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092" y="2811901"/>
            <a:ext cx="6967416" cy="327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82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1.5. Complements of Binary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940904"/>
            <a:ext cx="10774018" cy="5394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Finding the 1’s Complement </a:t>
            </a:r>
            <a:br>
              <a:rPr lang="en-US" dirty="0"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1’s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complement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of a binary number is found by changing all 1s to 0s and all 0s to 1s, as illustrated below: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16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B7FD79-7F26-4044-BC90-3B210D193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455" y="2127561"/>
            <a:ext cx="4391371" cy="1420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7D5E62-6E97-4B8E-AE8F-408641BAB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25" y="3867971"/>
            <a:ext cx="10573437" cy="299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63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1.5. Complements of Binary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3" y="967409"/>
            <a:ext cx="11199751" cy="5381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Finding the 2’s Complement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b="1" dirty="0">
                <a:latin typeface="Aptos (Body)"/>
              </a:rPr>
              <a:t>Add 1 to the 1’s complement to get the 2’s complement.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2’s complement of a binary number is found by adding 1 to the LSB of the 1’s complement. 2</a:t>
            </a:r>
            <a:r>
              <a:rPr lang="en-US" dirty="0">
                <a:solidFill>
                  <a:srgbClr val="242021"/>
                </a:solidFill>
                <a:latin typeface="Aptos (Body)"/>
              </a:rPr>
              <a:t>’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s complement = (1’s complement) + 1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17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FB1CA1-493C-4072-8576-9C7EDA9A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176" y="3658074"/>
            <a:ext cx="5064824" cy="1911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381903-6A0A-44C7-9D1A-E8FE2F88E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38" y="2944502"/>
            <a:ext cx="6281532" cy="310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13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1.5. Complements of Binary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1065564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Finding the 2’s Complement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b="1" dirty="0">
                <a:latin typeface="Aptos (Body)"/>
              </a:rPr>
              <a:t>Change all bits to the left of the least significant 1 to get 2’s complement </a:t>
            </a:r>
            <a:br>
              <a:rPr lang="en-US" b="1" dirty="0"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An alternative method of finding the 2’s complement of a binary number is as follows: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1.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Start at the right with the LSB and write the bits as they are up to and including the first 1.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2.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Take the 1’s complements of the remaining bits.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18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26123-6594-403C-AC14-6F2299817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340" y="3615100"/>
            <a:ext cx="8934172" cy="272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450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1.6. Signed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Sign Bit</a:t>
            </a:r>
            <a:br>
              <a:rPr lang="en-US" sz="2100" b="0" i="0" dirty="0">
                <a:solidFill>
                  <a:srgbClr val="00803E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left-most bit in a signed binary number is 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sign bit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, which tells you whether the number is positive or negative.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A 0 sign bit indicates a positive number, and a 1 sign bit indicates a negative number.</a:t>
            </a:r>
            <a:r>
              <a:rPr lang="en-US" dirty="0">
                <a:latin typeface="Aptos (Body)"/>
              </a:rPr>
              <a:t> 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  <a:latin typeface="Aptos (Body)"/>
              </a:rPr>
              <a:t>Sign-Magnitude Form: </a:t>
            </a:r>
            <a:r>
              <a:rPr lang="en-US" dirty="0">
                <a:solidFill>
                  <a:srgbClr val="242021"/>
                </a:solidFill>
                <a:latin typeface="Aptos (Body)"/>
              </a:rPr>
              <a:t>For example, the decimal number +25 is expressed as an 8-bit signed binary number using the sign-magnitude form as: </a:t>
            </a:r>
          </a:p>
          <a:p>
            <a:pPr marL="0" indent="0">
              <a:buNone/>
            </a:pPr>
            <a:endParaRPr lang="en-US" sz="2100" dirty="0">
              <a:solidFill>
                <a:srgbClr val="242021"/>
              </a:solidFill>
              <a:latin typeface="Aptos (Body)"/>
            </a:endParaRPr>
          </a:p>
          <a:p>
            <a:pPr marL="0" indent="0">
              <a:buNone/>
            </a:pPr>
            <a:endParaRPr lang="en-US" sz="2100" dirty="0">
              <a:solidFill>
                <a:srgbClr val="242021"/>
              </a:solidFill>
              <a:latin typeface="Aptos (Body)"/>
            </a:endParaRPr>
          </a:p>
          <a:p>
            <a:pPr marL="0" indent="0">
              <a:buNone/>
            </a:pPr>
            <a:endParaRPr lang="en-US" sz="2100" dirty="0">
              <a:solidFill>
                <a:srgbClr val="242021"/>
              </a:solidFill>
              <a:latin typeface="Aptos (Body)"/>
            </a:endParaRPr>
          </a:p>
          <a:p>
            <a:pPr marL="0" indent="0">
              <a:buNone/>
            </a:pPr>
            <a:endParaRPr lang="en-US" sz="2100" dirty="0">
              <a:solidFill>
                <a:srgbClr val="242021"/>
              </a:solidFill>
              <a:latin typeface="Aptos (Body)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42021"/>
                </a:solidFill>
                <a:latin typeface="Aptos (Body)"/>
              </a:rPr>
              <a:t>The decimal number 225 is expressed as</a:t>
            </a:r>
          </a:p>
          <a:p>
            <a:pPr marL="0" indent="0">
              <a:buNone/>
            </a:pPr>
            <a:br>
              <a:rPr lang="en-US" sz="2100" dirty="0">
                <a:solidFill>
                  <a:srgbClr val="242021"/>
                </a:solidFill>
                <a:latin typeface="Aptos (Body)"/>
              </a:rPr>
            </a:br>
            <a:r>
              <a:rPr lang="en-US" sz="2100" dirty="0">
                <a:solidFill>
                  <a:srgbClr val="242021"/>
                </a:solidFill>
                <a:latin typeface="Aptos (Body)"/>
              </a:rPr>
              <a:t>					</a:t>
            </a:r>
            <a:r>
              <a:rPr lang="en-US" sz="2300" dirty="0">
                <a:solidFill>
                  <a:srgbClr val="242021"/>
                </a:solidFill>
                <a:latin typeface="Aptos (Body)"/>
              </a:rPr>
              <a:t>10011001</a:t>
            </a:r>
            <a:r>
              <a:rPr lang="en-US" sz="2100" dirty="0">
                <a:solidFill>
                  <a:srgbClr val="242021"/>
                </a:solidFill>
                <a:latin typeface="Aptos (Body)"/>
              </a:rPr>
              <a:t> </a:t>
            </a:r>
            <a:br>
              <a:rPr lang="en-US" sz="2100" dirty="0">
                <a:solidFill>
                  <a:srgbClr val="242021"/>
                </a:solidFill>
                <a:latin typeface="Aptos (Body)"/>
              </a:rPr>
            </a:br>
            <a:br>
              <a:rPr lang="en-US" sz="2100" dirty="0">
                <a:solidFill>
                  <a:srgbClr val="242021"/>
                </a:solidFill>
                <a:latin typeface="Aptos (Body)"/>
              </a:rPr>
            </a:br>
            <a:br>
              <a:rPr lang="en-US" sz="2100" b="1" i="1" dirty="0">
                <a:solidFill>
                  <a:srgbClr val="FF0000"/>
                </a:solidFill>
                <a:latin typeface="Aptos (Body)"/>
              </a:rPr>
            </a:b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19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6124-89E3-4D4C-84C3-CE35853F0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920" y="3353602"/>
            <a:ext cx="4688730" cy="117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26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1.6. Signed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20417"/>
            <a:ext cx="10774018" cy="5315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Floating-Point Numbers </a:t>
            </a:r>
            <a:br>
              <a:rPr lang="en-US" sz="1600" dirty="0"/>
            </a:br>
            <a:r>
              <a:rPr lang="en-US" b="1" dirty="0">
                <a:latin typeface="Aptos (Body)"/>
              </a:rPr>
              <a:t>Single-Precision Floating-Point Binary Numbers </a:t>
            </a:r>
            <a:br>
              <a:rPr lang="en-US" sz="1600" dirty="0"/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20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A43067-7638-4EB5-B718-AC4B1DC64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881" y="1812476"/>
            <a:ext cx="5615594" cy="1334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1D77EF-6688-49D6-A0A1-B5AF648AF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2969000"/>
            <a:ext cx="8753889" cy="38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5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1.7. Arithmetic Operations with Signed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927652"/>
            <a:ext cx="10893286" cy="540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Addition</a:t>
            </a:r>
            <a:br>
              <a:rPr lang="en-US" sz="2100" b="0" i="0" dirty="0">
                <a:solidFill>
                  <a:srgbClr val="00803E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two numbers in an addition are 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addend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and 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augend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. The result is 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sum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.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There are four cases that can occur when two signed binary numbers are added.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1.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Both numbers positive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2.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Positive number with magnitude larger than negative number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3.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Negative number with magnitude larger than positive number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4.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Both numbers negative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21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07D58-B0A3-45F6-877A-E61D44A8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633" y="3326790"/>
            <a:ext cx="4269046" cy="336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1.7. Arithmetic Operations with Signed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940904"/>
            <a:ext cx="10774018" cy="5394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Subtraction</a:t>
            </a:r>
            <a:br>
              <a:rPr lang="en-US" sz="1800" b="0" i="0" dirty="0">
                <a:solidFill>
                  <a:srgbClr val="00803E"/>
                </a:solidFill>
                <a:effectLst/>
                <a:latin typeface="Helvetica" panose="020B0604020202020204" pitchFamily="34" charset="0"/>
              </a:rPr>
            </a:br>
            <a:r>
              <a:rPr lang="en-US" b="0" i="0" dirty="0" err="1">
                <a:solidFill>
                  <a:srgbClr val="242021"/>
                </a:solidFill>
                <a:effectLst/>
                <a:latin typeface="Aptos (Body)"/>
              </a:rPr>
              <a:t>Subtraction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 is a special case of addition. For example, subtracting +6 (the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subtrahend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) from +9 (the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minuend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) is equivalent to adding 26 to +9. Basically, </a:t>
            </a:r>
            <a:r>
              <a:rPr lang="en-US" b="0" i="1" dirty="0">
                <a:solidFill>
                  <a:srgbClr val="242021"/>
                </a:solidFill>
                <a:effectLst/>
                <a:latin typeface="Aptos (Body)"/>
              </a:rPr>
              <a:t>the subtraction operation changes the sign of the subtrahend and adds it to the minuend.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result of a subtraction is called 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difference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.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The sign of a positive or negative binary number is changed by taking its 2’s complement.</a:t>
            </a:r>
            <a:r>
              <a:rPr lang="en-US" dirty="0">
                <a:latin typeface="Aptos (Body)"/>
              </a:rPr>
              <a:t> </a:t>
            </a:r>
            <a:br>
              <a:rPr lang="en-US" dirty="0">
                <a:latin typeface="Aptos (Body)"/>
              </a:rPr>
            </a:br>
            <a:br>
              <a:rPr lang="en-US" dirty="0"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22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A2CF1-8C65-4983-9272-CB7A4DC07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898" y="2897352"/>
            <a:ext cx="4136204" cy="385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1.7. Arithmetic Operations with Signed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Multiplication</a:t>
            </a:r>
            <a:br>
              <a:rPr lang="en-US" sz="2100" b="0" i="0" dirty="0">
                <a:solidFill>
                  <a:srgbClr val="00803E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numbers in a multiplication are 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multiplicand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, 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multiplier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, and the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product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. These are illustrated in the following decimal multiplication: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23</a:t>
            </a:fld>
            <a:endParaRPr lang="vi-VN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16397-DE20-447A-839F-5BEB57505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667" y="2449553"/>
            <a:ext cx="5251134" cy="3147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C33014-84FC-4762-9CAB-650A31A0C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293" y="3120158"/>
            <a:ext cx="351472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47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1.7. Arithmetic Operations with Signed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Division</a:t>
            </a:r>
            <a:br>
              <a:rPr lang="en-US" b="0" i="0" dirty="0">
                <a:solidFill>
                  <a:srgbClr val="00803E"/>
                </a:solidFill>
                <a:effectLst/>
                <a:latin typeface="Helvetica" panose="020B0604020202020204" pitchFamily="34" charset="0"/>
              </a:rPr>
            </a:br>
            <a:r>
              <a:rPr lang="en-US" dirty="0">
                <a:solidFill>
                  <a:srgbClr val="242021"/>
                </a:solidFill>
                <a:latin typeface="Aptos (Body)"/>
              </a:rPr>
              <a:t>The numbers in a division are the dividend, the divisor, and the quotient. These are illustrated in the following standard division format. </a:t>
            </a:r>
            <a:br>
              <a:rPr lang="en-US" dirty="0">
                <a:solidFill>
                  <a:srgbClr val="242021"/>
                </a:solidFill>
                <a:latin typeface="Aptos (Body)"/>
              </a:rPr>
            </a:b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24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7CD788-928B-46D8-B8E8-0ACA9C3D4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72" y="3357836"/>
            <a:ext cx="3484203" cy="1167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6D0FE-F4B4-4F02-8E8E-7D6B4F966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853" y="2959714"/>
            <a:ext cx="5931876" cy="277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23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1.8. Hexadecimal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hexadecimal number system consists of digits 0–9 and letters A–F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</a:t>
            </a:r>
            <a:r>
              <a:rPr lang="en-US" b="1" i="0" dirty="0">
                <a:solidFill>
                  <a:srgbClr val="006D96"/>
                </a:solidFill>
                <a:effectLst/>
                <a:latin typeface="Aptos (Body)"/>
              </a:rPr>
              <a:t>hexadecimal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number system has a base of sixteen; that is, it is composed of 16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numeric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and alphabetic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characters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. </a:t>
            </a: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25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4B9A0C-1317-4D96-8F2B-381BFA509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786" y="2332382"/>
            <a:ext cx="4558964" cy="453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0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1.8. Hexadecimal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Binary-to-Hexadecimal Conversion </a:t>
            </a: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26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D3EA03-8B29-40F2-ACA8-6EDBC5FBB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623" y="1958693"/>
            <a:ext cx="10219823" cy="350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09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1.8. Hexadecimal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Hexadecimal-to-Binary Conversion </a:t>
            </a: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27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3CEE5-527F-42CD-9620-75DEE79B5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588" y="1572550"/>
            <a:ext cx="10340074" cy="371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79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1.8. Hexadecimal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936226"/>
            <a:ext cx="10774018" cy="5399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Decimal-to-Hexadecimal Conversion </a:t>
            </a:r>
            <a:br>
              <a:rPr lang="en-US" sz="1600" dirty="0"/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28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E3EBAA-81B7-4D0C-9CD4-8908A295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1458738"/>
            <a:ext cx="9164706" cy="53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35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1.9. Octal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24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octal number system has a base of 8. </a:t>
            </a:r>
            <a:br>
              <a:rPr lang="en-US" dirty="0"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</a:t>
            </a:r>
            <a:r>
              <a:rPr lang="en-US" b="1" i="0" dirty="0">
                <a:solidFill>
                  <a:srgbClr val="006D96"/>
                </a:solidFill>
                <a:effectLst/>
                <a:latin typeface="Aptos (Body)"/>
              </a:rPr>
              <a:t>octal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number system is composed of eight digits, which are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			0, 1, 2, 3, 4, 5, 6, 7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To count above 7, begin another column and start over:</a:t>
            </a:r>
            <a:b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		10, 11, 12, 13, 14, 15, 16, 17, 20, 21, c</a:t>
            </a:r>
            <a:r>
              <a:rPr lang="en-US" dirty="0">
                <a:latin typeface="Aptos (Body)"/>
              </a:rPr>
              <a:t> </a:t>
            </a:r>
            <a:br>
              <a:rPr lang="en-US" dirty="0">
                <a:latin typeface="Aptos (Body)"/>
              </a:rPr>
            </a:br>
            <a:br>
              <a:rPr lang="en-US" dirty="0">
                <a:latin typeface="Aptos (Body)"/>
              </a:rPr>
            </a:b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Octal-to-Decimal Conversion </a:t>
            </a:r>
            <a:br>
              <a:rPr lang="en-US" dirty="0"/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29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FA53C-5839-4706-A109-4A5B15970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872" y="3711083"/>
            <a:ext cx="7635784" cy="230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637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1.9. Octal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771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Decimal-to-Octal Conversion </a:t>
            </a:r>
          </a:p>
          <a:p>
            <a:pPr marL="0" indent="0"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Octal-to-Binary Conversion </a:t>
            </a: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dirty="0"/>
            </a:br>
            <a:br>
              <a:rPr lang="en-US" sz="2100" dirty="0"/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30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EC7D0-A0A0-4B10-94AD-6574A3EC0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151" y="876760"/>
            <a:ext cx="6972057" cy="3767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136BE2-E928-4D93-A472-AD806CE09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158" y="4914167"/>
            <a:ext cx="8404704" cy="1674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38857F-FC8C-4676-981D-DDB04D970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950" y="5127876"/>
            <a:ext cx="1953862" cy="130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17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1.9. Octal Numbers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771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Binary-to-Octal Conversion</a:t>
            </a:r>
          </a:p>
          <a:p>
            <a:pPr marL="0" indent="0"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dirty="0"/>
            </a:br>
            <a:br>
              <a:rPr lang="en-US" sz="2100" dirty="0"/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31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BB977-B59E-4D6E-B1B7-2132FE121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157" y="1947154"/>
            <a:ext cx="9325426" cy="398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68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1.10. Binary Coded Decimal (BCD)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1065564" cy="5771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8421 BCD Code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b="1" dirty="0">
                <a:latin typeface="Aptos (Body)"/>
              </a:rPr>
              <a:t>In BCD, 4 bits represent each decimal digit </a:t>
            </a:r>
            <a:br>
              <a:rPr lang="en-US" b="1" dirty="0"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8421 code is a type of </a:t>
            </a:r>
            <a:r>
              <a:rPr lang="en-US" b="1" i="0" dirty="0">
                <a:solidFill>
                  <a:srgbClr val="006D96"/>
                </a:solidFill>
                <a:effectLst/>
                <a:latin typeface="Aptos (Body)"/>
              </a:rPr>
              <a:t>BCD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(binary coded decimal) code. Binary coded decimal means that each decimal digit, 0 through 9, is represented by a binary code of four bits. The designation 8421 indicates the binary weights of the four bits (2^3, 2^2, 2^1, 2^0).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  <a:p>
            <a:pPr marL="0" indent="0">
              <a:buNone/>
            </a:pP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BCD Addition </a:t>
            </a:r>
            <a:br>
              <a:rPr lang="en-US" sz="1600" dirty="0"/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32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9D9554-7A92-47CD-8532-AAA58C14F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643" y="2791639"/>
            <a:ext cx="7706967" cy="1568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4DBE7D-8426-45F8-B3FD-F4F849829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954" y="4873715"/>
            <a:ext cx="9069786" cy="192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219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1.10. Binary Coded Decimal (BCD)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771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BCD Addition </a:t>
            </a:r>
            <a:br>
              <a:rPr lang="en-US" sz="1600" dirty="0"/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33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EA1C96-B4D5-45A5-A350-92A07D32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637" y="1550504"/>
            <a:ext cx="7379946" cy="530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61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1.11. Digital Codes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771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Gray Code </a:t>
            </a:r>
            <a:br>
              <a:rPr lang="en-US" dirty="0"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This property is important in many applications, such as shaft position encoders, where error susceptibility increases with the number of bit changes between adjacent numbers in a sequence</a:t>
            </a:r>
            <a:r>
              <a:rPr lang="en-US" sz="2100" b="0" i="0" dirty="0">
                <a:solidFill>
                  <a:srgbClr val="242021"/>
                </a:solidFill>
                <a:effectLst/>
                <a:latin typeface="Aptos (Body)"/>
              </a:rPr>
              <a:t>.</a:t>
            </a:r>
            <a:r>
              <a:rPr lang="en-US" sz="2100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34</a:t>
            </a:fld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B92E1-131A-4AAD-B72A-195B17577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66" y="2320292"/>
            <a:ext cx="9183448" cy="450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301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1.11. Digital Codes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1065564" cy="5771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Binary-to-Gray Code Conversion</a:t>
            </a: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dirty="0" err="1">
                <a:solidFill>
                  <a:srgbClr val="242021"/>
                </a:solidFill>
                <a:latin typeface="Aptos (Body)"/>
              </a:rPr>
              <a:t>Conversion</a:t>
            </a:r>
            <a:r>
              <a:rPr lang="en-US" dirty="0">
                <a:solidFill>
                  <a:srgbClr val="242021"/>
                </a:solidFill>
                <a:latin typeface="Aptos (Body)"/>
              </a:rPr>
              <a:t> between binary code and Gray code is sometimes useful. The following rules explain how to convert from a binary number to a Gray code word:</a:t>
            </a:r>
            <a:br>
              <a:rPr lang="en-US" dirty="0">
                <a:solidFill>
                  <a:srgbClr val="242021"/>
                </a:solidFill>
                <a:latin typeface="Aptos (Body)"/>
              </a:rPr>
            </a:br>
            <a:r>
              <a:rPr lang="en-US" b="1" dirty="0">
                <a:solidFill>
                  <a:srgbClr val="242021"/>
                </a:solidFill>
                <a:latin typeface="Aptos (Body)"/>
              </a:rPr>
              <a:t>1. The most significant bit </a:t>
            </a:r>
            <a:r>
              <a:rPr lang="en-US" dirty="0">
                <a:solidFill>
                  <a:srgbClr val="242021"/>
                </a:solidFill>
                <a:latin typeface="Aptos (Body)"/>
              </a:rPr>
              <a:t>(left-most) in the Gray code is the same as the corresponding MSB in the binary number.</a:t>
            </a:r>
            <a:br>
              <a:rPr lang="en-US" dirty="0">
                <a:solidFill>
                  <a:srgbClr val="242021"/>
                </a:solidFill>
                <a:latin typeface="Aptos (Body)"/>
              </a:rPr>
            </a:br>
            <a:r>
              <a:rPr lang="en-US" b="1" dirty="0">
                <a:solidFill>
                  <a:srgbClr val="242021"/>
                </a:solidFill>
                <a:latin typeface="Aptos (Body)"/>
              </a:rPr>
              <a:t>2. Going from left to right</a:t>
            </a:r>
            <a:r>
              <a:rPr lang="en-US" dirty="0">
                <a:solidFill>
                  <a:srgbClr val="242021"/>
                </a:solidFill>
                <a:latin typeface="Aptos (Body)"/>
              </a:rPr>
              <a:t>, add each adjacent pair of binary code bits to get the next Gray code bit. Discard carries. </a:t>
            </a:r>
            <a:br>
              <a:rPr lang="en-US" sz="2100" dirty="0">
                <a:solidFill>
                  <a:srgbClr val="242021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35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A671A-9FB1-4A23-9FD5-2F937238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40" y="3268950"/>
            <a:ext cx="7552911" cy="1697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BC4A05-3192-4C41-9F97-B1676E1E3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74" y="5146063"/>
            <a:ext cx="6857999" cy="171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56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1.11. Digital Codes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0774018" cy="5771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An Application </a:t>
            </a: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36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DC07B-DCA3-4D1A-8FA2-2A9E0182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050" y="1527391"/>
            <a:ext cx="9759306" cy="3985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6F82A-782A-4FD6-A7F0-AA53C2F10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938" y="5667975"/>
            <a:ext cx="7975579" cy="94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04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1.11. Digital Codes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086678"/>
            <a:ext cx="11158330" cy="5771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ASCII</a:t>
            </a:r>
            <a:br>
              <a:rPr lang="en-US" sz="2100" b="0" i="0" dirty="0">
                <a:solidFill>
                  <a:srgbClr val="00803E"/>
                </a:solidFill>
                <a:effectLst/>
                <a:latin typeface="Aptos (Body)"/>
              </a:rPr>
            </a:br>
            <a:r>
              <a:rPr lang="en-US" b="1" i="0" dirty="0">
                <a:solidFill>
                  <a:srgbClr val="006D96"/>
                </a:solidFill>
                <a:effectLst/>
                <a:latin typeface="Aptos (Body)"/>
              </a:rPr>
              <a:t>ASCII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is the abbreviation for American Standard Code for Information Interchange. Pronounced “</a:t>
            </a:r>
            <a:r>
              <a:rPr lang="en-US" b="0" i="0" dirty="0" err="1">
                <a:solidFill>
                  <a:srgbClr val="242021"/>
                </a:solidFill>
                <a:effectLst/>
                <a:latin typeface="Aptos (Body)"/>
              </a:rPr>
              <a:t>askee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,” ASCII is a universally accepted alphanumeric code used in most computers and other electronic equipment.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The ASCII Control Characters </a:t>
            </a:r>
            <a:br>
              <a:rPr lang="en-US" sz="1600" dirty="0"/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br>
              <a:rPr lang="en-US" sz="21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buNone/>
            </a:pPr>
            <a:br>
              <a:rPr lang="en-US" sz="2100" b="1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b="1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37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F45A1F-518E-4DE2-98CE-FC46C3878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551254" y="1520190"/>
            <a:ext cx="4000092" cy="649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9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787D-A297-DF1F-4825-FC3889EE1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7" y="217305"/>
            <a:ext cx="9204463" cy="54927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SUMMARY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E0FDF-6605-A786-B6B6-E7920844D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416" y="1669773"/>
            <a:ext cx="10734261" cy="4970921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ptos (Body)"/>
              </a:rPr>
              <a:t>Binary and decimal conversions</a:t>
            </a:r>
            <a:r>
              <a:rPr lang="en-US" dirty="0">
                <a:latin typeface="Aptos (Body)"/>
              </a:rPr>
              <a:t> can be done using methods like sum-of-weights, division-by-2 (for decimal to binary), or multiplication-by-2 (for binary to decimal fractions).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ptos (Body)"/>
              </a:rPr>
              <a:t>Binary arithmetic</a:t>
            </a:r>
            <a:r>
              <a:rPr lang="en-US" dirty="0">
                <a:latin typeface="Aptos (Body)"/>
              </a:rPr>
              <a:t> includes addition (with basic rules like 1 + 1 = 10) and subtraction, which can be performed using 1’s or 2’s complement methods.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ptos (Body)"/>
              </a:rPr>
              <a:t>Signed binary numbers</a:t>
            </a:r>
            <a:r>
              <a:rPr lang="en-US" dirty="0">
                <a:latin typeface="Aptos (Body)"/>
              </a:rPr>
              <a:t> use a sign bit: 0 for positive, 1 for negative; overflows can occur during arithmetic operations.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ptos (Body)"/>
              </a:rPr>
              <a:t>Number systems</a:t>
            </a:r>
            <a:r>
              <a:rPr lang="en-US" dirty="0">
                <a:latin typeface="Aptos (Body)"/>
              </a:rPr>
              <a:t>: Hexadecimal uses 16 symbols (0–9, A–F); octal uses 8 symbols (0–7); both simplify binary representation and conversion.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ptos (Body)"/>
              </a:rPr>
              <a:t>Other codes</a:t>
            </a:r>
            <a:r>
              <a:rPr lang="en-US" dirty="0">
                <a:latin typeface="Aptos (Body)"/>
              </a:rPr>
              <a:t>: BCD represents decimal digits in binary form; ASCII is a 7-bit code used for characters in computing.</a:t>
            </a:r>
          </a:p>
          <a:p>
            <a:pPr marL="0" marR="0" indent="0">
              <a:buNone/>
            </a:pPr>
            <a:endParaRPr lang="en-US" sz="2100" dirty="0">
              <a:latin typeface="Aptos (Body)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C51AB-85E1-47DC-B5CD-F6E107480075}"/>
              </a:ext>
            </a:extLst>
          </p:cNvPr>
          <p:cNvSpPr txBox="1"/>
          <p:nvPr/>
        </p:nvSpPr>
        <p:spPr>
          <a:xfrm>
            <a:off x="861391" y="1020859"/>
            <a:ext cx="8584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ptos (Body)"/>
                <a:cs typeface="Times New Roman" panose="02020603050405020304" pitchFamily="18" charset="0"/>
              </a:rPr>
              <a:t>Chapter 2: Number Systems, Operations, and Codes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CF23F5-C312-73D4-727D-A3CBBB3B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6719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C23C-E04A-4EDE-A572-3C9C5AF0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MULTIPLE-CHOICE TEST AND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1463-7E92-4307-A413-68226604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2621884"/>
            <a:ext cx="10515600" cy="1976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Complete the true/false questions, multiple-choice questions, and end-of-chapter exercises in the primary textbook.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A8595-C7DB-4A6B-833E-76AEA3A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472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3765</TotalTime>
  <Words>1978</Words>
  <Application>Microsoft Office PowerPoint</Application>
  <PresentationFormat>Widescreen</PresentationFormat>
  <Paragraphs>183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Aptos</vt:lpstr>
      <vt:lpstr>Aptos (Body)</vt:lpstr>
      <vt:lpstr>Aptos Display</vt:lpstr>
      <vt:lpstr>Arial</vt:lpstr>
      <vt:lpstr>Helvetica</vt:lpstr>
      <vt:lpstr>Times New Roman</vt:lpstr>
      <vt:lpstr>Times-Italic</vt:lpstr>
      <vt:lpstr>Times-Roman</vt:lpstr>
      <vt:lpstr>Office Theme</vt:lpstr>
      <vt:lpstr>Chapter 2: Number Systems, Operations, and Codes  </vt:lpstr>
      <vt:lpstr>Chapter Objectives</vt:lpstr>
      <vt:lpstr>Chapter Outline</vt:lpstr>
      <vt:lpstr>1.1. Decimal Numbers</vt:lpstr>
      <vt:lpstr>1.1. Decimal Numbers</vt:lpstr>
      <vt:lpstr>1.2. Binary Numbers </vt:lpstr>
      <vt:lpstr>1.2. Binary Numbers </vt:lpstr>
      <vt:lpstr>1.2. Binary Numbers </vt:lpstr>
      <vt:lpstr>1.3. Decimal-to-Binary Conversion </vt:lpstr>
      <vt:lpstr>1.3. Decimal-to-Binary Conversion </vt:lpstr>
      <vt:lpstr>1.3. Decimal-to-Binary Conversion </vt:lpstr>
      <vt:lpstr>1.4. Binary Arithmetic </vt:lpstr>
      <vt:lpstr>1.4. Binary Arithmetic </vt:lpstr>
      <vt:lpstr>1.4. Binary Arithmetic </vt:lpstr>
      <vt:lpstr>1.4. Binary Arithmetic </vt:lpstr>
      <vt:lpstr>1.5. Complements of Binary Numbers </vt:lpstr>
      <vt:lpstr>1.5. Complements of Binary Numbers </vt:lpstr>
      <vt:lpstr>1.5. Complements of Binary Numbers </vt:lpstr>
      <vt:lpstr>1.6. Signed Numbers </vt:lpstr>
      <vt:lpstr>1.6. Signed Numbers </vt:lpstr>
      <vt:lpstr>1.7. Arithmetic Operations with Signed Numbers </vt:lpstr>
      <vt:lpstr>1.7. Arithmetic Operations with Signed Numbers </vt:lpstr>
      <vt:lpstr>1.7. Arithmetic Operations with Signed Numbers </vt:lpstr>
      <vt:lpstr>1.7. Arithmetic Operations with Signed Numbers </vt:lpstr>
      <vt:lpstr>1.8. Hexadecimal Numbers </vt:lpstr>
      <vt:lpstr>1.8. Hexadecimal Numbers </vt:lpstr>
      <vt:lpstr>1.8. Hexadecimal Numbers </vt:lpstr>
      <vt:lpstr>1.8. Hexadecimal Numbers </vt:lpstr>
      <vt:lpstr>1.9. Octal Numbers </vt:lpstr>
      <vt:lpstr>1.9. Octal Numbers </vt:lpstr>
      <vt:lpstr>1.9. Octal Numbers </vt:lpstr>
      <vt:lpstr>1.10. Binary Coded Decimal (BCD) </vt:lpstr>
      <vt:lpstr>1.10. Binary Coded Decimal (BCD) </vt:lpstr>
      <vt:lpstr>1.11. Digital Codes </vt:lpstr>
      <vt:lpstr>1.11. Digital Codes </vt:lpstr>
      <vt:lpstr>1.11. Digital Codes </vt:lpstr>
      <vt:lpstr>1.11. Digital Codes </vt:lpstr>
      <vt:lpstr>SUMMARY</vt:lpstr>
      <vt:lpstr>MULTIPLE-CHOICE TEST AND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Chapter 1: Electrical fundamentals 1.1. Fundamentals units (SI) 1.2. Conductors, insulators, voltage and resistance 1.3. Ohm’s Law 1.4. Electric fields 1.5. Magnetic fields 1.6. Circuit diagrams 1.7. Practical investigation &amp; Problems</dc:title>
  <dc:creator>MaiCV2</dc:creator>
  <cp:keywords>ICI101</cp:keywords>
  <cp:lastModifiedBy>Đặng Văn Hiếu</cp:lastModifiedBy>
  <cp:revision>101</cp:revision>
  <dcterms:created xsi:type="dcterms:W3CDTF">2024-04-08T01:59:57Z</dcterms:created>
  <dcterms:modified xsi:type="dcterms:W3CDTF">2025-08-27T03:44:21Z</dcterms:modified>
</cp:coreProperties>
</file>