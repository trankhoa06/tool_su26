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8" r:id="rId2"/>
    <p:sldId id="327" r:id="rId3"/>
    <p:sldId id="296" r:id="rId4"/>
    <p:sldId id="375" r:id="rId5"/>
    <p:sldId id="376" r:id="rId6"/>
    <p:sldId id="377" r:id="rId7"/>
    <p:sldId id="379" r:id="rId8"/>
    <p:sldId id="381" r:id="rId9"/>
    <p:sldId id="378" r:id="rId10"/>
    <p:sldId id="380" r:id="rId11"/>
    <p:sldId id="382" r:id="rId12"/>
    <p:sldId id="386" r:id="rId13"/>
    <p:sldId id="387" r:id="rId14"/>
    <p:sldId id="383" r:id="rId15"/>
    <p:sldId id="384" r:id="rId16"/>
    <p:sldId id="388" r:id="rId17"/>
    <p:sldId id="389" r:id="rId18"/>
    <p:sldId id="390" r:id="rId19"/>
    <p:sldId id="391" r:id="rId20"/>
    <p:sldId id="392" r:id="rId21"/>
    <p:sldId id="385" r:id="rId22"/>
    <p:sldId id="393" r:id="rId23"/>
    <p:sldId id="394" r:id="rId24"/>
    <p:sldId id="395" r:id="rId25"/>
    <p:sldId id="396" r:id="rId26"/>
    <p:sldId id="397" r:id="rId27"/>
    <p:sldId id="398" r:id="rId28"/>
    <p:sldId id="399" r:id="rId29"/>
    <p:sldId id="401" r:id="rId30"/>
    <p:sldId id="402" r:id="rId31"/>
    <p:sldId id="368" r:id="rId32"/>
    <p:sldId id="36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D9A4-3449-456F-BCB1-B37D2B162820}" type="datetimeFigureOut">
              <a:rPr lang="vi-VN" smtClean="0"/>
              <a:t>27/08/2025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DB88-6E80-499D-ABB8-38FBF3AE1A2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443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871CC-0A5A-4983-867F-F63CAC6B553F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B0B5C0-74F0-4EC6-A51D-11457A899F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093"/>
            <a:ext cx="12192000" cy="69076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1E02220-0385-4125-BDB5-59B8FEFF7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932" y="3278144"/>
            <a:ext cx="10515600" cy="5492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1: </a:t>
            </a:r>
          </a:p>
        </p:txBody>
      </p:sp>
    </p:spTree>
    <p:extLst>
      <p:ext uri="{BB962C8B-B14F-4D97-AF65-F5344CB8AC3E}">
        <p14:creationId xmlns:p14="http://schemas.microsoft.com/office/powerpoint/2010/main" val="134330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305"/>
            <a:ext cx="10515600" cy="549274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4303"/>
            <a:ext cx="10515600" cy="531266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A99EF-8D3C-452B-935C-C3A0B15262A2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6BF17E32-750A-6C62-EA62-509EF6C9F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77123"/>
            <a:ext cx="2387692" cy="55627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E78CCE1-A7DE-F222-F3C0-FAB53CC3E40F}"/>
              </a:ext>
            </a:extLst>
          </p:cNvPr>
          <p:cNvGrpSpPr/>
          <p:nvPr userDrawn="1"/>
        </p:nvGrpSpPr>
        <p:grpSpPr>
          <a:xfrm>
            <a:off x="10566400" y="-5737"/>
            <a:ext cx="1625600" cy="1213792"/>
            <a:chOff x="7924800" y="-5737"/>
            <a:chExt cx="1219200" cy="121379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F9A6EB5-51CE-4781-B164-2A67653CBBD5}"/>
                </a:ext>
              </a:extLst>
            </p:cNvPr>
            <p:cNvGrpSpPr/>
            <p:nvPr userDrawn="1"/>
          </p:nvGrpSpPr>
          <p:grpSpPr>
            <a:xfrm rot="10800000">
              <a:off x="8737600" y="-5737"/>
              <a:ext cx="406400" cy="406400"/>
              <a:chOff x="4388744" y="4805680"/>
              <a:chExt cx="406400" cy="406400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104E3744-FC6E-D772-CB2C-94156FE16F5E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8E526613-AFFA-0BE7-1031-5FE07BE21465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FEF925B-CCED-3ED6-A724-D231382E7FAE}"/>
                </a:ext>
              </a:extLst>
            </p:cNvPr>
            <p:cNvGrpSpPr/>
            <p:nvPr userDrawn="1"/>
          </p:nvGrpSpPr>
          <p:grpSpPr>
            <a:xfrm rot="10800000">
              <a:off x="8737600" y="395255"/>
              <a:ext cx="406400" cy="406400"/>
              <a:chOff x="4388744" y="4805680"/>
              <a:chExt cx="406400" cy="406400"/>
            </a:xfrm>
          </p:grpSpPr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85BC3172-424A-A4E4-CB48-10AEBF5908B8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314298E0-6DBD-FD83-9BE9-9C0888F45A6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46E5D2-3503-0CA5-5F0A-EB3B0DF62742}"/>
                </a:ext>
              </a:extLst>
            </p:cNvPr>
            <p:cNvGrpSpPr/>
            <p:nvPr userDrawn="1"/>
          </p:nvGrpSpPr>
          <p:grpSpPr>
            <a:xfrm rot="10800000">
              <a:off x="8737600" y="801655"/>
              <a:ext cx="406400" cy="406400"/>
              <a:chOff x="4388744" y="4805680"/>
              <a:chExt cx="406400" cy="40640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1C97430-586C-1852-7B7E-CC8BD43C1F34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DE6DCA86-3931-B1AC-3F66-88107D6326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20317D3-6B3D-2DF1-0986-9A0970332111}"/>
                </a:ext>
              </a:extLst>
            </p:cNvPr>
            <p:cNvGrpSpPr/>
            <p:nvPr userDrawn="1"/>
          </p:nvGrpSpPr>
          <p:grpSpPr>
            <a:xfrm rot="10800000">
              <a:off x="8331200" y="399790"/>
              <a:ext cx="406400" cy="406400"/>
              <a:chOff x="4388744" y="4805680"/>
              <a:chExt cx="406400" cy="406400"/>
            </a:xfrm>
          </p:grpSpPr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D7B18993-7C91-F71E-F1EB-8E1AD63B2C42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ight Triangle 21">
                <a:extLst>
                  <a:ext uri="{FF2B5EF4-FFF2-40B4-BE49-F238E27FC236}">
                    <a16:creationId xmlns:a16="http://schemas.microsoft.com/office/drawing/2014/main" id="{A1832769-9077-3069-4A71-C6696C21BC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FDE1C15-F987-A9D6-90C9-FCC16E16565E}"/>
                </a:ext>
              </a:extLst>
            </p:cNvPr>
            <p:cNvGrpSpPr/>
            <p:nvPr userDrawn="1"/>
          </p:nvGrpSpPr>
          <p:grpSpPr>
            <a:xfrm rot="10800000">
              <a:off x="8331200" y="-5737"/>
              <a:ext cx="406400" cy="406400"/>
              <a:chOff x="4388744" y="4805680"/>
              <a:chExt cx="406400" cy="406400"/>
            </a:xfrm>
          </p:grpSpPr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B3697819-6C2D-176B-5402-026EE5B6ADE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04B90D12-2C70-58C5-9D99-5E46BABC09A5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6205393-F4AA-F4B4-AD11-0C74DE379B3D}"/>
                </a:ext>
              </a:extLst>
            </p:cNvPr>
            <p:cNvGrpSpPr/>
            <p:nvPr userDrawn="1"/>
          </p:nvGrpSpPr>
          <p:grpSpPr>
            <a:xfrm rot="10800000">
              <a:off x="7924800" y="0"/>
              <a:ext cx="406400" cy="406400"/>
              <a:chOff x="4388744" y="4805680"/>
              <a:chExt cx="406400" cy="406400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4406F37-F68C-A4C0-E0EF-7C3C6F4796B1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2350476-19B7-4C57-8D0B-4F30375646D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4D367E-E1F8-341D-D917-08BD1F010572}"/>
              </a:ext>
            </a:extLst>
          </p:cNvPr>
          <p:cNvGrpSpPr/>
          <p:nvPr userDrawn="1"/>
        </p:nvGrpSpPr>
        <p:grpSpPr>
          <a:xfrm>
            <a:off x="0" y="5223817"/>
            <a:ext cx="2167467" cy="1627220"/>
            <a:chOff x="0" y="5223817"/>
            <a:chExt cx="1625600" cy="162722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C158FEA-DEF2-99FD-0979-F462D61695E2}"/>
                </a:ext>
              </a:extLst>
            </p:cNvPr>
            <p:cNvGrpSpPr/>
            <p:nvPr userDrawn="1"/>
          </p:nvGrpSpPr>
          <p:grpSpPr>
            <a:xfrm>
              <a:off x="0" y="6444637"/>
              <a:ext cx="406400" cy="406400"/>
              <a:chOff x="4388744" y="4805680"/>
              <a:chExt cx="406400" cy="406400"/>
            </a:xfrm>
          </p:grpSpPr>
          <p:sp>
            <p:nvSpPr>
              <p:cNvPr id="58" name="Right Triangle 57">
                <a:extLst>
                  <a:ext uri="{FF2B5EF4-FFF2-40B4-BE49-F238E27FC236}">
                    <a16:creationId xmlns:a16="http://schemas.microsoft.com/office/drawing/2014/main" id="{7C6D5D3D-3662-A526-17C5-BFD0909E814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4B987422-BE46-3E2F-0AC8-24EBCC0299B0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6989AF4-E961-10A8-F915-9DFEC26E085C}"/>
                </a:ext>
              </a:extLst>
            </p:cNvPr>
            <p:cNvGrpSpPr/>
            <p:nvPr userDrawn="1"/>
          </p:nvGrpSpPr>
          <p:grpSpPr>
            <a:xfrm>
              <a:off x="0" y="6036687"/>
              <a:ext cx="406400" cy="406400"/>
              <a:chOff x="4388744" y="4805680"/>
              <a:chExt cx="406400" cy="406400"/>
            </a:xfrm>
          </p:grpSpPr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C7394C07-0ADF-EEDA-30DD-D0A5219FD07E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4D6B85FB-6BC6-0DA1-393E-DDC30EFB0268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246BD03-559E-886D-81AC-DBFB87CADBF9}"/>
                </a:ext>
              </a:extLst>
            </p:cNvPr>
            <p:cNvGrpSpPr/>
            <p:nvPr userDrawn="1"/>
          </p:nvGrpSpPr>
          <p:grpSpPr>
            <a:xfrm>
              <a:off x="0" y="5627513"/>
              <a:ext cx="406400" cy="406400"/>
              <a:chOff x="4388744" y="4805680"/>
              <a:chExt cx="406400" cy="406400"/>
            </a:xfrm>
          </p:grpSpPr>
          <p:sp>
            <p:nvSpPr>
              <p:cNvPr id="54" name="Right Triangle 53">
                <a:extLst>
                  <a:ext uri="{FF2B5EF4-FFF2-40B4-BE49-F238E27FC236}">
                    <a16:creationId xmlns:a16="http://schemas.microsoft.com/office/drawing/2014/main" id="{64AB5756-BD28-6111-AFC2-C064394697AA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CCF3BB32-E016-3C59-3296-4EA5666D2CA8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28B65E6-9A0C-F7BE-BC2D-BDD3DD7B8218}"/>
                </a:ext>
              </a:extLst>
            </p:cNvPr>
            <p:cNvGrpSpPr/>
            <p:nvPr userDrawn="1"/>
          </p:nvGrpSpPr>
          <p:grpSpPr>
            <a:xfrm>
              <a:off x="406400" y="6039110"/>
              <a:ext cx="406400" cy="406400"/>
              <a:chOff x="4388744" y="4805680"/>
              <a:chExt cx="406400" cy="406400"/>
            </a:xfrm>
          </p:grpSpPr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8C6B3CA5-8D03-6992-787E-9636C5AE54D9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Right Triangle 52">
                <a:extLst>
                  <a:ext uri="{FF2B5EF4-FFF2-40B4-BE49-F238E27FC236}">
                    <a16:creationId xmlns:a16="http://schemas.microsoft.com/office/drawing/2014/main" id="{01491534-CB37-A450-3A13-CF46EEAB6A5F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116C4A8-5AE4-E1A8-6E48-4A1C5234432D}"/>
                </a:ext>
              </a:extLst>
            </p:cNvPr>
            <p:cNvGrpSpPr/>
            <p:nvPr userDrawn="1"/>
          </p:nvGrpSpPr>
          <p:grpSpPr>
            <a:xfrm>
              <a:off x="406400" y="6444637"/>
              <a:ext cx="406400" cy="406400"/>
              <a:chOff x="4388744" y="4805680"/>
              <a:chExt cx="406400" cy="406400"/>
            </a:xfrm>
          </p:grpSpPr>
          <p:sp>
            <p:nvSpPr>
              <p:cNvPr id="50" name="Right Triangle 49">
                <a:extLst>
                  <a:ext uri="{FF2B5EF4-FFF2-40B4-BE49-F238E27FC236}">
                    <a16:creationId xmlns:a16="http://schemas.microsoft.com/office/drawing/2014/main" id="{032EDF53-67B9-900C-C2F0-BBC97BA72643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4860B01E-AAAF-1DB6-003C-7E22ADC21D9A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337ABB6-45A0-FED1-0AAC-59A550733ECA}"/>
                </a:ext>
              </a:extLst>
            </p:cNvPr>
            <p:cNvGrpSpPr/>
            <p:nvPr userDrawn="1"/>
          </p:nvGrpSpPr>
          <p:grpSpPr>
            <a:xfrm>
              <a:off x="812800" y="6438900"/>
              <a:ext cx="406400" cy="406400"/>
              <a:chOff x="4388744" y="4805680"/>
              <a:chExt cx="406400" cy="406400"/>
            </a:xfrm>
          </p:grpSpPr>
          <p:sp>
            <p:nvSpPr>
              <p:cNvPr id="48" name="Right Triangle 47">
                <a:extLst>
                  <a:ext uri="{FF2B5EF4-FFF2-40B4-BE49-F238E27FC236}">
                    <a16:creationId xmlns:a16="http://schemas.microsoft.com/office/drawing/2014/main" id="{51E62297-F581-4EDA-971E-CF6196E49344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Right Triangle 48">
                <a:extLst>
                  <a:ext uri="{FF2B5EF4-FFF2-40B4-BE49-F238E27FC236}">
                    <a16:creationId xmlns:a16="http://schemas.microsoft.com/office/drawing/2014/main" id="{037A4B95-4C76-3379-FE66-7604FC49E7DB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B20C747-7466-D5D7-568D-2A3BFAFCDBFB}"/>
                </a:ext>
              </a:extLst>
            </p:cNvPr>
            <p:cNvGrpSpPr/>
            <p:nvPr userDrawn="1"/>
          </p:nvGrpSpPr>
          <p:grpSpPr>
            <a:xfrm>
              <a:off x="0" y="5223817"/>
              <a:ext cx="406400" cy="406400"/>
              <a:chOff x="4388744" y="4805680"/>
              <a:chExt cx="406400" cy="406400"/>
            </a:xfrm>
          </p:grpSpPr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DB35D46E-FCF1-09E4-645B-AE13B4E0622F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B49A6AD1-D826-C7CB-D1D8-20588CC9E0D1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D65BDAA-B74A-ED26-EBA5-74251871D610}"/>
                </a:ext>
              </a:extLst>
            </p:cNvPr>
            <p:cNvGrpSpPr/>
            <p:nvPr userDrawn="1"/>
          </p:nvGrpSpPr>
          <p:grpSpPr>
            <a:xfrm>
              <a:off x="406400" y="5634752"/>
              <a:ext cx="406400" cy="406400"/>
              <a:chOff x="4388744" y="4805680"/>
              <a:chExt cx="406400" cy="406400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DFBD8121-710E-1D40-00C8-2B5565B6AD50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1A9F5181-C41C-5F10-DD79-042329A130E6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B5BA187-B815-DCCA-A175-F6AB12C44120}"/>
                </a:ext>
              </a:extLst>
            </p:cNvPr>
            <p:cNvGrpSpPr/>
            <p:nvPr userDrawn="1"/>
          </p:nvGrpSpPr>
          <p:grpSpPr>
            <a:xfrm>
              <a:off x="795664" y="6038237"/>
              <a:ext cx="406400" cy="406400"/>
              <a:chOff x="4388744" y="4805680"/>
              <a:chExt cx="406400" cy="40640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BE3AD03-0CF2-35C6-CC4D-76C769359E09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E5C70DCE-2D30-1D7B-37FF-8E01E3974699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9EC07A9-39B6-2A62-45F8-D31E81902E36}"/>
                </a:ext>
              </a:extLst>
            </p:cNvPr>
            <p:cNvGrpSpPr/>
            <p:nvPr userDrawn="1"/>
          </p:nvGrpSpPr>
          <p:grpSpPr>
            <a:xfrm>
              <a:off x="1219200" y="6433833"/>
              <a:ext cx="406400" cy="406400"/>
              <a:chOff x="4388744" y="4805680"/>
              <a:chExt cx="406400" cy="406400"/>
            </a:xfrm>
          </p:grpSpPr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3D4CC00-97A2-F50D-DF0C-7CCE44AE3948}"/>
                  </a:ext>
                </a:extLst>
              </p:cNvPr>
              <p:cNvSpPr/>
              <p:nvPr userDrawn="1"/>
            </p:nvSpPr>
            <p:spPr>
              <a:xfrm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ight Triangle 40">
                <a:extLst>
                  <a:ext uri="{FF2B5EF4-FFF2-40B4-BE49-F238E27FC236}">
                    <a16:creationId xmlns:a16="http://schemas.microsoft.com/office/drawing/2014/main" id="{B251A9F0-2DBC-52AA-438D-2222805A9A96}"/>
                  </a:ext>
                </a:extLst>
              </p:cNvPr>
              <p:cNvSpPr/>
              <p:nvPr userDrawn="1"/>
            </p:nvSpPr>
            <p:spPr>
              <a:xfrm rot="10800000">
                <a:off x="4388744" y="4805680"/>
                <a:ext cx="406400" cy="40640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96A4DE9-D7F0-3ED7-4C5A-62CC32974557}"/>
              </a:ext>
            </a:extLst>
          </p:cNvPr>
          <p:cNvSpPr/>
          <p:nvPr userDrawn="1"/>
        </p:nvSpPr>
        <p:spPr>
          <a:xfrm>
            <a:off x="838200" y="773819"/>
            <a:ext cx="10244667" cy="7605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D40F12B-C8B7-47FD-9A66-8C604B484D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-2349455" y="2334255"/>
            <a:ext cx="5240782" cy="54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0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1F7E-FD57-456B-9E1D-D84D10372E3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01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5618-61FB-4D94-96B8-BAD5A8A7457A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10F2-F3BF-4562-89DD-2B10CBD3EE05}" type="datetime1">
              <a:rPr lang="vi-VN" smtClean="0"/>
              <a:t>27/08/2025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8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AE0-EA4F-42A1-B148-AD9AC22A56DF}" type="datetime1">
              <a:rPr lang="vi-VN" smtClean="0"/>
              <a:t>27/08/2025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3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7A0B-B56F-4F52-BBCA-98B3D074167B}" type="datetime1">
              <a:rPr lang="vi-VN" smtClean="0"/>
              <a:t>27/08/2025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6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DE86-437B-42AF-8A10-BA5649300010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4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E396-3CB5-4BA0-A842-49E646427416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57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9CBF-0E0B-4833-8FCB-2A6D36E2DE7D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4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1296-5D61-485A-8F80-0E9D6FAC6189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62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5421"/>
            <a:ext cx="10515600" cy="51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45E8-9FF8-49CD-8CA9-21B3335B7E4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7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3735-88FE-51EE-7EA1-A930D1D9D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687" y="2040835"/>
            <a:ext cx="5102087" cy="3233530"/>
          </a:xfrm>
        </p:spPr>
        <p:txBody>
          <a:bodyPr>
            <a:normAutofit/>
          </a:bodyPr>
          <a:lstStyle/>
          <a:p>
            <a:r>
              <a:rPr lang="en-US" b="1" dirty="0"/>
              <a:t>Chapter 9: Counters 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vi-V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1127D-97D4-0200-8E17-A4660633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03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305"/>
            <a:ext cx="920115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Chapter Objectives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230"/>
            <a:ext cx="11181522" cy="550168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After studying this chapter, students should be able to: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</a:rPr>
              <a:t>Understand finite state machines (FSMs) and various types of counters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 - including asynchronous, synchronous, binary, and decade counters.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</a:rPr>
              <a:t>Analyze and design counter circuits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 - including timing diagrams, integrated circuit (IC) counters, and practical applications.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</a:rPr>
              <a:t>Determine and modify the modulus of a counter</a:t>
            </a:r>
            <a:r>
              <a:rPr lang="en-US" b="1" dirty="0">
                <a:latin typeface="Aptos (Body)"/>
                <a:ea typeface="Times New Roman" panose="02020603050405020304" pitchFamily="18" charset="0"/>
              </a:rPr>
              <a:t> -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 including the use of cascaded counters to achieve higher modulus values.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</a:rPr>
              <a:t>Generate and analyze counting sequences</a:t>
            </a:r>
            <a:r>
              <a:rPr lang="en-US" b="1" dirty="0">
                <a:latin typeface="Aptos (Body)"/>
                <a:ea typeface="Times New Roman" panose="02020603050405020304" pitchFamily="18" charset="0"/>
              </a:rPr>
              <a:t> -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 such as up/down counting and designing specific state sequences.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</a:rPr>
              <a:t>Decode counter states and troubleshoot errors</a:t>
            </a:r>
            <a:r>
              <a:rPr lang="en-US" b="1" dirty="0">
                <a:latin typeface="Aptos (Body)"/>
                <a:ea typeface="Times New Roman" panose="02020603050405020304" pitchFamily="18" charset="0"/>
              </a:rPr>
              <a:t> -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 including the use of logic gates for decoding and methods to eliminate glitches in counter outputs.</a:t>
            </a:r>
          </a:p>
          <a:p>
            <a:pPr marL="0" marR="0">
              <a:lnSpc>
                <a:spcPct val="130000"/>
              </a:lnSpc>
              <a:spcBef>
                <a:spcPts val="0"/>
              </a:spcBef>
            </a:pPr>
            <a:endParaRPr lang="en-US" sz="21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sz="2100" dirty="0">
              <a:solidFill>
                <a:srgbClr val="0D0D0D"/>
              </a:solidFill>
              <a:latin typeface="Aptos (Body)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B9C3314-EA8F-4264-A427-B52B4ED40BA8}"/>
              </a:ext>
            </a:extLst>
          </p:cNvPr>
          <p:cNvSpPr txBox="1">
            <a:spLocks/>
          </p:cNvSpPr>
          <p:nvPr/>
        </p:nvSpPr>
        <p:spPr>
          <a:xfrm>
            <a:off x="2152650" y="3941529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DAF8E-AF0A-A556-8FFA-586CA276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4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78" y="217305"/>
            <a:ext cx="9257472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Chapter Outline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051" y="1060175"/>
            <a:ext cx="9713843" cy="5459896"/>
          </a:xfrm>
        </p:spPr>
        <p:txBody>
          <a:bodyPr>
            <a:noAutofit/>
          </a:bodyPr>
          <a:lstStyle/>
          <a:p>
            <a:pPr marL="0" marR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b="1" dirty="0"/>
              <a:t>9.1.</a:t>
            </a:r>
            <a:r>
              <a:rPr lang="en-US" dirty="0"/>
              <a:t> Finite State Machines</a:t>
            </a:r>
            <a:br>
              <a:rPr lang="en-US" dirty="0"/>
            </a:br>
            <a:r>
              <a:rPr lang="en-US" b="1" dirty="0"/>
              <a:t>9.2.</a:t>
            </a:r>
            <a:r>
              <a:rPr lang="en-US" dirty="0"/>
              <a:t> Asynchronous Counters</a:t>
            </a:r>
            <a:br>
              <a:rPr lang="en-US" dirty="0"/>
            </a:br>
            <a:r>
              <a:rPr lang="en-US" b="1" dirty="0"/>
              <a:t>9.3.</a:t>
            </a:r>
            <a:r>
              <a:rPr lang="en-US" dirty="0"/>
              <a:t> Synchronous Counters</a:t>
            </a:r>
            <a:br>
              <a:rPr lang="en-US" dirty="0"/>
            </a:br>
            <a:r>
              <a:rPr lang="en-US" b="1" dirty="0"/>
              <a:t>9.4.</a:t>
            </a:r>
            <a:r>
              <a:rPr lang="en-US" dirty="0"/>
              <a:t> Up/Down Synchronous Counters</a:t>
            </a:r>
            <a:br>
              <a:rPr lang="en-US" dirty="0"/>
            </a:br>
            <a:r>
              <a:rPr lang="en-US" b="1" dirty="0"/>
              <a:t>9.5.</a:t>
            </a:r>
            <a:r>
              <a:rPr lang="en-US" dirty="0"/>
              <a:t> Design of Synchronous Counters</a:t>
            </a:r>
            <a:br>
              <a:rPr lang="en-US" dirty="0"/>
            </a:br>
            <a:r>
              <a:rPr lang="en-US" b="1" dirty="0"/>
              <a:t>9.6.</a:t>
            </a:r>
            <a:r>
              <a:rPr lang="en-US" dirty="0"/>
              <a:t> Cascaded Counters</a:t>
            </a:r>
            <a:br>
              <a:rPr lang="en-US" dirty="0"/>
            </a:br>
            <a:r>
              <a:rPr lang="en-US" b="1" dirty="0"/>
              <a:t>9.7.</a:t>
            </a:r>
            <a:r>
              <a:rPr lang="en-US" dirty="0"/>
              <a:t> Counter Decoding</a:t>
            </a:r>
            <a:br>
              <a:rPr lang="en-US" dirty="0"/>
            </a:br>
            <a:r>
              <a:rPr lang="en-US" b="1" dirty="0"/>
              <a:t>9.8.</a:t>
            </a:r>
            <a:r>
              <a:rPr lang="en-US" dirty="0"/>
              <a:t> Counter Applications</a:t>
            </a:r>
            <a:br>
              <a:rPr lang="en-US" dirty="0"/>
            </a:br>
            <a:r>
              <a:rPr lang="en-US" b="1" dirty="0"/>
              <a:t>9.9.</a:t>
            </a:r>
            <a:r>
              <a:rPr lang="en-US" dirty="0"/>
              <a:t> Logic Symbols with Dependency Notation</a:t>
            </a:r>
            <a:endParaRPr lang="en-US" b="1" dirty="0"/>
          </a:p>
          <a:p>
            <a:pPr marL="0" marR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ptos (Body)"/>
              </a:rPr>
              <a:t>Multiple-choice test and Problems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D3F3-2FA5-0262-798E-21155E4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190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9.1.</a:t>
            </a:r>
            <a:r>
              <a:rPr lang="en-US" dirty="0">
                <a:solidFill>
                  <a:srgbClr val="FF0000"/>
                </a:solidFill>
              </a:rPr>
              <a:t> Finite State Machines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General Models of Finite State Machines (FSMs) consist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 (Body)"/>
              </a:rPr>
              <a:t>Moore Machine: </a:t>
            </a:r>
            <a:r>
              <a:rPr lang="en-US" dirty="0">
                <a:latin typeface="Aptos (Body)"/>
              </a:rPr>
              <a:t>Output depends only on the current state (stored in memory).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 (Body)"/>
              </a:rPr>
              <a:t>Mealy Machine: </a:t>
            </a:r>
            <a:r>
              <a:rPr lang="en-US" dirty="0">
                <a:latin typeface="Aptos (Body)"/>
              </a:rPr>
              <a:t>Output depends on both the current state and the current inputs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b="1" dirty="0">
                <a:latin typeface="Aptos (Body)"/>
              </a:rPr>
              <a:t>Key Differences</a:t>
            </a:r>
          </a:p>
          <a:p>
            <a:pPr marL="0" indent="0">
              <a:buNone/>
            </a:pPr>
            <a:r>
              <a:rPr lang="en-US" dirty="0">
                <a:latin typeface="Aptos (Body)"/>
              </a:rPr>
              <a:t>	In a Moore machine, output changes only when the state changes.</a:t>
            </a:r>
          </a:p>
          <a:p>
            <a:pPr marL="0" indent="0">
              <a:buNone/>
            </a:pPr>
            <a:r>
              <a:rPr lang="en-US" dirty="0">
                <a:latin typeface="Aptos (Body)"/>
              </a:rPr>
              <a:t>	In a Mealy machine, output can change immediately with input, even if the state 	hasn't changed.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4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6DC95-4D4E-4DBE-A5CE-C1A542849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120" y="2367697"/>
            <a:ext cx="8477898" cy="258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05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9.1.</a:t>
            </a:r>
            <a:r>
              <a:rPr lang="en-US" dirty="0">
                <a:solidFill>
                  <a:srgbClr val="FF0000"/>
                </a:solidFill>
              </a:rPr>
              <a:t> Finite State Machines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14400"/>
            <a:ext cx="10840278" cy="59436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Example – Moore Machine Counter</a:t>
            </a:r>
          </a:p>
          <a:p>
            <a:r>
              <a:rPr lang="en-US" b="1" dirty="0"/>
              <a:t>Design Example</a:t>
            </a:r>
          </a:p>
          <a:p>
            <a:pPr marL="0" indent="0">
              <a:buNone/>
            </a:pPr>
            <a:r>
              <a:rPr lang="en-US" dirty="0"/>
              <a:t>Modulus-25 synchronous binary counter. Counts from 0 to 24, resets to 0 on the 25th clock pulse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5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D58201-8409-4007-9D09-99EDC97B2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70" y="2527595"/>
            <a:ext cx="6795460" cy="3349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072C9E-5BA5-40F2-BCB0-1F396553E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010" y="2208280"/>
            <a:ext cx="2957178" cy="3931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698FF3-CCC5-4095-91CB-259119A4C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70" y="6024838"/>
            <a:ext cx="7534189" cy="82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5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9.1.</a:t>
            </a:r>
            <a:r>
              <a:rPr lang="en-US" dirty="0">
                <a:solidFill>
                  <a:srgbClr val="FF0000"/>
                </a:solidFill>
              </a:rPr>
              <a:t> Finite State Machines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914400"/>
            <a:ext cx="11317356" cy="59436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Example of a Mealy Machine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Variable-Modulus Counter:  </a:t>
            </a:r>
            <a:endParaRPr lang="en-US" b="1" dirty="0">
              <a:latin typeface="Aptos (Body)"/>
            </a:endParaRPr>
          </a:p>
          <a:p>
            <a:pPr marL="228600" lvl="1" indent="0">
              <a:buNone/>
            </a:pPr>
            <a:r>
              <a:rPr lang="en-US" dirty="0"/>
              <a:t>Used in a tablet-bottling system with 3 bottle sizes: 25-tablet, 50-tablet, and 100-tablet bottles.</a:t>
            </a:r>
          </a:p>
          <a:p>
            <a:pPr marL="228600" lvl="1" indent="0">
              <a:buNone/>
            </a:pPr>
            <a:r>
              <a:rPr lang="en-US" dirty="0"/>
              <a:t>Requires a state machine with three terminal counts: 25, 50, 100.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6</a:t>
            </a:fld>
            <a:endParaRPr lang="vi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187FC6-D3D5-4A95-85B5-FB9ADF84A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36" y="2651713"/>
            <a:ext cx="6068272" cy="2810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D2EB08-23E0-432B-B2D6-7ABDA77AD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646" y="2484703"/>
            <a:ext cx="3217710" cy="43732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18D9C0-D088-4799-AFE2-6D7894C89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86" y="5609801"/>
            <a:ext cx="7791340" cy="90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1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9.2.</a:t>
            </a:r>
            <a:r>
              <a:rPr lang="en-US" dirty="0">
                <a:solidFill>
                  <a:srgbClr val="FF0000"/>
                </a:solidFill>
              </a:rPr>
              <a:t> Asynchronous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72457"/>
            <a:ext cx="10840278" cy="588554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 2-Bit Asynchronous Binary Counter </a:t>
            </a:r>
            <a:br>
              <a:rPr lang="en-US" dirty="0"/>
            </a:br>
            <a:r>
              <a:rPr lang="en-US" sz="2200" b="1" dirty="0"/>
              <a:t>Structure and Operation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/>
              <a:t>Timing Diagram</a:t>
            </a:r>
            <a:endParaRPr lang="en-US" sz="2200" b="1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7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0F5AE-7BE0-4498-AAAF-CBD00F735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472" y="1530558"/>
            <a:ext cx="6943598" cy="23846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E15010-B279-4794-A9A2-47F335556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532" y="4325505"/>
            <a:ext cx="6598604" cy="255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97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9.2.</a:t>
            </a:r>
            <a:r>
              <a:rPr lang="en-US" dirty="0">
                <a:solidFill>
                  <a:srgbClr val="FF0000"/>
                </a:solidFill>
              </a:rPr>
              <a:t> Asynchronous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72457"/>
            <a:ext cx="10840278" cy="588554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 3-Bit Asynchronous Binary Counter </a:t>
            </a:r>
            <a:br>
              <a:rPr lang="en-US" dirty="0"/>
            </a:br>
            <a:r>
              <a:rPr lang="en-US" sz="2200" b="1" dirty="0"/>
              <a:t>Structure and Operation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Aptos (Body)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200" b="1" dirty="0"/>
              <a:t>Timing Diagram</a:t>
            </a:r>
            <a:endParaRPr lang="en-US" sz="2200" b="1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8</a:t>
            </a:fld>
            <a:endParaRPr lang="vi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0EBA69-D520-4D1A-86C4-8C7F0CD18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06" y="3915228"/>
            <a:ext cx="6301039" cy="23721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1477E9-56D4-434E-BC8A-F0421E275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640" y="1387433"/>
            <a:ext cx="5890423" cy="21011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028AD9-00BF-4A5D-9A3C-DC429E5FD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636" y="3817498"/>
            <a:ext cx="5282363" cy="25875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CA3C56-3323-4967-B047-60F54D920677}"/>
              </a:ext>
            </a:extLst>
          </p:cNvPr>
          <p:cNvSpPr txBox="1"/>
          <p:nvPr/>
        </p:nvSpPr>
        <p:spPr>
          <a:xfrm>
            <a:off x="6909636" y="329430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Propagation Delay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90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9.2.</a:t>
            </a:r>
            <a:r>
              <a:rPr lang="en-US" dirty="0">
                <a:solidFill>
                  <a:srgbClr val="FF0000"/>
                </a:solidFill>
              </a:rPr>
              <a:t> Asynchronous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14400"/>
            <a:ext cx="10840278" cy="5943600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Asynchronous Decade Counters &amp; Partial Decoding</a:t>
            </a:r>
            <a:br>
              <a:rPr lang="en-US" dirty="0"/>
            </a:br>
            <a:r>
              <a:rPr lang="en-US" sz="2200" dirty="0"/>
              <a:t>This technique allows standard binary counters to implement custom counting ranges like 0–9, useful for digital displays and BCD applications.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9</a:t>
            </a:fld>
            <a:endParaRPr lang="vi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0CDF78-2F22-4EBF-8794-415D2068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2549110"/>
            <a:ext cx="5588000" cy="2914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803C46-077F-4BC1-8B06-47B2B997A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13" y="2549110"/>
            <a:ext cx="5832395" cy="2495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0945EE-1881-4671-A7C9-81F6BE34A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412" y="5687971"/>
            <a:ext cx="9079592" cy="38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7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9.3.</a:t>
            </a:r>
            <a:r>
              <a:rPr lang="en-US" dirty="0">
                <a:solidFill>
                  <a:srgbClr val="FF0000"/>
                </a:solidFill>
              </a:rPr>
              <a:t>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 2-Bit Synchronous Binary Counter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/>
              <a:t>Synchronous counters allow faster and more predictable counting compared to asynchronous (ripple) counters, as all flip-flops are triggered by the same clock pulse.</a:t>
            </a:r>
            <a:endParaRPr lang="en-US" sz="2200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10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1E2365-192A-47F5-A3E4-A275773E7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006" y="2462262"/>
            <a:ext cx="8421986" cy="26865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A8166A-AF07-4D53-B4E6-018B15959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994" y="5286046"/>
            <a:ext cx="4026011" cy="157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34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9.3.</a:t>
            </a:r>
            <a:r>
              <a:rPr lang="en-US" dirty="0">
                <a:solidFill>
                  <a:srgbClr val="FF0000"/>
                </a:solidFill>
              </a:rPr>
              <a:t>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 3-Bit Synchronous Binary Counter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/>
              <a:t>The 3-bit synchronous counter ensures accurate operation without the propagation delay found in asynchronous counters, making it ideal for efficient and precise digital circuit design.</a:t>
            </a:r>
            <a:endParaRPr lang="en-US" sz="2200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11</a:t>
            </a:fld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3A5BB5-CD24-443B-AECC-DD719AFE8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069" y="3130393"/>
            <a:ext cx="5671931" cy="23244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5A5ADA-9CBC-450E-84D0-18BC0BAC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65" y="3083713"/>
            <a:ext cx="6049219" cy="2314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9EC1FC-22F7-4D84-9F61-E5EDAA541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672" y="5965234"/>
            <a:ext cx="9065023" cy="37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93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9.3.</a:t>
            </a:r>
            <a:r>
              <a:rPr lang="en-US" dirty="0">
                <a:solidFill>
                  <a:srgbClr val="FF0000"/>
                </a:solidFill>
              </a:rPr>
              <a:t>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 4-Bit Synchronous Binary Counter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/>
              <a:t>The 4-bit synchronous binary counter provides high performance and optimal accuracy in digital circuit design, making it ideal for counting and timing systems.</a:t>
            </a:r>
            <a:endParaRPr lang="en-US" sz="2200" dirty="0">
              <a:latin typeface="Aptos 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12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211F4-0367-4B3B-9A8E-56F9EFC4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73" y="2648599"/>
            <a:ext cx="6803413" cy="23575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9CA950-8E00-468E-B703-5050D7B4E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286" y="2776149"/>
            <a:ext cx="4789714" cy="2378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AB3879-649F-41F2-BB17-A3E44732B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755" y="5327980"/>
            <a:ext cx="9054315" cy="84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0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9.3.</a:t>
            </a:r>
            <a:r>
              <a:rPr lang="en-US" dirty="0">
                <a:solidFill>
                  <a:srgbClr val="FF0000"/>
                </a:solidFill>
              </a:rPr>
              <a:t>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 4-Bit Synchronous Decade (BCD) Counter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1" dirty="0"/>
              <a:t>The synchronous BCD counter </a:t>
            </a:r>
            <a:r>
              <a:rPr lang="en-US" sz="2200" dirty="0"/>
              <a:t>operates accurately and quickly, without the propagation delay found in asynchronous counters.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1" dirty="0"/>
              <a:t>Applications: </a:t>
            </a:r>
            <a:r>
              <a:rPr lang="en-US" sz="2200" dirty="0"/>
              <a:t>clocks, decimal digital displays, and counting systems limited to the range 0–9.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100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13</a:t>
            </a:fld>
            <a:endParaRPr lang="vi-V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312F71-A6A1-4446-A3D7-E9066FB2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38" y="2886747"/>
            <a:ext cx="6472491" cy="2564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7EC45F-CDE3-43DB-9ECE-3E095BE8C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429" y="2858894"/>
            <a:ext cx="5152571" cy="26721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C02F62-D452-4828-B20D-3A2F78C50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777" y="5816661"/>
            <a:ext cx="9261196" cy="6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90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9.4.</a:t>
            </a:r>
            <a:r>
              <a:rPr lang="en-US" dirty="0">
                <a:solidFill>
                  <a:srgbClr val="FF0000"/>
                </a:solidFill>
              </a:rPr>
              <a:t> Up/Down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33254"/>
            <a:ext cx="10840278" cy="592474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Up/Down Counter – 3-Bit Binary Counter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2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Up/Down counter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can count in both increasing and decreasing binary sequences. The counting direction can be </a:t>
            </a:r>
            <a:r>
              <a:rPr lang="en-US" sz="2200" b="1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reversed at any point</a:t>
            </a:r>
            <a:r>
              <a:rPr lang="en-US" sz="2200" dirty="0">
                <a:effectLst/>
                <a:latin typeface="Aptos (Body)"/>
                <a:ea typeface="Times New Roman" panose="02020603050405020304" pitchFamily="18" charset="0"/>
                <a:cs typeface="Times New Roman" panose="02020603050405020304" pitchFamily="18" charset="0"/>
              </a:rPr>
              <a:t> in the sequence.</a:t>
            </a:r>
            <a:endParaRPr lang="vi-VN" sz="2200" dirty="0">
              <a:effectLst/>
              <a:latin typeface="Aptos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b="1" i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14</a:t>
            </a:fld>
            <a:endParaRPr lang="vi-V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FD6E6E-E8B9-42BB-A66F-954919709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67" y="2373327"/>
            <a:ext cx="3980039" cy="11400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2207C8-AE80-4C4B-ABA8-7E01E024D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93" y="2752822"/>
            <a:ext cx="6207555" cy="35916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B27470-9A19-4EEF-BC80-2F68502F4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52" y="3581035"/>
            <a:ext cx="5344271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19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9.5.</a:t>
            </a:r>
            <a:r>
              <a:rPr lang="en-US" dirty="0">
                <a:solidFill>
                  <a:srgbClr val="FF0000"/>
                </a:solidFill>
              </a:rPr>
              <a:t> Design of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Step 1: State Diagram </a:t>
            </a:r>
            <a:br>
              <a:rPr lang="en-US" sz="1600" dirty="0"/>
            </a:br>
            <a:r>
              <a:rPr lang="en-US" sz="2200" dirty="0">
                <a:latin typeface="Aptos (Body)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Aptos (Body)"/>
                <a:cs typeface="Times New Roman" panose="02020603050405020304" pitchFamily="18" charset="0"/>
              </a:rPr>
              <a:t>state diagram</a:t>
            </a:r>
            <a:r>
              <a:rPr lang="en-US" sz="2200" dirty="0">
                <a:latin typeface="Aptos (Body)"/>
                <a:cs typeface="Times New Roman" panose="02020603050405020304" pitchFamily="18" charset="0"/>
              </a:rPr>
              <a:t> shows the sequence of states a counter or state machine goes through with each clock pulse. It's the </a:t>
            </a:r>
            <a:r>
              <a:rPr lang="en-US" sz="2200" b="1" dirty="0">
                <a:latin typeface="Aptos (Body)"/>
                <a:cs typeface="Times New Roman" panose="02020603050405020304" pitchFamily="18" charset="0"/>
              </a:rPr>
              <a:t>first step </a:t>
            </a:r>
            <a:r>
              <a:rPr lang="en-US" sz="2200" dirty="0">
                <a:latin typeface="Aptos (Body)"/>
                <a:cs typeface="Times New Roman" panose="02020603050405020304" pitchFamily="18" charset="0"/>
              </a:rPr>
              <a:t>in designing any state machine or digital counter.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15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CF2D3-0F23-44C8-8112-377AC326B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262" y="3055546"/>
            <a:ext cx="2410161" cy="2343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625C0D-F302-47A1-86A7-F1D08A218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227" y="5681397"/>
            <a:ext cx="6143973" cy="54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6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9.5.</a:t>
            </a:r>
            <a:r>
              <a:rPr lang="en-US" dirty="0">
                <a:solidFill>
                  <a:srgbClr val="FF0000"/>
                </a:solidFill>
              </a:rPr>
              <a:t> Design of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867706"/>
            <a:ext cx="10840278" cy="5990294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Step </a:t>
            </a:r>
            <a:r>
              <a:rPr lang="vi-VN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2</a:t>
            </a: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: Next-State Table </a:t>
            </a:r>
            <a:br>
              <a:rPr lang="en-US" dirty="0"/>
            </a:br>
            <a:r>
              <a:rPr lang="en-US" sz="2200" dirty="0">
                <a:latin typeface="Aptos (Body)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Aptos (Body)"/>
                <a:cs typeface="Times New Roman" panose="02020603050405020304" pitchFamily="18" charset="0"/>
              </a:rPr>
              <a:t>next state </a:t>
            </a:r>
            <a:r>
              <a:rPr lang="en-US" sz="2200" dirty="0">
                <a:latin typeface="Aptos (Body)"/>
                <a:cs typeface="Times New Roman" panose="02020603050405020304" pitchFamily="18" charset="0"/>
              </a:rPr>
              <a:t>is the state that the counter goes to from its present</a:t>
            </a:r>
            <a:r>
              <a:rPr lang="vi-VN" sz="2200" dirty="0">
                <a:latin typeface="Aptos (Body)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Aptos (Body)"/>
                <a:cs typeface="Times New Roman" panose="02020603050405020304" pitchFamily="18" charset="0"/>
              </a:rPr>
              <a:t>state upon application of a clock pulse. </a:t>
            </a:r>
            <a:br>
              <a:rPr lang="en-US" sz="2200" dirty="0">
                <a:latin typeface="Aptos (Body)"/>
                <a:cs typeface="Times New Roman" panose="02020603050405020304" pitchFamily="18" charset="0"/>
              </a:rPr>
            </a:br>
            <a:endParaRPr lang="en-US" sz="2200" dirty="0">
              <a:latin typeface="Aptos (Body)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16</a:t>
            </a:fld>
            <a:endParaRPr lang="vi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87B64-4CF5-471A-B3DA-2AD13F804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336" y="2295772"/>
            <a:ext cx="6302608" cy="411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9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9.5.</a:t>
            </a:r>
            <a:r>
              <a:rPr lang="en-US" dirty="0">
                <a:solidFill>
                  <a:srgbClr val="FF0000"/>
                </a:solidFill>
              </a:rPr>
              <a:t> Design of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867706"/>
            <a:ext cx="10840278" cy="5990294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Step </a:t>
            </a:r>
            <a:r>
              <a:rPr lang="vi-VN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3</a:t>
            </a: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: Flip-Flop Transition Table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dirty="0"/>
              <a:t>The transition table is an essential tool in the design of synchronous counters, as it helps determine the exact input conditions required to trigger each flip-flop</a:t>
            </a:r>
            <a:r>
              <a:rPr lang="en-US" sz="2200" dirty="0">
                <a:latin typeface="Aptos (Body)"/>
                <a:cs typeface="Times New Roman" panose="02020603050405020304" pitchFamily="18" charset="0"/>
              </a:rPr>
              <a:t>. </a:t>
            </a:r>
            <a:br>
              <a:rPr lang="en-US" sz="2200" dirty="0">
                <a:latin typeface="Aptos (Body)"/>
                <a:cs typeface="Times New Roman" panose="02020603050405020304" pitchFamily="18" charset="0"/>
              </a:rPr>
            </a:br>
            <a:endParaRPr lang="en-US" sz="2200" dirty="0">
              <a:latin typeface="Aptos (Body)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17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E19FD-E094-4C68-9880-E618B57E5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439" y="2725666"/>
            <a:ext cx="4657121" cy="32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70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9.5.</a:t>
            </a:r>
            <a:r>
              <a:rPr lang="en-US" dirty="0">
                <a:solidFill>
                  <a:srgbClr val="FF0000"/>
                </a:solidFill>
              </a:rPr>
              <a:t> Design of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29724"/>
            <a:ext cx="10840278" cy="5928275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Step </a:t>
            </a:r>
            <a:r>
              <a:rPr lang="vi-VN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4</a:t>
            </a: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: Karnaugh Maps </a:t>
            </a:r>
            <a:br>
              <a:rPr lang="en-US" dirty="0"/>
            </a:br>
            <a:endParaRPr lang="en-US" sz="2200" dirty="0">
              <a:latin typeface="Aptos (Body)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18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26CF03-DE55-4C4E-B6B6-4049C688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60" y="929724"/>
            <a:ext cx="7798234" cy="551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5A455E-04EF-483D-9C8D-0E4BAC0A4726}"/>
              </a:ext>
            </a:extLst>
          </p:cNvPr>
          <p:cNvSpPr txBox="1"/>
          <p:nvPr/>
        </p:nvSpPr>
        <p:spPr>
          <a:xfrm>
            <a:off x="1099930" y="1643896"/>
            <a:ext cx="326733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Karnaugh maps (K-maps) are used to </a:t>
            </a:r>
            <a:r>
              <a:rPr lang="en-US" sz="2200" b="1" dirty="0"/>
              <a:t>determine the logic expressions</a:t>
            </a:r>
            <a:r>
              <a:rPr lang="en-US" sz="2200" dirty="0"/>
              <a:t> for the </a:t>
            </a:r>
            <a:r>
              <a:rPr lang="en-US" sz="2200" b="1" dirty="0"/>
              <a:t>J and K inputs</a:t>
            </a:r>
            <a:r>
              <a:rPr lang="en-US" sz="2200" dirty="0"/>
              <a:t> of each flip-flop in the counter.</a:t>
            </a:r>
          </a:p>
        </p:txBody>
      </p:sp>
    </p:spTree>
    <p:extLst>
      <p:ext uri="{BB962C8B-B14F-4D97-AF65-F5344CB8AC3E}">
        <p14:creationId xmlns:p14="http://schemas.microsoft.com/office/powerpoint/2010/main" val="1513044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9.5.</a:t>
            </a:r>
            <a:r>
              <a:rPr lang="en-US" dirty="0">
                <a:solidFill>
                  <a:srgbClr val="FF0000"/>
                </a:solidFill>
              </a:rPr>
              <a:t> Design of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867706"/>
            <a:ext cx="10840278" cy="5990294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Step </a:t>
            </a:r>
            <a:r>
              <a:rPr lang="vi-VN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5</a:t>
            </a: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: Logic Expressions for Flip-Flop Inputs </a:t>
            </a:r>
            <a:br>
              <a:rPr lang="en-US" dirty="0"/>
            </a:br>
            <a:r>
              <a:rPr lang="en-US" sz="2200" dirty="0"/>
              <a:t>From the Karnaugh maps</a:t>
            </a:r>
            <a:r>
              <a:rPr lang="vi-VN" sz="2200" dirty="0"/>
              <a:t>, </a:t>
            </a:r>
            <a:r>
              <a:rPr lang="en-US" sz="2200" dirty="0"/>
              <a:t>you obtain the following expressions for the J and</a:t>
            </a:r>
            <a:r>
              <a:rPr lang="vi-VN" sz="2200" dirty="0"/>
              <a:t> </a:t>
            </a:r>
            <a:r>
              <a:rPr lang="en-US" sz="2200" dirty="0"/>
              <a:t>K inputs of each flip-flop: </a:t>
            </a:r>
            <a:br>
              <a:rPr lang="en-US" sz="2200" dirty="0"/>
            </a:br>
            <a:br>
              <a:rPr lang="en-US" sz="2200" dirty="0"/>
            </a:br>
            <a:endParaRPr lang="en-US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19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D42BFF-BC19-425A-8D04-FD9BE6688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59" y="2278729"/>
            <a:ext cx="6855197" cy="4579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38DB9A-B371-41BC-BEF4-798E1A64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847" y="2973902"/>
            <a:ext cx="3801005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19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9.5.</a:t>
            </a:r>
            <a:r>
              <a:rPr lang="en-US" dirty="0">
                <a:solidFill>
                  <a:srgbClr val="FF0000"/>
                </a:solidFill>
              </a:rPr>
              <a:t> Design of Synchronous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867706"/>
            <a:ext cx="10840278" cy="5990294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Step </a:t>
            </a:r>
            <a:r>
              <a:rPr lang="vi-VN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6</a:t>
            </a: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: Counter Implementation </a:t>
            </a:r>
            <a:br>
              <a:rPr lang="en-US" dirty="0"/>
            </a:br>
            <a:r>
              <a:rPr lang="en-US" sz="2200" dirty="0"/>
              <a:t>The final step is to implement the combinational logic from the expressions for the J and</a:t>
            </a:r>
            <a:r>
              <a:rPr lang="vi-VN" sz="2200" dirty="0"/>
              <a:t> </a:t>
            </a:r>
            <a:r>
              <a:rPr lang="en-US" sz="2200" dirty="0"/>
              <a:t>K inputs and connect the flip-flops to form the complete 3-bit Gray code counter as shown</a:t>
            </a:r>
            <a:r>
              <a:rPr lang="vi-VN" sz="2200" dirty="0"/>
              <a:t> </a:t>
            </a:r>
            <a:r>
              <a:rPr lang="en-US" sz="2200" dirty="0"/>
              <a:t>in Figure 9–29. </a:t>
            </a: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endParaRPr lang="en-US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20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0C875-7D47-46C8-BCBE-716CEED7C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066" y="2622856"/>
            <a:ext cx="8630285" cy="413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16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9.6.</a:t>
            </a:r>
            <a:r>
              <a:rPr lang="en-US" dirty="0">
                <a:solidFill>
                  <a:srgbClr val="FF0000"/>
                </a:solidFill>
              </a:rPr>
              <a:t> Cascaded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45029"/>
            <a:ext cx="10840278" cy="581297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Asynchronous Cascading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sz="2200" dirty="0"/>
              <a:t>Asynchronous cascading is a simple and effective way to increase counting range, though it introduces cumulative propagation delay.</a:t>
            </a:r>
            <a:endParaRPr lang="en-US" sz="2200" b="1" dirty="0">
              <a:solidFill>
                <a:schemeClr val="tx2">
                  <a:lumMod val="50000"/>
                  <a:lumOff val="50000"/>
                </a:schemeClr>
              </a:solidFill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21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ADA71-1E73-4FE1-8DEF-0E33DF62B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49" y="2964123"/>
            <a:ext cx="5744377" cy="2048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395AE9-0416-4438-8057-78D4A035F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582" y="2833408"/>
            <a:ext cx="5792418" cy="2551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E96C70-C661-4C30-A413-48F7890AF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821" y="5758070"/>
            <a:ext cx="9174046" cy="60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03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9.6.</a:t>
            </a:r>
            <a:r>
              <a:rPr lang="en-US" dirty="0">
                <a:solidFill>
                  <a:srgbClr val="FF0000"/>
                </a:solidFill>
              </a:rPr>
              <a:t> Cascaded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1099930"/>
            <a:ext cx="10840278" cy="575807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Synchronous Cascading </a:t>
            </a:r>
            <a:b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</a:b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 </a:t>
            </a:r>
            <a:r>
              <a:rPr lang="en-US" sz="2200" dirty="0"/>
              <a:t>Achieve higher-modulus operation by cascading synchronous counters using </a:t>
            </a:r>
            <a:r>
              <a:rPr lang="en-US" sz="2200" b="1" dirty="0"/>
              <a:t>count enable (CTEN)</a:t>
            </a:r>
            <a:r>
              <a:rPr lang="en-US" sz="2200" dirty="0"/>
              <a:t> and </a:t>
            </a:r>
            <a:r>
              <a:rPr lang="en-US" sz="2200" b="1" dirty="0"/>
              <a:t>terminal count (TC)</a:t>
            </a:r>
            <a:r>
              <a:rPr lang="en-US" sz="2200" dirty="0"/>
              <a:t> functions.</a:t>
            </a: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22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A400B-B155-4AB6-9F44-4AE83A991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4" y="2333632"/>
            <a:ext cx="5947011" cy="2039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3CA7B7-1876-4336-923A-AA8B588F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59" y="4524368"/>
            <a:ext cx="5947011" cy="235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35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9.6.</a:t>
            </a:r>
            <a:r>
              <a:rPr lang="en-US" dirty="0">
                <a:solidFill>
                  <a:srgbClr val="FF0000"/>
                </a:solidFill>
              </a:rPr>
              <a:t> Cascaded Counters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33254"/>
            <a:ext cx="10840278" cy="592474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Cascaded Counters with Truncated Sequences </a:t>
            </a:r>
            <a:br>
              <a:rPr lang="en-US" dirty="0"/>
            </a:br>
            <a:r>
              <a:rPr lang="en-US" sz="2200" dirty="0"/>
              <a:t>By using </a:t>
            </a:r>
            <a:r>
              <a:rPr lang="en-US" sz="2200" b="1" dirty="0"/>
              <a:t>synchronous loading</a:t>
            </a:r>
            <a:r>
              <a:rPr lang="en-US" sz="2200" dirty="0"/>
              <a:t>, a </a:t>
            </a:r>
            <a:r>
              <a:rPr lang="en-US" sz="2200" b="1" dirty="0"/>
              <a:t>cascaded counter with a truncated sequence</a:t>
            </a:r>
            <a:r>
              <a:rPr lang="en-US" sz="2200" dirty="0"/>
              <a:t> can accurately achieve </a:t>
            </a:r>
            <a:r>
              <a:rPr lang="en-US" sz="2200" b="1" dirty="0"/>
              <a:t>any desired divide-by modulus</a:t>
            </a: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23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6E02A4-89CE-4604-AA17-0B72C5E0A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87" y="2318669"/>
            <a:ext cx="9755063" cy="3853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62ABF1-46C9-4FBF-83C0-DCECBB79F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61" y="5878510"/>
            <a:ext cx="7750881" cy="94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41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9.7.</a:t>
            </a:r>
            <a:r>
              <a:rPr lang="en-US" dirty="0">
                <a:solidFill>
                  <a:srgbClr val="FF0000"/>
                </a:solidFill>
              </a:rPr>
              <a:t> Counter Decoding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33254"/>
            <a:ext cx="10840278" cy="592474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State Decoding in a 3-Bit Binary Counter</a:t>
            </a:r>
            <a:br>
              <a:rPr lang="en-US" dirty="0"/>
            </a:br>
            <a:r>
              <a:rPr lang="en-US" sz="2200" i="1" dirty="0"/>
              <a:t>State decoding is useful in applications such as event triggering, pulse generation, or activating outputs at specific count values.</a:t>
            </a: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24</a:t>
            </a:fld>
            <a:endParaRPr lang="vi-V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03805C-1DF6-47F0-A775-D5F47A949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375" y="2307927"/>
            <a:ext cx="6711678" cy="3955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66D414-A62D-467C-B046-8BB67F557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762" y="6362631"/>
            <a:ext cx="6544588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99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9.7.</a:t>
            </a:r>
            <a:r>
              <a:rPr lang="en-US" dirty="0">
                <a:solidFill>
                  <a:srgbClr val="FF0000"/>
                </a:solidFill>
              </a:rPr>
              <a:t> Counter Decoding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14400"/>
            <a:ext cx="10840278" cy="5943600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Decoding Glitches </a:t>
            </a:r>
            <a:br>
              <a:rPr lang="en-US" dirty="0"/>
            </a:br>
            <a:r>
              <a:rPr lang="en-US" sz="2200" dirty="0" err="1"/>
              <a:t>Glitches</a:t>
            </a:r>
            <a:r>
              <a:rPr lang="en-US" sz="2200" dirty="0"/>
              <a:t> can impact circuit performance and must be considered in high-speed or precision digital designs.</a:t>
            </a: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25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E83BBC-C2E1-474F-8C67-132D95DA4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45" y="2338171"/>
            <a:ext cx="4791744" cy="309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F78E7C-2185-4728-AB8F-26132EF04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583" y="1899255"/>
            <a:ext cx="3730487" cy="4909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1EC14C-7896-4C53-95EA-7E18B6B6A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102" y="5774663"/>
            <a:ext cx="5711149" cy="62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12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9.7.</a:t>
            </a:r>
            <a:r>
              <a:rPr lang="en-US" dirty="0">
                <a:solidFill>
                  <a:srgbClr val="FF0000"/>
                </a:solidFill>
              </a:rPr>
              <a:t> Counter Decoding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33254"/>
            <a:ext cx="10840278" cy="592474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Cascaded Counters with Truncated Sequences </a:t>
            </a:r>
            <a:br>
              <a:rPr lang="en-US" dirty="0"/>
            </a:br>
            <a:r>
              <a:rPr lang="en-US" sz="2200" dirty="0"/>
              <a:t>Glitches can impact circuit performance and must be considered in high-speed or precision digital designs.</a:t>
            </a: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26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DF072-F275-4036-97D2-822ED721C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92" y="2346482"/>
            <a:ext cx="6115904" cy="3362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76C147-1360-439B-8446-5237C0572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00" y="1976377"/>
            <a:ext cx="5441991" cy="4368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CC1786-98FC-44BF-A86B-7807515E1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100" y="6353793"/>
            <a:ext cx="8413915" cy="54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17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9.8.</a:t>
            </a:r>
            <a:r>
              <a:rPr lang="en-US" dirty="0">
                <a:solidFill>
                  <a:srgbClr val="FF0000"/>
                </a:solidFill>
              </a:rPr>
              <a:t> Counter Applications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33254"/>
            <a:ext cx="10840278" cy="592474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 Digital Clock </a:t>
            </a:r>
            <a:br>
              <a:rPr lang="en-US" dirty="0"/>
            </a:b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27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BAD0E6-81AE-4B0F-B1FB-41493550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937" y="933254"/>
            <a:ext cx="7512474" cy="5282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066AF3-60EC-401E-8119-080E33E87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710" y="6259642"/>
            <a:ext cx="7299971" cy="59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07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9.8.</a:t>
            </a:r>
            <a:r>
              <a:rPr lang="en-US" dirty="0">
                <a:solidFill>
                  <a:srgbClr val="FF0000"/>
                </a:solidFill>
              </a:rPr>
              <a:t> Counter Applications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33254"/>
            <a:ext cx="10840278" cy="592474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Automobile Parking Control </a:t>
            </a:r>
            <a:br>
              <a:rPr lang="en-US" dirty="0"/>
            </a:b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28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E593C0-BE95-43B7-A28F-738E2967A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351" y="1588166"/>
            <a:ext cx="6597262" cy="2670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CBB372-CD84-4092-95C2-D845FFABD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206" y="4481827"/>
            <a:ext cx="7239563" cy="1921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9C4B55-4E28-4C28-860B-DFD5B355B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524" y="6295611"/>
            <a:ext cx="6453089" cy="54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14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9.8.</a:t>
            </a:r>
            <a:r>
              <a:rPr lang="en-US" dirty="0">
                <a:solidFill>
                  <a:srgbClr val="FF0000"/>
                </a:solidFill>
              </a:rPr>
              <a:t> Counter Applications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33254"/>
            <a:ext cx="10840278" cy="592474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Parallel-to-Serial Data Conversion (Multiplexing) </a:t>
            </a:r>
            <a:br>
              <a:rPr lang="en-US" dirty="0"/>
            </a:br>
            <a:br>
              <a:rPr lang="en-US" dirty="0"/>
            </a:b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29</a:t>
            </a:fld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8F919-3785-48BD-AE8D-5017B2A65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917" y="1618997"/>
            <a:ext cx="5906324" cy="3620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FD59F0-F8F7-4D42-B0F2-E17E7AAF1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924" y="1048318"/>
            <a:ext cx="4302601" cy="5694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3F4137-20AB-4D9A-BB89-2881CD4AF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442" y="5442616"/>
            <a:ext cx="5963482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8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4" y="217305"/>
            <a:ext cx="9164706" cy="549274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FF0000"/>
                </a:solidFill>
              </a:rPr>
              <a:t>9.9.</a:t>
            </a:r>
            <a:r>
              <a:rPr lang="en-US" dirty="0">
                <a:solidFill>
                  <a:srgbClr val="FF0000"/>
                </a:solidFill>
              </a:rPr>
              <a:t> Logic Symbols with Dependency Notation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930" y="933254"/>
            <a:ext cx="10840278" cy="592474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(Body)"/>
              </a:rPr>
              <a:t>Qualifying Symbol</a:t>
            </a:r>
            <a:br>
              <a:rPr lang="en-US" dirty="0"/>
            </a:br>
            <a:r>
              <a:rPr lang="en-US" sz="2200" dirty="0"/>
              <a:t>The label “CTR DIV 16” in Figure 9–55(b) identifies the device as a counter (CTR) with sixteen states (DIV 16).</a:t>
            </a:r>
            <a:br>
              <a:rPr lang="en-US" sz="2200" dirty="0"/>
            </a:br>
            <a:br>
              <a:rPr lang="en-US" sz="2200" dirty="0"/>
            </a:br>
            <a:endParaRPr lang="en-US" sz="2200" dirty="0">
              <a:latin typeface="Aptos (Body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7008" y="6511101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/>
              <a:t>30</a:t>
            </a:fld>
            <a:endParaRPr lang="vi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FF08DF-CBA2-4DDD-A166-F7DC3ABAC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962" y="2385553"/>
            <a:ext cx="9062075" cy="44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3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787D-A297-DF1F-4825-FC3889EE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217305"/>
            <a:ext cx="9204463" cy="54927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SUMMARY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E0FDF-6605-A786-B6B6-E7920844D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677" y="1567993"/>
            <a:ext cx="10747513" cy="4970921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b="1" dirty="0"/>
              <a:t>Synchronous vs. Asynchronous Counters: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/>
              <a:t>Asynchronous counters: each stage is triggered by the output of the previous stage.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/>
              <a:t>Synchronous counters: all stages are triggered by the same clock pulse → faster operation.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b="1" dirty="0"/>
              <a:t>Maximum Modulus</a:t>
            </a:r>
            <a:r>
              <a:rPr lang="en-US" sz="2200" dirty="0"/>
              <a:t>: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/>
              <a:t>The maximum number of states is given by:</a:t>
            </a: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dirty="0"/>
              <a:t>			</a:t>
            </a:r>
            <a:r>
              <a:rPr lang="en-US" sz="2200" b="1" i="1" dirty="0"/>
              <a:t>Maximum modulus = 2n 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/>
              <a:t>where n is the number of flip-flops.</a:t>
            </a:r>
            <a:br>
              <a:rPr lang="en-US" sz="2200" dirty="0"/>
            </a:br>
            <a:r>
              <a:rPr lang="en-US" sz="2200" dirty="0"/>
              <a:t>The actual modulus can be equal to or less than this maximum value.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b="1" dirty="0"/>
              <a:t>Cascaded Counters Modulus: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/>
              <a:t>The overall modulus equals the product of the moduli of individual counters.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100" dirty="0">
              <a:effectLst/>
              <a:latin typeface="Aptos 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100" dirty="0">
              <a:latin typeface="Aptos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100" dirty="0">
              <a:latin typeface="Aptos (Body)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100" dirty="0">
              <a:latin typeface="Aptos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C51AB-85E1-47DC-B5CD-F6E107480075}"/>
              </a:ext>
            </a:extLst>
          </p:cNvPr>
          <p:cNvSpPr txBox="1"/>
          <p:nvPr/>
        </p:nvSpPr>
        <p:spPr>
          <a:xfrm>
            <a:off x="834887" y="956566"/>
            <a:ext cx="8584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ptos (Body)"/>
                <a:cs typeface="Times New Roman" panose="02020603050405020304" pitchFamily="18" charset="0"/>
              </a:rPr>
              <a:t>Chapter 9: Counters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CF23F5-C312-73D4-727D-A3CBBB3B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86719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C23C-E04A-4EDE-A572-3C9C5AF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MULTIPLE-CHOICE TEST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1463-7E92-4307-A413-68226604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2621884"/>
            <a:ext cx="10515600" cy="1976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Complete the true/false questions, multiple-choice questions, and end-of-chapter exercises in the primary textbook.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8595-C7DB-4A6B-833E-76AEA3A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7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5469</TotalTime>
  <Words>1247</Words>
  <Application>Microsoft Office PowerPoint</Application>
  <PresentationFormat>Widescreen</PresentationFormat>
  <Paragraphs>160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(Body)</vt:lpstr>
      <vt:lpstr>Aptos Display</vt:lpstr>
      <vt:lpstr>Arial</vt:lpstr>
      <vt:lpstr>Times New Roman</vt:lpstr>
      <vt:lpstr>Office Theme</vt:lpstr>
      <vt:lpstr>Chapter 9: Counters    </vt:lpstr>
      <vt:lpstr>Chapter Objectives</vt:lpstr>
      <vt:lpstr>Chapter Outline</vt:lpstr>
      <vt:lpstr>9.1. Finite State Machines</vt:lpstr>
      <vt:lpstr>9.1. Finite State Machines</vt:lpstr>
      <vt:lpstr>9.1. Finite State Machines</vt:lpstr>
      <vt:lpstr>9.2. Asynchronous Counters</vt:lpstr>
      <vt:lpstr>9.2. Asynchronous Counters</vt:lpstr>
      <vt:lpstr>9.2. Asynchronous Counters</vt:lpstr>
      <vt:lpstr>9.3. Synchronous Counters</vt:lpstr>
      <vt:lpstr>9.3. Synchronous Counters</vt:lpstr>
      <vt:lpstr>9.3. Synchronous Counters</vt:lpstr>
      <vt:lpstr>9.3. Synchronous Counters</vt:lpstr>
      <vt:lpstr>9.4. Up/Down Synchronous Counters</vt:lpstr>
      <vt:lpstr>9.5. Design of Synchronous Counters</vt:lpstr>
      <vt:lpstr>9.5. Design of Synchronous Counters</vt:lpstr>
      <vt:lpstr>9.5. Design of Synchronous Counters</vt:lpstr>
      <vt:lpstr>9.5. Design of Synchronous Counters</vt:lpstr>
      <vt:lpstr>9.5. Design of Synchronous Counters</vt:lpstr>
      <vt:lpstr>9.5. Design of Synchronous Counters</vt:lpstr>
      <vt:lpstr>9.6. Cascaded Counters</vt:lpstr>
      <vt:lpstr>9.6. Cascaded Counters</vt:lpstr>
      <vt:lpstr>9.6. Cascaded Counters</vt:lpstr>
      <vt:lpstr>9.7. Counter Decoding</vt:lpstr>
      <vt:lpstr>9.7. Counter Decoding</vt:lpstr>
      <vt:lpstr>9.7. Counter Decoding</vt:lpstr>
      <vt:lpstr>9.8. Counter Applications</vt:lpstr>
      <vt:lpstr>9.8. Counter Applications</vt:lpstr>
      <vt:lpstr>9.8. Counter Applications</vt:lpstr>
      <vt:lpstr>9.9. Logic Symbols with Dependency Notation</vt:lpstr>
      <vt:lpstr>SUMMARY</vt:lpstr>
      <vt:lpstr>MULTIPLE-CHOICE TEST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Chapter 1: Electrical fundamentals 1.1. Fundamentals units (SI) 1.2. Conductors, insulators, voltage and resistance 1.3. Ohm’s Law 1.4. Electric fields 1.5. Magnetic fields 1.6. Circuit diagrams 1.7. Practical investigation &amp; Problems</dc:title>
  <dc:creator>MaiCV2</dc:creator>
  <cp:keywords>ICI101</cp:keywords>
  <cp:lastModifiedBy>Đặng Văn Hiếu</cp:lastModifiedBy>
  <cp:revision>186</cp:revision>
  <dcterms:created xsi:type="dcterms:W3CDTF">2024-04-08T01:59:57Z</dcterms:created>
  <dcterms:modified xsi:type="dcterms:W3CDTF">2025-08-27T03:45:49Z</dcterms:modified>
</cp:coreProperties>
</file>