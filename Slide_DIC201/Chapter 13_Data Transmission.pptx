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8" r:id="rId2"/>
    <p:sldId id="327" r:id="rId3"/>
    <p:sldId id="296" r:id="rId4"/>
    <p:sldId id="328" r:id="rId5"/>
    <p:sldId id="357" r:id="rId6"/>
    <p:sldId id="358" r:id="rId7"/>
    <p:sldId id="360" r:id="rId8"/>
    <p:sldId id="359" r:id="rId9"/>
    <p:sldId id="362" r:id="rId10"/>
    <p:sldId id="363" r:id="rId11"/>
    <p:sldId id="361" r:id="rId12"/>
    <p:sldId id="365" r:id="rId13"/>
    <p:sldId id="364" r:id="rId14"/>
    <p:sldId id="368" r:id="rId15"/>
    <p:sldId id="367" r:id="rId16"/>
    <p:sldId id="369" r:id="rId17"/>
    <p:sldId id="370" r:id="rId18"/>
    <p:sldId id="371" r:id="rId19"/>
    <p:sldId id="372" r:id="rId20"/>
    <p:sldId id="373" r:id="rId21"/>
    <p:sldId id="375" r:id="rId22"/>
    <p:sldId id="374" r:id="rId23"/>
    <p:sldId id="376" r:id="rId24"/>
    <p:sldId id="377" r:id="rId25"/>
    <p:sldId id="378" r:id="rId26"/>
    <p:sldId id="379" r:id="rId27"/>
    <p:sldId id="382" r:id="rId28"/>
    <p:sldId id="381" r:id="rId29"/>
    <p:sldId id="384" r:id="rId30"/>
    <p:sldId id="385" r:id="rId31"/>
    <p:sldId id="383" r:id="rId32"/>
    <p:sldId id="386" r:id="rId33"/>
    <p:sldId id="387" r:id="rId34"/>
    <p:sldId id="389" r:id="rId35"/>
    <p:sldId id="388" r:id="rId36"/>
    <p:sldId id="391" r:id="rId37"/>
    <p:sldId id="390" r:id="rId38"/>
    <p:sldId id="392" r:id="rId39"/>
    <p:sldId id="393" r:id="rId40"/>
    <p:sldId id="394" r:id="rId41"/>
    <p:sldId id="395" r:id="rId42"/>
    <p:sldId id="399" r:id="rId43"/>
    <p:sldId id="356" r:id="rId44"/>
    <p:sldId id="400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12020-9413-486F-BA5D-75CDAEC9B132}" v="33" dt="2024-04-17T15:14:20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72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64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Cao Van" userId="f7949ac2-728d-41dd-ad7e-3544eb396517" providerId="ADAL" clId="{9A112020-9413-486F-BA5D-75CDAEC9B132}"/>
    <pc:docChg chg="undo custSel addSld delSld modSld">
      <pc:chgData name="Mai Cao Van" userId="f7949ac2-728d-41dd-ad7e-3544eb396517" providerId="ADAL" clId="{9A112020-9413-486F-BA5D-75CDAEC9B132}" dt="2024-04-17T15:14:29.613" v="118" actId="14100"/>
      <pc:docMkLst>
        <pc:docMk/>
      </pc:docMkLst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14208525" sldId="2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26776459" sldId="257"/>
        </pc:sldMkLst>
      </pc:sldChg>
      <pc:sldChg chg="modSp mod modClrScheme chgLayout">
        <pc:chgData name="Mai Cao Van" userId="f7949ac2-728d-41dd-ad7e-3544eb396517" providerId="ADAL" clId="{9A112020-9413-486F-BA5D-75CDAEC9B132}" dt="2024-04-17T14:20:18.691" v="9" actId="207"/>
        <pc:sldMkLst>
          <pc:docMk/>
          <pc:sldMk cId="3190321118" sldId="258"/>
        </pc:sldMkLst>
        <pc:spChg chg="mod ord">
          <ac:chgData name="Mai Cao Van" userId="f7949ac2-728d-41dd-ad7e-3544eb396517" providerId="ADAL" clId="{9A112020-9413-486F-BA5D-75CDAEC9B132}" dt="2024-04-17T14:20:18.691" v="9" actId="207"/>
          <ac:spMkLst>
            <pc:docMk/>
            <pc:sldMk cId="3190321118" sldId="258"/>
            <ac:spMk id="2" creationId="{07CF3735-88FE-51EE-7EA1-A930D1D9D4F9}"/>
          </ac:spMkLst>
        </pc:spChg>
        <pc:spChg chg="mod ord">
          <ac:chgData name="Mai Cao Van" userId="f7949ac2-728d-41dd-ad7e-3544eb396517" providerId="ADAL" clId="{9A112020-9413-486F-BA5D-75CDAEC9B132}" dt="2024-04-17T14:20:02.053" v="5" actId="120"/>
          <ac:spMkLst>
            <pc:docMk/>
            <pc:sldMk cId="3190321118" sldId="258"/>
            <ac:spMk id="9" creationId="{F0932675-FEE9-806C-4C5C-4E45D1CBCBF5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71320278" sldId="25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7350594" sldId="26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06777267" sldId="2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5489809" sldId="2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91464535" sldId="26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6108424" sldId="26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53395001" sldId="26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89765472" sldId="26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60731846" sldId="26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336286143" sldId="26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1732853" sldId="26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43067150" sldId="27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890814" sldId="27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352985877" sldId="27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18896443" sldId="27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31915942" sldId="27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52181570" sldId="27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79499132" sldId="27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058281605" sldId="27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443217586" sldId="27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1532945" sldId="28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617769310" sldId="28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880446481" sldId="28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70850264" sldId="28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727363365" sldId="28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346282213" sldId="28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09053363" sldId="28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94563085" sldId="28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26019977" sldId="28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77283182" sldId="28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2004715" sldId="29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32815543" sldId="29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32717068" sldId="29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74586941" sldId="29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986597189" sldId="29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170217672" sldId="295"/>
        </pc:sldMkLst>
      </pc:sldChg>
      <pc:sldChg chg="addSp delSp modSp mod chgLayout">
        <pc:chgData name="Mai Cao Van" userId="f7949ac2-728d-41dd-ad7e-3544eb396517" providerId="ADAL" clId="{9A112020-9413-486F-BA5D-75CDAEC9B132}" dt="2024-04-17T15:07:47.436" v="76" actId="113"/>
        <pc:sldMkLst>
          <pc:docMk/>
          <pc:sldMk cId="1501905343" sldId="296"/>
        </pc:sldMkLst>
        <pc:spChg chg="mod or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2" creationId="{8C430AE8-0EBE-B0C5-28F2-79A2A6992611}"/>
          </ac:spMkLst>
        </pc:spChg>
        <pc:spChg chg="mod ord">
          <ac:chgData name="Mai Cao Van" userId="f7949ac2-728d-41dd-ad7e-3544eb396517" providerId="ADAL" clId="{9A112020-9413-486F-BA5D-75CDAEC9B132}" dt="2024-04-17T15:03:37.451" v="47" actId="123"/>
          <ac:spMkLst>
            <pc:docMk/>
            <pc:sldMk cId="1501905343" sldId="296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6" creationId="{4E16FE9D-6910-3544-261B-84B87D8CEB42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7" creationId="{7F0A6817-88FB-7DF1-0253-7A09FF946583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8" creationId="{4C016DF6-0FEB-F18C-BF4A-135819304B30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9" creationId="{F07948B4-DBBE-2601-1A16-1F3D99DFC0B4}"/>
          </ac:spMkLst>
        </pc:spChg>
        <pc:spChg chg="add mod">
          <ac:chgData name="Mai Cao Van" userId="f7949ac2-728d-41dd-ad7e-3544eb396517" providerId="ADAL" clId="{9A112020-9413-486F-BA5D-75CDAEC9B132}" dt="2024-04-17T15:07:47.436" v="76" actId="113"/>
          <ac:spMkLst>
            <pc:docMk/>
            <pc:sldMk cId="1501905343" sldId="296"/>
            <ac:spMk id="13" creationId="{C0DE56BB-D25E-8028-4B39-613B82E2F666}"/>
          </ac:spMkLst>
        </pc:spChg>
        <pc:picChg chg="add del mod">
          <ac:chgData name="Mai Cao Van" userId="f7949ac2-728d-41dd-ad7e-3544eb396517" providerId="ADAL" clId="{9A112020-9413-486F-BA5D-75CDAEC9B132}" dt="2024-04-17T14:58:25.778" v="17" actId="478"/>
          <ac:picMkLst>
            <pc:docMk/>
            <pc:sldMk cId="1501905343" sldId="296"/>
            <ac:picMk id="5" creationId="{DAFB7174-EBC2-F8A4-63D1-02D5BDF15D48}"/>
          </ac:picMkLst>
        </pc:picChg>
        <pc:picChg chg="add mod">
          <ac:chgData name="Mai Cao Van" userId="f7949ac2-728d-41dd-ad7e-3544eb396517" providerId="ADAL" clId="{9A112020-9413-486F-BA5D-75CDAEC9B132}" dt="2024-04-17T15:03:32.009" v="46" actId="1035"/>
          <ac:picMkLst>
            <pc:docMk/>
            <pc:sldMk cId="1501905343" sldId="296"/>
            <ac:picMk id="11" creationId="{3060298A-DE97-347C-64A7-3756612B109F}"/>
          </ac:picMkLst>
        </pc:picChg>
      </pc:sldChg>
      <pc:sldChg chg="addSp delSp modSp add mod chgLayout">
        <pc:chgData name="Mai Cao Van" userId="f7949ac2-728d-41dd-ad7e-3544eb396517" providerId="ADAL" clId="{9A112020-9413-486F-BA5D-75CDAEC9B132}" dt="2024-04-17T15:07:40.195" v="75" actId="113"/>
        <pc:sldMkLst>
          <pc:docMk/>
          <pc:sldMk cId="2933662193" sldId="301"/>
        </pc:sldMkLst>
        <pc:spChg chg="mod or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2" creationId="{8C430AE8-0EBE-B0C5-28F2-79A2A6992611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3" creationId="{70A34787-31ED-7DDC-549A-161AF8900A2B}"/>
          </ac:spMkLst>
        </pc:spChg>
        <pc:spChg chg="mod ord">
          <ac:chgData name="Mai Cao Van" userId="f7949ac2-728d-41dd-ad7e-3544eb396517" providerId="ADAL" clId="{9A112020-9413-486F-BA5D-75CDAEC9B132}" dt="2024-04-17T15:06:11.303" v="68" actId="27636"/>
          <ac:spMkLst>
            <pc:docMk/>
            <pc:sldMk cId="2933662193" sldId="301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5" creationId="{2AB4403E-1207-5BEB-0BA0-55A57680AB16}"/>
          </ac:spMkLst>
        </pc:spChg>
        <pc:spChg chg="mod">
          <ac:chgData name="Mai Cao Van" userId="f7949ac2-728d-41dd-ad7e-3544eb396517" providerId="ADAL" clId="{9A112020-9413-486F-BA5D-75CDAEC9B132}" dt="2024-04-17T15:07:40.195" v="75" actId="113"/>
          <ac:spMkLst>
            <pc:docMk/>
            <pc:sldMk cId="2933662193" sldId="301"/>
            <ac:spMk id="13" creationId="{C0DE56BB-D25E-8028-4B39-613B82E2F666}"/>
          </ac:spMkLst>
        </pc:spChg>
        <pc:picChg chg="add mod">
          <ac:chgData name="Mai Cao Van" userId="f7949ac2-728d-41dd-ad7e-3544eb396517" providerId="ADAL" clId="{9A112020-9413-486F-BA5D-75CDAEC9B132}" dt="2024-04-17T15:07:11.801" v="72" actId="14100"/>
          <ac:picMkLst>
            <pc:docMk/>
            <pc:sldMk cId="2933662193" sldId="301"/>
            <ac:picMk id="7" creationId="{BACB1871-71F6-5AFF-51A8-84E978A82971}"/>
          </ac:picMkLst>
        </pc:picChg>
        <pc:picChg chg="del">
          <ac:chgData name="Mai Cao Van" userId="f7949ac2-728d-41dd-ad7e-3544eb396517" providerId="ADAL" clId="{9A112020-9413-486F-BA5D-75CDAEC9B132}" dt="2024-04-17T15:05:56.729" v="63" actId="478"/>
          <ac:picMkLst>
            <pc:docMk/>
            <pc:sldMk cId="2933662193" sldId="301"/>
            <ac:picMk id="11" creationId="{3060298A-DE97-347C-64A7-3756612B109F}"/>
          </ac:picMkLst>
        </pc:pic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61348225" sldId="3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320354" sldId="302"/>
        </pc:sldMkLst>
      </pc:sldChg>
      <pc:sldChg chg="modSp add mod">
        <pc:chgData name="Mai Cao Van" userId="f7949ac2-728d-41dd-ad7e-3544eb396517" providerId="ADAL" clId="{9A112020-9413-486F-BA5D-75CDAEC9B132}" dt="2024-04-17T15:14:29.613" v="118" actId="14100"/>
        <pc:sldMkLst>
          <pc:docMk/>
          <pc:sldMk cId="2652356429" sldId="302"/>
        </pc:sldMkLst>
        <pc:spChg chg="mod">
          <ac:chgData name="Mai Cao Van" userId="f7949ac2-728d-41dd-ad7e-3544eb396517" providerId="ADAL" clId="{9A112020-9413-486F-BA5D-75CDAEC9B132}" dt="2024-04-17T15:14:29.613" v="118" actId="14100"/>
          <ac:spMkLst>
            <pc:docMk/>
            <pc:sldMk cId="2652356429" sldId="302"/>
            <ac:spMk id="4" creationId="{BE7F8D9A-9F36-3F42-5DDB-B214C4EAC8A6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82246672" sldId="3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3158920" sldId="3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54021612" sldId="3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80960752" sldId="3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49476003" sldId="3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81069589" sldId="3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162619783" sldId="3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64759149" sldId="3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21748694" sldId="3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48051221" sldId="3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3469992" sldId="3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15820225" sldId="3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31213231" sldId="3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72900586" sldId="3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20231526" sldId="3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83509001" sldId="3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84775449" sldId="32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71388492" sldId="3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759009" sldId="3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67845728" sldId="3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0621169" sldId="3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53342677" sldId="3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5125376" sldId="3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87807566" sldId="3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07945801" sldId="3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78991458" sldId="3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42944599" sldId="3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47322492" sldId="3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0702777" sldId="3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0726604" sldId="3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4312387" sldId="3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62530898" sldId="3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10533634" sldId="3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24928923" sldId="3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8002459" sldId="3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90179627" sldId="3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63368077" sldId="3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09250700" sldId="3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50418921" sldId="3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57694825" sldId="3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05595158" sldId="34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73060477" sldId="34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59707268" sldId="34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848758112" sldId="35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036275847" sldId="35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181531778" sldId="35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59275954" sldId="35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09173124" sldId="35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247538530" sldId="35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6905501" sldId="3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16005775" sldId="35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55634875" sldId="35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52728261" sldId="3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82658353" sldId="3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1358665" sldId="39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308099" sldId="39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40247633" sldId="4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02376594" sldId="40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73410731" sldId="4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70051078" sldId="4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84010954" sldId="4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4740067" sldId="4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19231035" sldId="4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85599415" sldId="4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64253548" sldId="4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21512525" sldId="4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5239884" sldId="4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9551571" sldId="4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77181734" sldId="4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64186032" sldId="4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7174173" sldId="4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7491730" sldId="41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94990954" sldId="4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9368100" sldId="41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15897664" sldId="4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16007585" sldId="4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662009085" sldId="4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02492514" sldId="4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5303601" sldId="4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72253741" sldId="4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3780426" sldId="4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2503861" sldId="4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78228032" sldId="4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21868727" sldId="4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74550136" sldId="4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78328790" sldId="4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77041457" sldId="4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21886896" sldId="4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00060120" sldId="43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364085" sldId="4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562749593" sldId="4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3443945" sldId="4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35142140" sldId="4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6830420" sldId="4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58526831" sldId="4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6389077" sldId="4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28909499" sldId="4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55187822" sldId="4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6909249" sldId="4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57333704" sldId="4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04045078" sldId="4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AD9A4-3449-456F-BCB1-B37D2B162820}" type="datetimeFigureOut">
              <a:rPr lang="vi-VN" smtClean="0"/>
              <a:t>27/08/2025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4DB88-6E80-499D-ABB8-38FBF3AE1A2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443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49648"/>
            <a:ext cx="12192000" cy="690764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2886" y="6356351"/>
            <a:ext cx="2743200" cy="365125"/>
          </a:xfrm>
        </p:spPr>
        <p:txBody>
          <a:bodyPr/>
          <a:lstStyle/>
          <a:p>
            <a:fld id="{601871CC-0A5A-4983-867F-F63CAC6B553F}" type="datetime1">
              <a:rPr lang="vi-VN" smtClean="0"/>
              <a:t>27/08/2025</a:t>
            </a:fld>
            <a:endParaRPr lang="vi-V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330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 userDrawn="1"/>
        </p:nvSpPr>
        <p:spPr>
          <a:xfrm rot="5400000">
            <a:off x="9171884" y="3838468"/>
            <a:ext cx="5623560" cy="411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vi-VN" sz="2300" b="1" i="0" dirty="0">
                <a:solidFill>
                  <a:schemeClr val="accent5">
                    <a:lumMod val="75000"/>
                  </a:schemeClr>
                </a:solidFill>
                <a:effectLst/>
                <a:latin typeface="Helvetica" panose="020B0604020202020204" pitchFamily="34" charset="0"/>
              </a:rPr>
              <a:t>Chapter 13: </a:t>
            </a:r>
            <a:r>
              <a:rPr lang="en-US" sz="2300" b="1" i="0" dirty="0">
                <a:solidFill>
                  <a:schemeClr val="accent5">
                    <a:lumMod val="75000"/>
                  </a:schemeClr>
                </a:solidFill>
                <a:effectLst/>
                <a:latin typeface="Helvetica" panose="020B0604020202020204" pitchFamily="34" charset="0"/>
              </a:rPr>
              <a:t>Data Transmission</a:t>
            </a:r>
            <a:r>
              <a:rPr lang="en-US" sz="23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305"/>
            <a:ext cx="10515600" cy="549274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4303"/>
            <a:ext cx="10515600" cy="5312661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23400" y="6468112"/>
            <a:ext cx="27432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44A9409-5B7A-4A68-9AEC-D10994391474}" type="slidenum">
              <a:rPr lang="vi-VN" smtClean="0"/>
              <a:pPr/>
              <a:t>‹#›</a:t>
            </a:fld>
            <a:endParaRPr lang="vi-VN" dirty="0"/>
          </a:p>
        </p:txBody>
      </p:sp>
      <p:pic>
        <p:nvPicPr>
          <p:cNvPr id="9" name="Picture 8" descr="A black background with text&#10;&#10;Description automatically generated">
            <a:extLst>
              <a:ext uri="{FF2B5EF4-FFF2-40B4-BE49-F238E27FC236}">
                <a16:creationId xmlns:a16="http://schemas.microsoft.com/office/drawing/2014/main" id="{6BF17E32-750A-6C62-EA62-509EF6C9FA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77123"/>
            <a:ext cx="2387692" cy="556277"/>
          </a:xfrm>
          <a:prstGeom prst="rect">
            <a:avLst/>
          </a:prstGeom>
        </p:spPr>
      </p:pic>
      <p:grpSp>
        <p:nvGrpSpPr>
          <p:cNvPr id="68" name="Group 67"/>
          <p:cNvGrpSpPr/>
          <p:nvPr userDrawn="1"/>
        </p:nvGrpSpPr>
        <p:grpSpPr>
          <a:xfrm>
            <a:off x="10955782" y="-1564"/>
            <a:ext cx="1234440" cy="1234718"/>
            <a:chOff x="10963402" y="2246"/>
            <a:chExt cx="1234440" cy="1234718"/>
          </a:xfrm>
        </p:grpSpPr>
        <p:grpSp>
          <p:nvGrpSpPr>
            <p:cNvPr id="65" name="Group 64"/>
            <p:cNvGrpSpPr/>
            <p:nvPr userDrawn="1"/>
          </p:nvGrpSpPr>
          <p:grpSpPr>
            <a:xfrm>
              <a:off x="11786362" y="5171"/>
              <a:ext cx="411480" cy="411481"/>
              <a:chOff x="11782552" y="5171"/>
              <a:chExt cx="411480" cy="411481"/>
            </a:xfrm>
          </p:grpSpPr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104E3744-FC6E-D772-CB2C-94156FE16F5E}"/>
                  </a:ext>
                </a:extLst>
              </p:cNvPr>
              <p:cNvSpPr/>
              <p:nvPr userDrawn="1"/>
            </p:nvSpPr>
            <p:spPr>
              <a:xfrm rot="10800000">
                <a:off x="11782552" y="5172"/>
                <a:ext cx="411480" cy="41148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8" name="Right Triangle 27">
                <a:extLst>
                  <a:ext uri="{FF2B5EF4-FFF2-40B4-BE49-F238E27FC236}">
                    <a16:creationId xmlns:a16="http://schemas.microsoft.com/office/drawing/2014/main" id="{8E526613-AFFA-0BE7-1031-5FE07BE21465}"/>
                  </a:ext>
                </a:extLst>
              </p:cNvPr>
              <p:cNvSpPr/>
              <p:nvPr userDrawn="1"/>
            </p:nvSpPr>
            <p:spPr>
              <a:xfrm>
                <a:off x="11782552" y="5171"/>
                <a:ext cx="411480" cy="41148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3" name="Group 62"/>
            <p:cNvGrpSpPr/>
            <p:nvPr userDrawn="1"/>
          </p:nvGrpSpPr>
          <p:grpSpPr>
            <a:xfrm>
              <a:off x="11786362" y="416048"/>
              <a:ext cx="411480" cy="411480"/>
              <a:chOff x="11790172" y="404618"/>
              <a:chExt cx="411480" cy="411480"/>
            </a:xfrm>
          </p:grpSpPr>
          <p:sp>
            <p:nvSpPr>
              <p:cNvPr id="25" name="Right Triangle 24">
                <a:extLst>
                  <a:ext uri="{FF2B5EF4-FFF2-40B4-BE49-F238E27FC236}">
                    <a16:creationId xmlns:a16="http://schemas.microsoft.com/office/drawing/2014/main" id="{85BC3172-424A-A4E4-CB48-10AEBF5908B8}"/>
                  </a:ext>
                </a:extLst>
              </p:cNvPr>
              <p:cNvSpPr/>
              <p:nvPr userDrawn="1"/>
            </p:nvSpPr>
            <p:spPr>
              <a:xfrm rot="10800000">
                <a:off x="11790172" y="404618"/>
                <a:ext cx="411480" cy="41148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314298E0-6DBD-FD83-9BE9-9C0888F45A6F}"/>
                  </a:ext>
                </a:extLst>
              </p:cNvPr>
              <p:cNvSpPr/>
              <p:nvPr userDrawn="1"/>
            </p:nvSpPr>
            <p:spPr>
              <a:xfrm>
                <a:off x="11790172" y="404618"/>
                <a:ext cx="411480" cy="41148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2" name="Group 61"/>
            <p:cNvGrpSpPr/>
            <p:nvPr userDrawn="1"/>
          </p:nvGrpSpPr>
          <p:grpSpPr>
            <a:xfrm>
              <a:off x="11786362" y="825484"/>
              <a:ext cx="411480" cy="411480"/>
              <a:chOff x="11790172" y="802624"/>
              <a:chExt cx="411480" cy="411480"/>
            </a:xfrm>
          </p:grpSpPr>
          <p:sp>
            <p:nvSpPr>
              <p:cNvPr id="23" name="Right Triangle 22">
                <a:extLst>
                  <a:ext uri="{FF2B5EF4-FFF2-40B4-BE49-F238E27FC236}">
                    <a16:creationId xmlns:a16="http://schemas.microsoft.com/office/drawing/2014/main" id="{91C97430-586C-1852-7B7E-CC8BD43C1F34}"/>
                  </a:ext>
                </a:extLst>
              </p:cNvPr>
              <p:cNvSpPr/>
              <p:nvPr userDrawn="1"/>
            </p:nvSpPr>
            <p:spPr>
              <a:xfrm rot="10800000">
                <a:off x="11790172" y="802624"/>
                <a:ext cx="411480" cy="41148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DE6DCA86-3931-B1AC-3F66-88107D63265F}"/>
                  </a:ext>
                </a:extLst>
              </p:cNvPr>
              <p:cNvSpPr/>
              <p:nvPr userDrawn="1"/>
            </p:nvSpPr>
            <p:spPr>
              <a:xfrm>
                <a:off x="11790172" y="802624"/>
                <a:ext cx="411480" cy="41148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4" name="Group 63"/>
            <p:cNvGrpSpPr/>
            <p:nvPr userDrawn="1"/>
          </p:nvGrpSpPr>
          <p:grpSpPr>
            <a:xfrm>
              <a:off x="11374882" y="416680"/>
              <a:ext cx="411480" cy="411480"/>
              <a:chOff x="11393932" y="409060"/>
              <a:chExt cx="411480" cy="411480"/>
            </a:xfrm>
          </p:grpSpPr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D7B18993-7C91-F71E-F1EB-8E1AD63B2C42}"/>
                  </a:ext>
                </a:extLst>
              </p:cNvPr>
              <p:cNvSpPr/>
              <p:nvPr userDrawn="1"/>
            </p:nvSpPr>
            <p:spPr>
              <a:xfrm rot="10800000">
                <a:off x="11393932" y="409060"/>
                <a:ext cx="411480" cy="41148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" name="Right Triangle 21">
                <a:extLst>
                  <a:ext uri="{FF2B5EF4-FFF2-40B4-BE49-F238E27FC236}">
                    <a16:creationId xmlns:a16="http://schemas.microsoft.com/office/drawing/2014/main" id="{A1832769-9077-3069-4A71-C6696C21BC5F}"/>
                  </a:ext>
                </a:extLst>
              </p:cNvPr>
              <p:cNvSpPr/>
              <p:nvPr userDrawn="1"/>
            </p:nvSpPr>
            <p:spPr>
              <a:xfrm>
                <a:off x="11393932" y="409060"/>
                <a:ext cx="411480" cy="41148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6" name="Group 65"/>
            <p:cNvGrpSpPr/>
            <p:nvPr userDrawn="1"/>
          </p:nvGrpSpPr>
          <p:grpSpPr>
            <a:xfrm>
              <a:off x="11374882" y="5293"/>
              <a:ext cx="411480" cy="411480"/>
              <a:chOff x="11382502" y="-6137"/>
              <a:chExt cx="411480" cy="411480"/>
            </a:xfrm>
          </p:grpSpPr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B3697819-6C2D-176B-5402-026EE5B6ADE0}"/>
                  </a:ext>
                </a:extLst>
              </p:cNvPr>
              <p:cNvSpPr/>
              <p:nvPr userDrawn="1"/>
            </p:nvSpPr>
            <p:spPr>
              <a:xfrm rot="10800000">
                <a:off x="11382502" y="-6137"/>
                <a:ext cx="411480" cy="41148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04B90D12-2C70-58C5-9D99-5E46BABC09A5}"/>
                  </a:ext>
                </a:extLst>
              </p:cNvPr>
              <p:cNvSpPr/>
              <p:nvPr userDrawn="1"/>
            </p:nvSpPr>
            <p:spPr>
              <a:xfrm>
                <a:off x="11382502" y="-6137"/>
                <a:ext cx="411480" cy="41148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7" name="Group 66"/>
            <p:cNvGrpSpPr/>
            <p:nvPr userDrawn="1"/>
          </p:nvGrpSpPr>
          <p:grpSpPr>
            <a:xfrm>
              <a:off x="10963402" y="2246"/>
              <a:ext cx="411480" cy="411481"/>
              <a:chOff x="10997692" y="-1564"/>
              <a:chExt cx="411480" cy="411481"/>
            </a:xfrm>
          </p:grpSpPr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54406F37-F68C-A4C0-E0EF-7C3C6F4796B1}"/>
                  </a:ext>
                </a:extLst>
              </p:cNvPr>
              <p:cNvSpPr/>
              <p:nvPr userDrawn="1"/>
            </p:nvSpPr>
            <p:spPr>
              <a:xfrm rot="10800000">
                <a:off x="10997692" y="-1563"/>
                <a:ext cx="411480" cy="41148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52350476-19B7-4C57-8D0B-4F30375646DF}"/>
                  </a:ext>
                </a:extLst>
              </p:cNvPr>
              <p:cNvSpPr/>
              <p:nvPr userDrawn="1"/>
            </p:nvSpPr>
            <p:spPr>
              <a:xfrm>
                <a:off x="10997692" y="-1564"/>
                <a:ext cx="411480" cy="41148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79" name="Group 78"/>
          <p:cNvGrpSpPr/>
          <p:nvPr userDrawn="1"/>
        </p:nvGrpSpPr>
        <p:grpSpPr>
          <a:xfrm>
            <a:off x="0" y="5223817"/>
            <a:ext cx="1645920" cy="1634359"/>
            <a:chOff x="0" y="5229913"/>
            <a:chExt cx="1645920" cy="1634359"/>
          </a:xfrm>
        </p:grpSpPr>
        <p:grpSp>
          <p:nvGrpSpPr>
            <p:cNvPr id="78" name="Group 77"/>
            <p:cNvGrpSpPr/>
            <p:nvPr userDrawn="1"/>
          </p:nvGrpSpPr>
          <p:grpSpPr>
            <a:xfrm>
              <a:off x="0" y="6453202"/>
              <a:ext cx="411480" cy="411070"/>
              <a:chOff x="0" y="6453202"/>
              <a:chExt cx="411480" cy="411070"/>
            </a:xfrm>
          </p:grpSpPr>
          <p:sp>
            <p:nvSpPr>
              <p:cNvPr id="58" name="Right Triangle 57">
                <a:extLst>
                  <a:ext uri="{FF2B5EF4-FFF2-40B4-BE49-F238E27FC236}">
                    <a16:creationId xmlns:a16="http://schemas.microsoft.com/office/drawing/2014/main" id="{7C6D5D3D-3662-A526-17C5-BFD0909E8140}"/>
                  </a:ext>
                </a:extLst>
              </p:cNvPr>
              <p:cNvSpPr/>
              <p:nvPr userDrawn="1"/>
            </p:nvSpPr>
            <p:spPr>
              <a:xfrm>
                <a:off x="0" y="6453202"/>
                <a:ext cx="411480" cy="41107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Right Triangle 58">
                <a:extLst>
                  <a:ext uri="{FF2B5EF4-FFF2-40B4-BE49-F238E27FC236}">
                    <a16:creationId xmlns:a16="http://schemas.microsoft.com/office/drawing/2014/main" id="{4B987422-BE46-3E2F-0AC8-24EBCC0299B0}"/>
                  </a:ext>
                </a:extLst>
              </p:cNvPr>
              <p:cNvSpPr/>
              <p:nvPr userDrawn="1"/>
            </p:nvSpPr>
            <p:spPr>
              <a:xfrm rot="10800000">
                <a:off x="0" y="6453202"/>
                <a:ext cx="411480" cy="41107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7" name="Group 76"/>
            <p:cNvGrpSpPr/>
            <p:nvPr userDrawn="1"/>
          </p:nvGrpSpPr>
          <p:grpSpPr>
            <a:xfrm>
              <a:off x="0" y="6047253"/>
              <a:ext cx="411480" cy="411070"/>
              <a:chOff x="0" y="6047253"/>
              <a:chExt cx="411480" cy="411070"/>
            </a:xfrm>
          </p:grpSpPr>
          <p:sp>
            <p:nvSpPr>
              <p:cNvPr id="56" name="Right Triangle 55">
                <a:extLst>
                  <a:ext uri="{FF2B5EF4-FFF2-40B4-BE49-F238E27FC236}">
                    <a16:creationId xmlns:a16="http://schemas.microsoft.com/office/drawing/2014/main" id="{C7394C07-0ADF-EEDA-30DD-D0A5219FD07E}"/>
                  </a:ext>
                </a:extLst>
              </p:cNvPr>
              <p:cNvSpPr/>
              <p:nvPr userDrawn="1"/>
            </p:nvSpPr>
            <p:spPr>
              <a:xfrm>
                <a:off x="0" y="604725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Right Triangle 56">
                <a:extLst>
                  <a:ext uri="{FF2B5EF4-FFF2-40B4-BE49-F238E27FC236}">
                    <a16:creationId xmlns:a16="http://schemas.microsoft.com/office/drawing/2014/main" id="{4D6B85FB-6BC6-0DA1-393E-DDC30EFB0268}"/>
                  </a:ext>
                </a:extLst>
              </p:cNvPr>
              <p:cNvSpPr/>
              <p:nvPr userDrawn="1"/>
            </p:nvSpPr>
            <p:spPr>
              <a:xfrm rot="10800000">
                <a:off x="0" y="604725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6" name="Group 75"/>
            <p:cNvGrpSpPr/>
            <p:nvPr userDrawn="1"/>
          </p:nvGrpSpPr>
          <p:grpSpPr>
            <a:xfrm>
              <a:off x="0" y="5638248"/>
              <a:ext cx="411480" cy="411070"/>
              <a:chOff x="0" y="5638248"/>
              <a:chExt cx="411480" cy="411070"/>
            </a:xfrm>
          </p:grpSpPr>
          <p:sp>
            <p:nvSpPr>
              <p:cNvPr id="54" name="Right Triangle 53">
                <a:extLst>
                  <a:ext uri="{FF2B5EF4-FFF2-40B4-BE49-F238E27FC236}">
                    <a16:creationId xmlns:a16="http://schemas.microsoft.com/office/drawing/2014/main" id="{64AB5756-BD28-6111-AFC2-C064394697AA}"/>
                  </a:ext>
                </a:extLst>
              </p:cNvPr>
              <p:cNvSpPr/>
              <p:nvPr userDrawn="1"/>
            </p:nvSpPr>
            <p:spPr>
              <a:xfrm>
                <a:off x="0" y="5638248"/>
                <a:ext cx="411480" cy="41107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Right Triangle 54">
                <a:extLst>
                  <a:ext uri="{FF2B5EF4-FFF2-40B4-BE49-F238E27FC236}">
                    <a16:creationId xmlns:a16="http://schemas.microsoft.com/office/drawing/2014/main" id="{CCF3BB32-E016-3C59-3296-4EA5666D2CA8}"/>
                  </a:ext>
                </a:extLst>
              </p:cNvPr>
              <p:cNvSpPr/>
              <p:nvPr userDrawn="1"/>
            </p:nvSpPr>
            <p:spPr>
              <a:xfrm rot="10800000">
                <a:off x="0" y="5638248"/>
                <a:ext cx="411480" cy="41107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5" name="Group 74"/>
            <p:cNvGrpSpPr/>
            <p:nvPr userDrawn="1"/>
          </p:nvGrpSpPr>
          <p:grpSpPr>
            <a:xfrm>
              <a:off x="411480" y="6047253"/>
              <a:ext cx="411480" cy="411070"/>
              <a:chOff x="411480" y="6047253"/>
              <a:chExt cx="411480" cy="411070"/>
            </a:xfrm>
          </p:grpSpPr>
          <p:sp>
            <p:nvSpPr>
              <p:cNvPr id="52" name="Right Triangle 51">
                <a:extLst>
                  <a:ext uri="{FF2B5EF4-FFF2-40B4-BE49-F238E27FC236}">
                    <a16:creationId xmlns:a16="http://schemas.microsoft.com/office/drawing/2014/main" id="{8C6B3CA5-8D03-6992-787E-9636C5AE54D9}"/>
                  </a:ext>
                </a:extLst>
              </p:cNvPr>
              <p:cNvSpPr/>
              <p:nvPr userDrawn="1"/>
            </p:nvSpPr>
            <p:spPr>
              <a:xfrm>
                <a:off x="411480" y="6047253"/>
                <a:ext cx="411480" cy="41107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Right Triangle 52">
                <a:extLst>
                  <a:ext uri="{FF2B5EF4-FFF2-40B4-BE49-F238E27FC236}">
                    <a16:creationId xmlns:a16="http://schemas.microsoft.com/office/drawing/2014/main" id="{01491534-CB37-A450-3A13-CF46EEAB6A5F}"/>
                  </a:ext>
                </a:extLst>
              </p:cNvPr>
              <p:cNvSpPr/>
              <p:nvPr userDrawn="1"/>
            </p:nvSpPr>
            <p:spPr>
              <a:xfrm rot="10800000">
                <a:off x="411480" y="6047253"/>
                <a:ext cx="411480" cy="41107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4" name="Group 73"/>
            <p:cNvGrpSpPr/>
            <p:nvPr userDrawn="1"/>
          </p:nvGrpSpPr>
          <p:grpSpPr>
            <a:xfrm>
              <a:off x="411480" y="6453202"/>
              <a:ext cx="411480" cy="411070"/>
              <a:chOff x="411480" y="6453202"/>
              <a:chExt cx="411480" cy="411070"/>
            </a:xfrm>
          </p:grpSpPr>
          <p:sp>
            <p:nvSpPr>
              <p:cNvPr id="50" name="Right Triangle 49">
                <a:extLst>
                  <a:ext uri="{FF2B5EF4-FFF2-40B4-BE49-F238E27FC236}">
                    <a16:creationId xmlns:a16="http://schemas.microsoft.com/office/drawing/2014/main" id="{032EDF53-67B9-900C-C2F0-BBC97BA72643}"/>
                  </a:ext>
                </a:extLst>
              </p:cNvPr>
              <p:cNvSpPr/>
              <p:nvPr userDrawn="1"/>
            </p:nvSpPr>
            <p:spPr>
              <a:xfrm>
                <a:off x="411480" y="6453202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Right Triangle 50">
                <a:extLst>
                  <a:ext uri="{FF2B5EF4-FFF2-40B4-BE49-F238E27FC236}">
                    <a16:creationId xmlns:a16="http://schemas.microsoft.com/office/drawing/2014/main" id="{4860B01E-AAAF-1DB6-003C-7E22ADC21D9A}"/>
                  </a:ext>
                </a:extLst>
              </p:cNvPr>
              <p:cNvSpPr/>
              <p:nvPr userDrawn="1"/>
            </p:nvSpPr>
            <p:spPr>
              <a:xfrm rot="10800000">
                <a:off x="411480" y="6453202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3" name="Group 72"/>
            <p:cNvGrpSpPr/>
            <p:nvPr userDrawn="1"/>
          </p:nvGrpSpPr>
          <p:grpSpPr>
            <a:xfrm>
              <a:off x="822960" y="6453202"/>
              <a:ext cx="411480" cy="411070"/>
              <a:chOff x="822960" y="6453202"/>
              <a:chExt cx="411480" cy="411070"/>
            </a:xfrm>
          </p:grpSpPr>
          <p:sp>
            <p:nvSpPr>
              <p:cNvPr id="48" name="Right Triangle 47">
                <a:extLst>
                  <a:ext uri="{FF2B5EF4-FFF2-40B4-BE49-F238E27FC236}">
                    <a16:creationId xmlns:a16="http://schemas.microsoft.com/office/drawing/2014/main" id="{51E62297-F581-4EDA-971E-CF6196E49344}"/>
                  </a:ext>
                </a:extLst>
              </p:cNvPr>
              <p:cNvSpPr/>
              <p:nvPr userDrawn="1"/>
            </p:nvSpPr>
            <p:spPr>
              <a:xfrm>
                <a:off x="822960" y="6453202"/>
                <a:ext cx="411480" cy="41107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9" name="Right Triangle 48">
                <a:extLst>
                  <a:ext uri="{FF2B5EF4-FFF2-40B4-BE49-F238E27FC236}">
                    <a16:creationId xmlns:a16="http://schemas.microsoft.com/office/drawing/2014/main" id="{037A4B95-4C76-3379-FE66-7604FC49E7DB}"/>
                  </a:ext>
                </a:extLst>
              </p:cNvPr>
              <p:cNvSpPr/>
              <p:nvPr userDrawn="1"/>
            </p:nvSpPr>
            <p:spPr>
              <a:xfrm rot="10800000">
                <a:off x="822960" y="6453202"/>
                <a:ext cx="411480" cy="41107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2" name="Group 71"/>
            <p:cNvGrpSpPr/>
            <p:nvPr userDrawn="1"/>
          </p:nvGrpSpPr>
          <p:grpSpPr>
            <a:xfrm>
              <a:off x="0" y="5229913"/>
              <a:ext cx="411480" cy="411070"/>
              <a:chOff x="0" y="5229913"/>
              <a:chExt cx="411480" cy="411070"/>
            </a:xfrm>
          </p:grpSpPr>
          <p:sp>
            <p:nvSpPr>
              <p:cNvPr id="46" name="Right Triangle 45">
                <a:extLst>
                  <a:ext uri="{FF2B5EF4-FFF2-40B4-BE49-F238E27FC236}">
                    <a16:creationId xmlns:a16="http://schemas.microsoft.com/office/drawing/2014/main" id="{DB35D46E-FCF1-09E4-645B-AE13B4E0622F}"/>
                  </a:ext>
                </a:extLst>
              </p:cNvPr>
              <p:cNvSpPr/>
              <p:nvPr userDrawn="1"/>
            </p:nvSpPr>
            <p:spPr>
              <a:xfrm>
                <a:off x="0" y="522991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Right Triangle 46">
                <a:extLst>
                  <a:ext uri="{FF2B5EF4-FFF2-40B4-BE49-F238E27FC236}">
                    <a16:creationId xmlns:a16="http://schemas.microsoft.com/office/drawing/2014/main" id="{B49A6AD1-D826-C7CB-D1D8-20588CC9E0D1}"/>
                  </a:ext>
                </a:extLst>
              </p:cNvPr>
              <p:cNvSpPr/>
              <p:nvPr userDrawn="1"/>
            </p:nvSpPr>
            <p:spPr>
              <a:xfrm rot="10800000">
                <a:off x="0" y="522991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1" name="Group 70"/>
            <p:cNvGrpSpPr/>
            <p:nvPr userDrawn="1"/>
          </p:nvGrpSpPr>
          <p:grpSpPr>
            <a:xfrm>
              <a:off x="411480" y="5640998"/>
              <a:ext cx="411480" cy="411070"/>
              <a:chOff x="411480" y="5640998"/>
              <a:chExt cx="411480" cy="411070"/>
            </a:xfrm>
          </p:grpSpPr>
          <p:sp>
            <p:nvSpPr>
              <p:cNvPr id="44" name="Right Triangle 43">
                <a:extLst>
                  <a:ext uri="{FF2B5EF4-FFF2-40B4-BE49-F238E27FC236}">
                    <a16:creationId xmlns:a16="http://schemas.microsoft.com/office/drawing/2014/main" id="{DFBD8121-710E-1D40-00C8-2B5565B6AD50}"/>
                  </a:ext>
                </a:extLst>
              </p:cNvPr>
              <p:cNvSpPr/>
              <p:nvPr userDrawn="1"/>
            </p:nvSpPr>
            <p:spPr>
              <a:xfrm>
                <a:off x="411480" y="5640998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1A9F5181-C41C-5F10-DD79-042329A130E6}"/>
                  </a:ext>
                </a:extLst>
              </p:cNvPr>
              <p:cNvSpPr/>
              <p:nvPr userDrawn="1"/>
            </p:nvSpPr>
            <p:spPr>
              <a:xfrm rot="10800000">
                <a:off x="411480" y="5640998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0" name="Group 69"/>
            <p:cNvGrpSpPr/>
            <p:nvPr userDrawn="1"/>
          </p:nvGrpSpPr>
          <p:grpSpPr>
            <a:xfrm>
              <a:off x="823898" y="6047253"/>
              <a:ext cx="411480" cy="411070"/>
              <a:chOff x="823898" y="6047253"/>
              <a:chExt cx="411480" cy="411070"/>
            </a:xfrm>
          </p:grpSpPr>
          <p:sp>
            <p:nvSpPr>
              <p:cNvPr id="42" name="Right Triangle 41">
                <a:extLst>
                  <a:ext uri="{FF2B5EF4-FFF2-40B4-BE49-F238E27FC236}">
                    <a16:creationId xmlns:a16="http://schemas.microsoft.com/office/drawing/2014/main" id="{6BE3AD03-0CF2-35C6-CC4D-76C769359E09}"/>
                  </a:ext>
                </a:extLst>
              </p:cNvPr>
              <p:cNvSpPr/>
              <p:nvPr userDrawn="1"/>
            </p:nvSpPr>
            <p:spPr>
              <a:xfrm>
                <a:off x="823898" y="604725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Right Triangle 42">
                <a:extLst>
                  <a:ext uri="{FF2B5EF4-FFF2-40B4-BE49-F238E27FC236}">
                    <a16:creationId xmlns:a16="http://schemas.microsoft.com/office/drawing/2014/main" id="{E5C70DCE-2D30-1D7B-37FF-8E01E3974699}"/>
                  </a:ext>
                </a:extLst>
              </p:cNvPr>
              <p:cNvSpPr/>
              <p:nvPr userDrawn="1"/>
            </p:nvSpPr>
            <p:spPr>
              <a:xfrm rot="10800000">
                <a:off x="823898" y="604725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9" name="Group 68"/>
            <p:cNvGrpSpPr/>
            <p:nvPr userDrawn="1"/>
          </p:nvGrpSpPr>
          <p:grpSpPr>
            <a:xfrm>
              <a:off x="1234440" y="6453202"/>
              <a:ext cx="411480" cy="411070"/>
              <a:chOff x="1234440" y="6453202"/>
              <a:chExt cx="411480" cy="411070"/>
            </a:xfrm>
          </p:grpSpPr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13D4CC00-97A2-F50D-DF0C-7CCE44AE3948}"/>
                  </a:ext>
                </a:extLst>
              </p:cNvPr>
              <p:cNvSpPr/>
              <p:nvPr userDrawn="1"/>
            </p:nvSpPr>
            <p:spPr>
              <a:xfrm>
                <a:off x="1234440" y="6453202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Right Triangle 40">
                <a:extLst>
                  <a:ext uri="{FF2B5EF4-FFF2-40B4-BE49-F238E27FC236}">
                    <a16:creationId xmlns:a16="http://schemas.microsoft.com/office/drawing/2014/main" id="{B251A9F0-2DBC-52AA-438D-2222805A9A96}"/>
                  </a:ext>
                </a:extLst>
              </p:cNvPr>
              <p:cNvSpPr/>
              <p:nvPr userDrawn="1"/>
            </p:nvSpPr>
            <p:spPr>
              <a:xfrm rot="10800000">
                <a:off x="1234440" y="6453202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F96A4DE9-D7F0-3ED7-4C5A-62CC32974557}"/>
              </a:ext>
            </a:extLst>
          </p:cNvPr>
          <p:cNvSpPr/>
          <p:nvPr userDrawn="1"/>
        </p:nvSpPr>
        <p:spPr>
          <a:xfrm>
            <a:off x="838199" y="773819"/>
            <a:ext cx="10515600" cy="7605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 rot="16200000">
            <a:off x="-2412378" y="2412376"/>
            <a:ext cx="5236237" cy="4114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/>
            <a:r>
              <a:rPr lang="en-US" sz="2600" b="1" dirty="0">
                <a:solidFill>
                  <a:schemeClr val="tx1"/>
                </a:solidFill>
              </a:rPr>
              <a:t>DIGITAL</a:t>
            </a:r>
            <a:r>
              <a:rPr lang="en-US" sz="2600" b="1" baseline="0" dirty="0">
                <a:solidFill>
                  <a:schemeClr val="tx1"/>
                </a:solidFill>
              </a:rPr>
              <a:t> CIRCUITS–DIC201</a:t>
            </a: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70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1F7E-FD57-456B-9E1D-D84D10372E3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011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5618-61FB-4D94-96B8-BAD5A8A7457A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97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F10F2-F3BF-4562-89DD-2B10CBD3EE05}" type="datetime1">
              <a:rPr lang="vi-VN" smtClean="0"/>
              <a:t>27/08/2025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088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AE0-EA4F-42A1-B148-AD9AC22A56DF}" type="datetime1">
              <a:rPr lang="vi-VN" smtClean="0"/>
              <a:t>27/08/2025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237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7A0B-B56F-4F52-BBCA-98B3D074167B}" type="datetime1">
              <a:rPr lang="vi-VN" smtClean="0"/>
              <a:t>27/08/2025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861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DE86-437B-42AF-8A10-BA5649300010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748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CE396-3CB5-4BA0-A842-49E646427416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757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99CBF-0E0B-4833-8FCB-2A6D36E2DE7D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644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1296-5D61-485A-8F80-0E9D6FAC6189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662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85421"/>
            <a:ext cx="10515600" cy="519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245E8-9FF8-49CD-8CA9-21B3335B7E4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075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1127D-97D4-0200-8E17-A46606337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52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>
                <a:solidFill>
                  <a:schemeClr val="tx1"/>
                </a:solidFill>
              </a:rPr>
              <a:t>1</a:t>
            </a:fld>
            <a:endParaRPr lang="vi-VN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CF3735-88FE-51EE-7EA1-A930D1D9D4F9}"/>
              </a:ext>
            </a:extLst>
          </p:cNvPr>
          <p:cNvSpPr txBox="1">
            <a:spLocks/>
          </p:cNvSpPr>
          <p:nvPr/>
        </p:nvSpPr>
        <p:spPr>
          <a:xfrm>
            <a:off x="1239628" y="1574178"/>
            <a:ext cx="4710598" cy="2126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Chapter 13: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Data Transmission 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vi-V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32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217305"/>
            <a:ext cx="766064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Objectives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1145259"/>
            <a:ext cx="10657167" cy="456748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</a:rPr>
              <a:t>After studying this chapter, students should be able to: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Describe various types of data transmission media and methods.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Explain transmission modes and techniques for digital signal modulation.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Define and differentiate </a:t>
            </a: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multiplexing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demultiplexing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Discuss types of </a:t>
            </a: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buses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, their characteristics, and communication protocols.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Explain </a:t>
            </a: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multiplexed buses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tri-state outputs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Present common bus standards such as </a:t>
            </a: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PCI, USB, RS-232, SPI, I²C, CAN, SCSI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, etc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DAF8E-AF0A-A556-8FFA-586CA276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242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217305"/>
            <a:ext cx="770128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Contents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2538" y="901148"/>
            <a:ext cx="9591261" cy="556696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13.1.</a:t>
            </a:r>
            <a:r>
              <a:rPr lang="en-US" sz="2400" dirty="0"/>
              <a:t> Data Transmission Media</a:t>
            </a:r>
            <a:br>
              <a:rPr lang="en-US" sz="2400" dirty="0"/>
            </a:br>
            <a:r>
              <a:rPr lang="en-US" sz="2400" b="1" dirty="0"/>
              <a:t>13.2.</a:t>
            </a:r>
            <a:r>
              <a:rPr lang="en-US" sz="2400" dirty="0"/>
              <a:t> Methods and Modes of Data Transmission</a:t>
            </a:r>
            <a:br>
              <a:rPr lang="en-US" sz="2400" dirty="0"/>
            </a:br>
            <a:r>
              <a:rPr lang="en-US" sz="2400" b="1" dirty="0"/>
              <a:t>13.3.</a:t>
            </a:r>
            <a:r>
              <a:rPr lang="en-US" sz="2400" dirty="0"/>
              <a:t> Modulation of Analog Signals with Digital Data</a:t>
            </a:r>
            <a:br>
              <a:rPr lang="en-US" sz="2400" dirty="0"/>
            </a:br>
            <a:r>
              <a:rPr lang="en-US" sz="2400" b="1" dirty="0"/>
              <a:t>13.4.</a:t>
            </a:r>
            <a:r>
              <a:rPr lang="en-US" sz="2400" dirty="0"/>
              <a:t> Modulation of Digital Signals with Analog Data</a:t>
            </a:r>
            <a:br>
              <a:rPr lang="en-US" sz="2400" dirty="0"/>
            </a:br>
            <a:r>
              <a:rPr lang="en-US" sz="2400" b="1" dirty="0"/>
              <a:t>13.5.</a:t>
            </a:r>
            <a:r>
              <a:rPr lang="en-US" sz="2400" dirty="0"/>
              <a:t> Multiplexing and Demultiplexing</a:t>
            </a:r>
            <a:br>
              <a:rPr lang="en-US" sz="2400" dirty="0"/>
            </a:br>
            <a:r>
              <a:rPr lang="en-US" sz="2400" b="1" dirty="0"/>
              <a:t>13.6.</a:t>
            </a:r>
            <a:r>
              <a:rPr lang="en-US" sz="2400" dirty="0"/>
              <a:t> Bus Basics</a:t>
            </a:r>
            <a:br>
              <a:rPr lang="en-US" sz="2400" dirty="0"/>
            </a:br>
            <a:r>
              <a:rPr lang="en-US" sz="2400" b="1" dirty="0"/>
              <a:t>13.7.</a:t>
            </a:r>
            <a:r>
              <a:rPr lang="en-US" sz="2400" dirty="0"/>
              <a:t> Parallel Buses</a:t>
            </a:r>
            <a:br>
              <a:rPr lang="en-US" sz="2400" dirty="0"/>
            </a:br>
            <a:r>
              <a:rPr lang="en-US" sz="2400" b="1" dirty="0"/>
              <a:t>13.8.</a:t>
            </a:r>
            <a:r>
              <a:rPr lang="en-US" sz="2400" dirty="0"/>
              <a:t> The Universal Serial Bus (USB)</a:t>
            </a:r>
            <a:br>
              <a:rPr lang="en-US" sz="2400" dirty="0"/>
            </a:br>
            <a:r>
              <a:rPr lang="en-US" sz="2400" b="1" dirty="0"/>
              <a:t>13.9.</a:t>
            </a:r>
            <a:r>
              <a:rPr lang="en-US" sz="2400" dirty="0"/>
              <a:t> Other Serial Buses</a:t>
            </a:r>
            <a:br>
              <a:rPr lang="en-US" sz="2400" dirty="0"/>
            </a:br>
            <a:r>
              <a:rPr lang="en-US" sz="2400" b="1" dirty="0"/>
              <a:t>13.10.</a:t>
            </a:r>
            <a:r>
              <a:rPr lang="en-US" sz="2400" dirty="0"/>
              <a:t> Bus Interfacing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95D3F3-2FA5-0262-798E-21155E4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190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13.1.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Data Transmission Media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Wire Connections </a:t>
            </a:r>
            <a:br>
              <a:rPr lang="en-US" sz="2000" dirty="0"/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4</a:t>
            </a:fld>
            <a:endParaRPr lang="vi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BEE021-E757-4A23-8419-F99164331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321" y="1403237"/>
            <a:ext cx="8364117" cy="1800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F4BC3F-7DF2-4F99-8558-BA86B98D9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733" y="3429000"/>
            <a:ext cx="4866534" cy="2675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721FD7-A68C-47C7-AF8A-87F909FEC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284" y="3946146"/>
            <a:ext cx="7211431" cy="23911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035C03-9C57-423C-96D5-0C017BF88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440" y="6436207"/>
            <a:ext cx="9145276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2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13.1.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Data Transmission Media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Coaxial Cable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Twisted Pair Cable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5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D516A-8566-475A-85F6-3BAD4547C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210" y="978408"/>
            <a:ext cx="5035242" cy="2235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1781A1-45C7-430D-B9E9-6C2867E8D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210" y="4200061"/>
            <a:ext cx="7297168" cy="201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FC980A-C5A3-4C18-BB20-5DED866A9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999" y="6399920"/>
            <a:ext cx="7768976" cy="3059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DD2574-79F4-4BBB-A1FB-7AF4AC8F4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9999" y="3502463"/>
            <a:ext cx="5180247" cy="40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6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13.1.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Data Transmission Media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112" y="912546"/>
            <a:ext cx="9999869" cy="558299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Optical Fiber Cable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6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AEB1F8-7280-4D9F-B3B7-1D2AEC54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644" y="912545"/>
            <a:ext cx="7732010" cy="2718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08B5AA-8655-4EF9-98DD-8A787B82F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432" y="4661158"/>
            <a:ext cx="7997359" cy="1788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4CDCCA-3038-4EDE-9851-47C9AD7BF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39" y="2428154"/>
            <a:ext cx="2905530" cy="1228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620A92-9DB4-42A1-828C-1A4D711B12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562" y="4061583"/>
            <a:ext cx="3713950" cy="4297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029E25-CD01-4DEB-894E-8C7948557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0514" y="6365736"/>
            <a:ext cx="5944486" cy="4297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FE486C-0910-43EB-9484-364F74467A35}"/>
              </a:ext>
            </a:extLst>
          </p:cNvPr>
          <p:cNvSpPr txBox="1"/>
          <p:nvPr/>
        </p:nvSpPr>
        <p:spPr>
          <a:xfrm>
            <a:off x="412142" y="3814775"/>
            <a:ext cx="3713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97AD"/>
                </a:solidFill>
                <a:effectLst/>
                <a:latin typeface="Helvetica-Black"/>
                <a:ea typeface="Times New Roman" panose="02020603050405020304" pitchFamily="18" charset="0"/>
                <a:cs typeface="Times New Roman" panose="02020603050405020304" pitchFamily="18" charset="0"/>
              </a:rPr>
              <a:t>FIGURE 13–6 </a:t>
            </a:r>
            <a:r>
              <a:rPr lang="en-US" sz="1800" dirty="0">
                <a:solidFill>
                  <a:srgbClr val="242021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Light propagating through an optical fiber while reflecting off the internal</a:t>
            </a:r>
            <a:r>
              <a:rPr lang="en-US" sz="1600" dirty="0">
                <a:solidFill>
                  <a:srgbClr val="0097AD"/>
                </a:solidFill>
                <a:effectLst/>
                <a:latin typeface="Helvetica-Black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42021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surface.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950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13.1.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Data Transmission Media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A Fiber-Optic Data Communications Link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44CB79-8B95-4908-8C85-E196009A4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723" y="1421216"/>
            <a:ext cx="8898015" cy="1564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F27EC2-AF84-4517-8D31-0B408E547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779" y="2979558"/>
            <a:ext cx="7310442" cy="426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349F46-9BE3-42BE-8F73-9DF8CE8A2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779" y="3406100"/>
            <a:ext cx="4618711" cy="330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7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13.1.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Data Transmission Media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Wireless Transmission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Radio and microwave signals propagate through the atmosphere in three main ways: </a:t>
            </a:r>
            <a:r>
              <a:rPr lang="en-US" b="1" dirty="0"/>
              <a:t>ground wave</a:t>
            </a:r>
            <a:r>
              <a:rPr lang="en-US" dirty="0"/>
              <a:t>, </a:t>
            </a:r>
            <a:r>
              <a:rPr lang="en-US" b="1" dirty="0"/>
              <a:t>ionospheric</a:t>
            </a:r>
            <a:r>
              <a:rPr lang="en-US" dirty="0"/>
              <a:t>, and </a:t>
            </a:r>
            <a:r>
              <a:rPr lang="en-US" b="1" dirty="0"/>
              <a:t>line-of-sight</a:t>
            </a:r>
            <a:r>
              <a:rPr lang="en-US" dirty="0"/>
              <a:t>, each with different distance limits and usage depending on frequency, terrain, and transmission method.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8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87BF18-B1D8-4F49-8525-44605B1BC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32" y="2595306"/>
            <a:ext cx="11232765" cy="26928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63BE01-BD1E-477E-92BB-0D0BE3272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795" y="6187342"/>
            <a:ext cx="7388909" cy="40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0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13.2.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Methods and Modes of Data Transmission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5895892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Serial and Parallel Data </a:t>
            </a:r>
            <a:br>
              <a:rPr lang="en-US" sz="2000" dirty="0"/>
            </a:b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Serial data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transmission is when data are transmitted one bit at a time in a bit stream</a:t>
            </a:r>
            <a:r>
              <a:rPr lang="en-US" dirty="0">
                <a:latin typeface="Aptos (Body)"/>
              </a:rPr>
              <a:t> </a:t>
            </a:r>
            <a:br>
              <a:rPr lang="en-US" dirty="0">
                <a:latin typeface="Aptos (Body)"/>
              </a:rPr>
            </a:b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Parallel data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transmission is when data are transmitted several bits at a time</a:t>
            </a:r>
            <a:r>
              <a:rPr lang="en-US" dirty="0">
                <a:latin typeface="Aptos (Body)"/>
              </a:rPr>
              <a:t> </a:t>
            </a:r>
            <a:br>
              <a:rPr lang="en-US" dirty="0">
                <a:latin typeface="Aptos (Body)"/>
              </a:rPr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9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57A7F6-CA74-42F0-A74A-F27AB980D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852" y="932285"/>
            <a:ext cx="4218498" cy="2987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0B5A6D-557E-4EFD-BE14-05D4051B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029" y="4023337"/>
            <a:ext cx="7715184" cy="2169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14F062-0CE3-40AB-B123-383FF084B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027" y="6315209"/>
            <a:ext cx="4525006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5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13.2.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Methods and Modes of Data Transmission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Asynchronous Data </a:t>
            </a:r>
            <a:br>
              <a:rPr lang="en-US" sz="2000" dirty="0"/>
            </a:br>
            <a:endParaRPr lang="en-US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000" dirty="0">
              <a:latin typeface="Aptos (Body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000" dirty="0">
              <a:latin typeface="Aptos (Body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000" dirty="0">
              <a:latin typeface="Aptos (Body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Synchronous Data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lang="en-US" dirty="0">
                <a:latin typeface="Aptos (Body)"/>
              </a:rPr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10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1342DF-2880-4C07-8047-361859CC7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232" y="1476696"/>
            <a:ext cx="9711809" cy="1703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152336-B2B9-41EF-AA8E-3E4A9AAB6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205" y="4562039"/>
            <a:ext cx="9392961" cy="1638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11A75D-3235-4256-A054-03228933E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970" y="6349117"/>
            <a:ext cx="9072804" cy="389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D4AC67-7F11-4E26-BFF4-CED37D382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0498" y="3384255"/>
            <a:ext cx="9145276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33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13.2.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Methods and Modes of Data Transmission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Synchronous Frames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Data Rate </a:t>
            </a:r>
            <a:br>
              <a:rPr lang="en-US" sz="1600" dirty="0"/>
            </a:br>
            <a:br>
              <a:rPr lang="en-US" sz="2000" dirty="0"/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11</a:t>
            </a:fld>
            <a:endParaRPr lang="vi-V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590EF-5AA2-4127-9F1C-42D82C5D1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192" y="1118083"/>
            <a:ext cx="7106642" cy="9907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A7DBB9-9B8F-4242-A084-862FC36D1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643" y="2248496"/>
            <a:ext cx="5563376" cy="3334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465E75-B161-4D6B-9006-DB5A6590D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841" y="3248041"/>
            <a:ext cx="5190192" cy="17300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BB3EDE-D397-473D-813F-8437E4EBF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524" y="3870151"/>
            <a:ext cx="657317" cy="4858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6A53A4-4C47-48EC-8DAC-38DA8A18A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2563" y="5429401"/>
            <a:ext cx="7868748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28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13.2.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Methods and Modes of Data Transmission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Transmission Efficiency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Transmission Modes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000" dirty="0"/>
            </a:br>
            <a:br>
              <a:rPr lang="en-US" dirty="0">
                <a:latin typeface="Aptos (Body)"/>
              </a:rPr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12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99B900-F19C-4925-B5CA-6EECFCE2F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986" y="1530708"/>
            <a:ext cx="5956084" cy="854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5DDB4C-5E12-4DA6-9656-CC126ED1A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6" y="3429000"/>
            <a:ext cx="10859267" cy="2088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E2B69F-11CC-4E26-AF65-ECB064CF2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083" y="5914399"/>
            <a:ext cx="5034053" cy="51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24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Modulation of Analog Signals with Digital Data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Amplitude-Shift Keying </a:t>
            </a:r>
            <a:br>
              <a:rPr lang="en-US" sz="2000" dirty="0"/>
            </a:br>
            <a:r>
              <a:rPr lang="en-US" b="1" dirty="0"/>
              <a:t>Amplitude-shift keying (ASK) </a:t>
            </a:r>
            <a:r>
              <a:rPr lang="en-US" dirty="0"/>
              <a:t>is a form of modulation in which a digital signal varies the amplitude of a higher frequency sine wave (carrier). In its simplest form, a sinusoidal carrier signal is turned on and off by the data signal and, therefore, this method is also known</a:t>
            </a:r>
            <a:br>
              <a:rPr lang="en-US" dirty="0"/>
            </a:br>
            <a:r>
              <a:rPr lang="en-US" dirty="0"/>
              <a:t>as </a:t>
            </a:r>
            <a:r>
              <a:rPr lang="en-US" b="1" dirty="0"/>
              <a:t>on-off keying (OOK). </a:t>
            </a:r>
            <a:br>
              <a:rPr lang="en-US" dirty="0"/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13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633F4-310B-4C4E-B462-D9E093D99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627782"/>
            <a:ext cx="10220630" cy="322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94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Modulation of Analog Signals with Digital Data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Frequency-Shift Keying </a:t>
            </a:r>
            <a:br>
              <a:rPr lang="en-US" sz="2000" dirty="0"/>
            </a:br>
            <a:r>
              <a:rPr lang="en-US" b="1" dirty="0"/>
              <a:t>Frequency-shift keying (FSK) </a:t>
            </a:r>
            <a:r>
              <a:rPr lang="en-US" dirty="0"/>
              <a:t>is a form of modulation in which a digital signal modulates the frequency of a higher frequency sine wave (carrier). A carrier signal with a lower frequency generally represents a binary 0, and a carrier signal with a higher frequency represents a binary 1.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14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092543-3BA5-46EC-AAA6-B17E627B8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54" y="3609369"/>
            <a:ext cx="9709523" cy="2366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A49881-3170-42B4-81F7-D7042ACFC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012" y="6267188"/>
            <a:ext cx="6439605" cy="38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17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Modulation of Analog Signals with Digital Data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Phase-Shift Keying </a:t>
            </a:r>
            <a:br>
              <a:rPr lang="en-US" sz="2000" dirty="0"/>
            </a:br>
            <a:r>
              <a:rPr lang="en-US" b="1" dirty="0"/>
              <a:t>Phase-shift keying (PSK) </a:t>
            </a:r>
            <a:r>
              <a:rPr lang="en-US" dirty="0"/>
              <a:t>is a form of modulation in which a digital signal modulates the phase of a higher frequency sine wave. A carrier signal of one phase generally represents a binary 1, and a carrier signal that is 180° </a:t>
            </a:r>
            <a:r>
              <a:rPr lang="en-US" b="1" dirty="0"/>
              <a:t>out-of-phase</a:t>
            </a:r>
            <a:r>
              <a:rPr lang="en-US" dirty="0"/>
              <a:t> represents a binary 0.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15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3FDCC-BCB9-4DA6-ACFD-9AF601577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120" y="3429000"/>
            <a:ext cx="9469759" cy="2282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57FB28-36DC-421C-9018-71C580574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724" y="6194157"/>
            <a:ext cx="6157450" cy="54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136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Modulation of Analog Signals with Digital Data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783876"/>
            <a:ext cx="10865457" cy="560804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Quadrature Amplitude Modulation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16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77417-CC5F-4F4B-A5BF-A9E8E94E9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20" y="1495578"/>
            <a:ext cx="3258711" cy="4578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C7FCE7-DAC8-4A28-8036-A84C8C88C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1" y="6063314"/>
            <a:ext cx="8001188" cy="807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AE10C2-2B98-4BBA-9592-E4CDAAD55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501" y="2245260"/>
            <a:ext cx="7373327" cy="21167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C1F8F5-E95D-4840-92E5-6BB93AD60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801" y="4658345"/>
            <a:ext cx="776720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Modulation of Analog Signals with Digital Data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756" y="978408"/>
            <a:ext cx="1069366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Constellation Maps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5054CE-1286-4897-9B93-A21DE232B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155" y="1326675"/>
            <a:ext cx="5254002" cy="43172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4E4B6D-BD19-44F4-A6CE-160FF6FF8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527" y="6067315"/>
            <a:ext cx="8507012" cy="790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5DE260-4249-427D-A0C3-A24B774AD7D0}"/>
              </a:ext>
            </a:extLst>
          </p:cNvPr>
          <p:cNvSpPr txBox="1"/>
          <p:nvPr/>
        </p:nvSpPr>
        <p:spPr>
          <a:xfrm>
            <a:off x="994756" y="1642745"/>
            <a:ext cx="3961076" cy="3577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200" dirty="0"/>
              <a:t>Modulated transmission of digital data can be represented by a constellation map, which is a vector representation that graphically shows the symbol values and corresponding phases being transmitted by a system </a:t>
            </a:r>
            <a:br>
              <a:rPr lang="en-US" sz="22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22209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13.4.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Modulation of Digital Signals with Analog Data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Pulse Amplitude Modulation </a:t>
            </a:r>
            <a:br>
              <a:rPr lang="en-US" sz="2000" dirty="0"/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18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DC199E-E454-4022-9628-8C6C811C7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513" y="842770"/>
            <a:ext cx="3266337" cy="18333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FCBDE9-FD25-4AE2-AA92-451E9B945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20" y="2960661"/>
            <a:ext cx="11343932" cy="3899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EDC170-AA00-4458-801F-1059D697D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546" y="2887962"/>
            <a:ext cx="4315420" cy="54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250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13.4.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Modulation of Digital Signals with Analog Data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Pulse Width Modulation </a:t>
            </a:r>
            <a:br>
              <a:rPr lang="en-US" sz="2000" dirty="0"/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000" dirty="0"/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19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89C2E2-443C-4324-8186-471D63BA0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827" y="2137135"/>
            <a:ext cx="7087589" cy="3096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A6253D-4641-4FA6-B2AA-36C93807D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28" y="2386244"/>
            <a:ext cx="4081036" cy="2841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EBA9A0-5912-457A-8ED4-2E61523C5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27" y="5688704"/>
            <a:ext cx="3319919" cy="323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3A6E24-1120-4830-BB83-E10FC3C80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843" y="5703174"/>
            <a:ext cx="5105733" cy="35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12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13.4.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Modulation of Digital Signals with Analog Data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Pulse Position Modulation </a:t>
            </a:r>
            <a:br>
              <a:rPr lang="en-US" sz="2000" dirty="0"/>
            </a:br>
            <a:br>
              <a:rPr lang="en-US" sz="2000" dirty="0"/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20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97CFF3-BE2E-4D3D-BA54-18A5863CD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944" y="1832978"/>
            <a:ext cx="6544588" cy="1152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F4942E-2F47-4F7F-9D3B-4CB73420B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947" y="4075046"/>
            <a:ext cx="10097868" cy="1941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576677-1210-417B-BB3A-8CE87841C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385" y="6220447"/>
            <a:ext cx="3686689" cy="342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1AF2A4-2180-4138-B8B9-7F8B22DB2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378" y="3360641"/>
            <a:ext cx="4525006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07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13.4.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Modulation of Digital Signals with Analog Data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Pulse Code Modulation </a:t>
            </a:r>
            <a:br>
              <a:rPr lang="en-US" sz="1600" dirty="0"/>
            </a:br>
            <a:br>
              <a:rPr lang="en-US" sz="2000" dirty="0"/>
            </a:br>
            <a:br>
              <a:rPr lang="en-US" sz="2000" dirty="0"/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21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898507-3923-4A90-ADA8-9BB9A7217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26" y="902217"/>
            <a:ext cx="5341771" cy="3355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066FD5-2ADD-45B8-9D47-B42918FF9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162" y="4406263"/>
            <a:ext cx="4163300" cy="278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D239A6-40B0-4500-8285-BD099456C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784" y="4688964"/>
            <a:ext cx="9535766" cy="194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88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13.4.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Modulation of Digital Signals with Analog Data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Digital Data Systems </a:t>
            </a:r>
            <a:br>
              <a:rPr lang="en-US" sz="2000" dirty="0"/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22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2AEA65-14D2-4B52-A195-22CDF7107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16" y="1771362"/>
            <a:ext cx="10961968" cy="38276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0D300F-267C-416E-856F-6FAB8203A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812" y="6096585"/>
            <a:ext cx="6544588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67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13.5.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Multiplexing and Demultiplexing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Time-Division Multiplexing </a:t>
            </a:r>
            <a:br>
              <a:rPr lang="en-US" sz="2000" dirty="0"/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23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86FBE7-F6B8-4E53-BF47-E3D3EF532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417" y="1522020"/>
            <a:ext cx="9240540" cy="1667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147449-BDE2-4234-A06B-6B5439C5B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390" y="3741346"/>
            <a:ext cx="7006674" cy="2367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D8E0F2-C7F1-4D37-88B2-06911A627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592" y="6253769"/>
            <a:ext cx="4620270" cy="428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1478F9-4408-46D6-9EFD-937A795B7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8592" y="3387250"/>
            <a:ext cx="4220164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22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13.5.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Multiplexing and Demultiplexing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Bit-Interleaved TDM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000" dirty="0"/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24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65F9CE-275F-422A-A8A7-F5F2C817C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48" y="1170213"/>
            <a:ext cx="7001852" cy="50299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3E8500-6B43-4E82-BB8C-A8C37C2DD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078" y="6391920"/>
            <a:ext cx="5848119" cy="45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66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13.5.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Multiplexing and Demultiplexing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766580"/>
            <a:ext cx="10865457" cy="562534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Byte-Interleaved TDM </a:t>
            </a:r>
            <a:br>
              <a:rPr lang="en-US" sz="2000" dirty="0"/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000" dirty="0"/>
            </a:br>
            <a:endParaRPr lang="en-US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25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C890A5-3643-42E3-8E99-B4EB28716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826" y="978408"/>
            <a:ext cx="7663500" cy="1403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0E2CE9-0654-45E2-AE31-486AF6497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173" y="2922104"/>
            <a:ext cx="9730424" cy="3911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F3C888-4584-486A-B1B4-ACDFBAB9E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548" y="2480788"/>
            <a:ext cx="4559382" cy="30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226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13.5.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Multiplexing and Demultiplexing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766580"/>
            <a:ext cx="10865457" cy="562534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Synchronous TDM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Statistical TDM </a:t>
            </a:r>
            <a:br>
              <a:rPr lang="en-US" sz="2000" dirty="0"/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26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4699DF-C498-4D75-938E-39FC7831D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037" y="1314592"/>
            <a:ext cx="7766160" cy="21022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D1FAB6-8CD4-4F52-9E94-244DDD4FC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779" y="4180361"/>
            <a:ext cx="7567990" cy="2102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E88D43-EDCD-42B4-B19F-92399358A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310" y="6401770"/>
            <a:ext cx="6838771" cy="3163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24B451-C560-4BD0-B980-E85A2C232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3310" y="3429000"/>
            <a:ext cx="7056459" cy="32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76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13.5.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Multiplexing and Demultiplexing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876642"/>
            <a:ext cx="10865457" cy="55152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Frequency-Division Multiplexing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8DC8FF-91BD-4714-A859-3520386D6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92" y="1622522"/>
            <a:ext cx="7079532" cy="2657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D02554-3F61-421B-B318-6FD6F1545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884" y="3358975"/>
            <a:ext cx="6905531" cy="2657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97C5C4-4313-4CF2-8BD1-D1F3F0EEB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84" y="4733484"/>
            <a:ext cx="5817702" cy="21791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033951-DBEA-48D9-8860-17E52631E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33" y="6358050"/>
            <a:ext cx="5262435" cy="30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23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13.6.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Bus Basics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Bus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r>
              <a:rPr lang="en-US" dirty="0">
                <a:latin typeface="Aptos Display (Headings)"/>
              </a:rPr>
              <a:t>A bus allows two or more devices to communicate with each other, generally </a:t>
            </a:r>
            <a:r>
              <a:rPr lang="vi-VN" dirty="0">
                <a:latin typeface="Aptos Display (Headings)"/>
              </a:rPr>
              <a:t>to transmit</a:t>
            </a:r>
            <a:r>
              <a:rPr lang="en-US" dirty="0">
                <a:latin typeface="Aptos Display (Headings)"/>
              </a:rPr>
              <a:t> data. </a:t>
            </a:r>
            <a:br>
              <a:rPr lang="en-US" dirty="0">
                <a:latin typeface="Aptos Display (Headings)"/>
              </a:rPr>
            </a:br>
            <a:br>
              <a:rPr lang="en-US" dirty="0"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28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B8E802-9507-448F-A647-581DF0BAA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56" y="2488243"/>
            <a:ext cx="9402487" cy="3572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47C405-4A52-4C51-8215-2E1082D70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993" y="6391922"/>
            <a:ext cx="6350357" cy="35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20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13.6.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Bus Basics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Single-Ended vs. Differential Buses </a:t>
            </a:r>
            <a:br>
              <a:rPr lang="en-US" sz="2000" dirty="0"/>
            </a:br>
            <a:br>
              <a:rPr lang="en-US" sz="2000" dirty="0"/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29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60A400-4A9A-4AA6-83D6-0347F3BB3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630" y="1562072"/>
            <a:ext cx="5468113" cy="4829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F0E53C-1E56-45CC-909E-9AA7659F5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760" y="6497800"/>
            <a:ext cx="6201640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313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13.7.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Parallel Buses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766580"/>
            <a:ext cx="10865457" cy="562534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PCI-Express Bus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30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D01C4-5CB8-409B-9ACF-15C28D047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84" y="1741639"/>
            <a:ext cx="4532838" cy="3374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D23E23-C2F2-4916-B613-34F7617BC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60" y="978408"/>
            <a:ext cx="4869181" cy="4361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63DA91-0C7E-4167-B447-29ED2152A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009" y="5778620"/>
            <a:ext cx="5969982" cy="39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22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13.7.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Parallel Buses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IEEE-488 Bus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31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3AC94D-0C0D-4269-888D-646C0539F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690" y="1517320"/>
            <a:ext cx="8631447" cy="47244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739E50-9547-4159-A0CF-B48EC3F3D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814" y="6228837"/>
            <a:ext cx="4734586" cy="476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7E31F2-F191-49DB-8561-A5E194BAA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92" y="1644339"/>
            <a:ext cx="2653395" cy="92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23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13.7.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Parallel Buses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IEEE-488 Bus </a:t>
            </a:r>
            <a:endParaRPr lang="vi-VN" sz="2400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Aptos Display (Headings)"/>
              </a:rPr>
              <a:t>Timing diagram </a:t>
            </a:r>
            <a:br>
              <a:rPr lang="en-US" sz="2000" dirty="0"/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32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ABB117-0B88-4A9F-A6F7-EED67A86E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790" y="1923361"/>
            <a:ext cx="8446210" cy="4341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DA5439-2845-44B1-B9EC-473D532A4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923" y="6413933"/>
            <a:ext cx="7240010" cy="409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61DA8-E853-4154-8BA1-CAA5DF245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669" y="902217"/>
            <a:ext cx="2305375" cy="80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1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13.8.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Universal Serial Bus (USB)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USB Cable and Connectors </a:t>
            </a:r>
            <a:br>
              <a:rPr lang="en-US" sz="2000" dirty="0"/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33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516D0-D875-4116-A54B-336334F9D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907" y="1108837"/>
            <a:ext cx="5933598" cy="49531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71A350-DF62-4D72-9CFB-575C214DD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444" y="6375973"/>
            <a:ext cx="6134956" cy="457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420110-28FC-437D-B6D4-0D403CB4A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19" y="3023084"/>
            <a:ext cx="2800741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07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13.8.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Universal Serial Bus (USB)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478" y="1258957"/>
            <a:ext cx="10296938" cy="513296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USB 3.0 </a:t>
            </a:r>
            <a:br>
              <a:rPr lang="en-US" sz="2000" dirty="0"/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34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EC9BAC-459B-444F-98E9-1637655ED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46" y="2515609"/>
            <a:ext cx="5687219" cy="1876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9C495D-17FD-468E-BC1C-F367370AA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439" y="1922241"/>
            <a:ext cx="5155815" cy="3258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C306A9-563E-479D-A428-C243FF337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417" y="5510143"/>
            <a:ext cx="3915321" cy="276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FDBB07-4FBA-4F72-AF6F-014C3CD0E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98" y="5057052"/>
            <a:ext cx="4086795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461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13.9.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Other Serial Buses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RS-232/422/423/485 Buses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b="1" i="1" dirty="0">
                <a:latin typeface="Aptos Display (Headings)"/>
              </a:rPr>
              <a:t> </a:t>
            </a:r>
            <a:r>
              <a:rPr lang="en-US" b="1" i="0" dirty="0">
                <a:effectLst/>
                <a:latin typeface="Helvetica-Bold"/>
              </a:rPr>
              <a:t>RS-232 Bus</a:t>
            </a:r>
            <a:r>
              <a:rPr lang="en-US" b="1" dirty="0"/>
              <a:t>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35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AC80FD-F695-4C0E-9449-E0C30F9A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060" y="2079373"/>
            <a:ext cx="4429743" cy="2276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F9289E-D422-4EF3-9F12-4D74E8B6C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04" y="1136274"/>
            <a:ext cx="2857899" cy="4305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94033F-5219-4600-AA46-C99A033D0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799" y="4356166"/>
            <a:ext cx="2386299" cy="21720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7BE2E2-352E-47F4-920D-A5CA81179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620" y="6291450"/>
            <a:ext cx="821910" cy="3910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5BA280-183C-4D23-AAFC-75B8389D87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5086" y="6069472"/>
            <a:ext cx="5077534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3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13.9.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Other Serial Buses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RS-232/422/423/485 Buses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b="1" i="0" dirty="0">
                <a:effectLst/>
                <a:latin typeface="Helvetica-Bold"/>
              </a:rPr>
              <a:t>RS-422/423/485</a:t>
            </a:r>
            <a:r>
              <a:rPr lang="en-US" dirty="0"/>
              <a:t> </a:t>
            </a:r>
            <a:br>
              <a:rPr lang="en-US" sz="1400" dirty="0"/>
            </a:br>
            <a:r>
              <a:rPr lang="en-US" dirty="0"/>
              <a:t>The </a:t>
            </a:r>
            <a:r>
              <a:rPr lang="en-US" b="1" dirty="0"/>
              <a:t>RS-422 bus </a:t>
            </a:r>
            <a:r>
              <a:rPr lang="en-US" dirty="0"/>
              <a:t>provides for differential transmission for greater distances (longer cable</a:t>
            </a:r>
            <a:r>
              <a:rPr lang="vi-VN" dirty="0"/>
              <a:t> </a:t>
            </a:r>
            <a:r>
              <a:rPr lang="en-US" dirty="0"/>
              <a:t>length) and has higher data rates than the RS-232 bus. </a:t>
            </a:r>
            <a:br>
              <a:rPr lang="en-US" dirty="0"/>
            </a:b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36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9C3A6D-40D5-4E87-9A1E-BD503443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168" y="3124199"/>
            <a:ext cx="9648423" cy="313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68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13.9.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Other Serial Buses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SPI Bus </a:t>
            </a:r>
            <a:br>
              <a:rPr lang="en-US" sz="2000" dirty="0"/>
            </a:br>
            <a:r>
              <a:rPr lang="en-US" sz="2000" dirty="0"/>
              <a:t>The SPI bus is typically used in embedded systems and on PCBs for communication</a:t>
            </a:r>
            <a:r>
              <a:rPr lang="vi-VN" sz="2000" dirty="0"/>
              <a:t> </a:t>
            </a:r>
            <a:r>
              <a:rPr lang="en-US" sz="2000" dirty="0"/>
              <a:t>between microprocessors or microcontrollers and peripheral IC chips or between two processors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.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EDB4E5-DA46-4D34-8C77-9CC56462A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40" y="2963232"/>
            <a:ext cx="4972319" cy="25600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563CAF-635B-4C8C-BEEC-68A0AA3EA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880" y="5735067"/>
            <a:ext cx="4352240" cy="28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30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13.9.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Other Serial Buses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978408"/>
            <a:ext cx="10865457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I2C</a:t>
            </a:r>
            <a:r>
              <a:rPr lang="en-US" sz="1800" b="0" i="0" dirty="0">
                <a:solidFill>
                  <a:srgbClr val="00803E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Bus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b="1" dirty="0">
                <a:latin typeface="Aptos Display (Headings)"/>
              </a:rPr>
              <a:t>I2C bus </a:t>
            </a:r>
            <a:r>
              <a:rPr lang="en-US" dirty="0">
                <a:latin typeface="Aptos Display (Headings)"/>
              </a:rPr>
              <a:t>(pronounced I squared C) is also stated at I2C (I two C) and stands for inter</a:t>
            </a:r>
            <a:r>
              <a:rPr lang="vi-VN" dirty="0">
                <a:latin typeface="Aptos Display (Headings)"/>
              </a:rPr>
              <a:t>-</a:t>
            </a:r>
            <a:r>
              <a:rPr lang="en-US" dirty="0">
                <a:latin typeface="Aptos Display (Headings)"/>
              </a:rPr>
              <a:t>integrated circuit. It is an internal serial bus primarily for connecting ICs on a PCB.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38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EEE4B9-57E6-4854-95F8-5C8C2F8C1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02" y="3008243"/>
            <a:ext cx="8707196" cy="2517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F1DEC7-240E-4ED0-A7BE-DFD51900A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110" y="6067582"/>
            <a:ext cx="7931779" cy="44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107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13.9.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Other Serial Buses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78" y="791730"/>
            <a:ext cx="10601738" cy="56001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CAN Bus </a:t>
            </a:r>
            <a:br>
              <a:rPr lang="en-US" sz="2000" dirty="0"/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39</a:t>
            </a:fld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C1282D-BB54-4D92-8A43-90A74EF2B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399" y="1699246"/>
            <a:ext cx="7845192" cy="4692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D9E074-D9F8-4A06-8451-8355BA9E5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887" y="1302302"/>
            <a:ext cx="7486154" cy="892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4B78DC-F50F-4DA8-87EA-ED7868F6C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824" y="6417071"/>
            <a:ext cx="5806352" cy="3733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73200D-BEFE-414C-9FED-CE94C55C50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995" y="2591826"/>
            <a:ext cx="4020111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323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13.9.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Other Serial Buses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40904"/>
            <a:ext cx="10865456" cy="54510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Firewire Bus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40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CF42C2-35FF-4BC8-88AA-5730641BA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006" y="1641534"/>
            <a:ext cx="9181988" cy="40436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3CB209-4712-48B3-81DE-93599E0A2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084" y="6015235"/>
            <a:ext cx="7339334" cy="3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674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13.10.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Bus Interfacing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40904"/>
            <a:ext cx="10865456" cy="54510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Basic Multiplexed Buses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41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40E11E-33BA-42DD-941E-C5B20146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250" y="1983078"/>
            <a:ext cx="8805500" cy="2891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D052F6-DEA3-4BBC-B9DD-007560ED9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164" y="5515489"/>
            <a:ext cx="9154803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218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13.10.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Bus Interfacing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40904"/>
            <a:ext cx="10865456" cy="54510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Connecting Devices to a Bus </a:t>
            </a:r>
            <a:br>
              <a:rPr lang="en-US" sz="2000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42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589002-9AA1-4279-BE41-CEAA8C257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99" y="940904"/>
            <a:ext cx="3779344" cy="54972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D62EFE-0F45-473E-BBD4-760EDC702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6203"/>
            <a:ext cx="5511011" cy="1825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A4A4B2-66A9-44B5-869C-4193075E6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50" y="4781826"/>
            <a:ext cx="4591691" cy="352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BCCB51-88DA-4169-A2F4-E0AA637CF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515" y="6438131"/>
            <a:ext cx="4020111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616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SUMMARY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783" y="1391478"/>
            <a:ext cx="9886121" cy="5262676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data transmission system</a:t>
            </a: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consists of three main components: the sending device, transmission medium, and receiving device.</a:t>
            </a:r>
            <a:endParaRPr lang="en-US" sz="2000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Data can be transmitted</a:t>
            </a: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through physical connections such as coaxial cables, twisted pairs, optical fibers, or </a:t>
            </a:r>
            <a:r>
              <a:rPr lang="en-US" sz="20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wirelessly</a:t>
            </a: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through the air.</a:t>
            </a:r>
            <a:endParaRPr lang="en-US" sz="2000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sz="20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three RF/microwave propagation methods</a:t>
            </a: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: ground wave, ionospheric reflection, and line-of-sight transmission.</a:t>
            </a:r>
            <a:endParaRPr lang="en-US" sz="2000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Two main data transmission types are </a:t>
            </a:r>
            <a:r>
              <a:rPr lang="en-US" sz="20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synchronous</a:t>
            </a: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asynchronous</a:t>
            </a: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, and data can be encoded using RZ/NRZ or Manchester encoding.</a:t>
            </a:r>
            <a:endParaRPr lang="en-US" sz="2000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Multiplexing</a:t>
            </a: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allows multiple digital data streams to be transmitted over a single communication channel; </a:t>
            </a:r>
            <a:r>
              <a:rPr lang="en-US" sz="20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demultiplexing</a:t>
            </a: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separates them.</a:t>
            </a:r>
            <a:endParaRPr lang="en-US" sz="2000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has physical and electrical properties such as number of conductors, configuration, voltage levels, clock signals, bandwidth, data format, etc.</a:t>
            </a:r>
            <a:endParaRPr lang="en-US" sz="2000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Common bus types include </a:t>
            </a:r>
            <a:r>
              <a:rPr lang="en-US" sz="20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parallel buses</a:t>
            </a: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(e.g., PCI, AGP) and </a:t>
            </a:r>
            <a:r>
              <a:rPr lang="en-US" sz="20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serial buses</a:t>
            </a:r>
            <a:r>
              <a:rPr lang="en-US" sz="20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(e.g., USB, RS-232, SPI, I²C), operating in either synchronous or asynchronous modes.</a:t>
            </a:r>
            <a:endParaRPr lang="en-US" sz="2000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b="1" i="1" dirty="0">
              <a:solidFill>
                <a:srgbClr val="00B0F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43</a:t>
            </a:fld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A7B579-B374-4407-8EB1-CBF8DB15545C}"/>
              </a:ext>
            </a:extLst>
          </p:cNvPr>
          <p:cNvSpPr txBox="1"/>
          <p:nvPr/>
        </p:nvSpPr>
        <p:spPr>
          <a:xfrm>
            <a:off x="1165087" y="868258"/>
            <a:ext cx="85475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Aptos (Body)"/>
                <a:cs typeface="Times New Roman" panose="02020603050405020304" pitchFamily="18" charset="0"/>
              </a:rPr>
              <a:t>Chapter 13: Data Transmission </a:t>
            </a:r>
          </a:p>
        </p:txBody>
      </p:sp>
    </p:spTree>
    <p:extLst>
      <p:ext uri="{BB962C8B-B14F-4D97-AF65-F5344CB8AC3E}">
        <p14:creationId xmlns:p14="http://schemas.microsoft.com/office/powerpoint/2010/main" val="28029600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C23C-E04A-4EDE-A572-3C9C5AF0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MULTIPLE-CHOICE TEST AND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1463-7E92-4307-A413-68226604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82" y="2621884"/>
            <a:ext cx="10515600" cy="1976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</a:rPr>
              <a:t>Complete the true/false questions, multiple-choice questions, and end-of-chapter exercises in the primary textbook.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A8595-C7DB-4A6B-833E-76AEA3A0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44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472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6852</TotalTime>
  <Words>1313</Words>
  <Application>Microsoft Office PowerPoint</Application>
  <PresentationFormat>Widescreen</PresentationFormat>
  <Paragraphs>167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6" baseType="lpstr">
      <vt:lpstr>Aptos</vt:lpstr>
      <vt:lpstr>Aptos (Body)</vt:lpstr>
      <vt:lpstr>Aptos Display</vt:lpstr>
      <vt:lpstr>Aptos Display (Headings)</vt:lpstr>
      <vt:lpstr>Arial</vt:lpstr>
      <vt:lpstr>Calibri</vt:lpstr>
      <vt:lpstr>Helvetica</vt:lpstr>
      <vt:lpstr>Helvetica-Black</vt:lpstr>
      <vt:lpstr>Helvetica-Bold</vt:lpstr>
      <vt:lpstr>Times New Roman</vt:lpstr>
      <vt:lpstr>Times-Roman</vt:lpstr>
      <vt:lpstr>Office Theme</vt:lpstr>
      <vt:lpstr>PowerPoint Presentation</vt:lpstr>
      <vt:lpstr>Objectives</vt:lpstr>
      <vt:lpstr>Contents</vt:lpstr>
      <vt:lpstr>13.1. Data Transmission Media</vt:lpstr>
      <vt:lpstr>13.1. Data Transmission Media</vt:lpstr>
      <vt:lpstr>13.1. Data Transmission Media</vt:lpstr>
      <vt:lpstr>13.1. Data Transmission Media</vt:lpstr>
      <vt:lpstr>13.1. Data Transmission Media</vt:lpstr>
      <vt:lpstr>13.2. Methods and Modes of Data Transmission</vt:lpstr>
      <vt:lpstr>13.2. Methods and Modes of Data Transmission</vt:lpstr>
      <vt:lpstr>13.2. Methods and Modes of Data Transmission</vt:lpstr>
      <vt:lpstr>13.2. Methods and Modes of Data Transmission</vt:lpstr>
      <vt:lpstr>13.3. Modulation of Analog Signals with Digital Data</vt:lpstr>
      <vt:lpstr>13.3. Modulation of Analog Signals with Digital Data</vt:lpstr>
      <vt:lpstr>13.3. Modulation of Analog Signals with Digital Data</vt:lpstr>
      <vt:lpstr>13.3. Modulation of Analog Signals with Digital Data</vt:lpstr>
      <vt:lpstr>13.3. Modulation of Analog Signals with Digital Data</vt:lpstr>
      <vt:lpstr>13.4. Modulation of Digital Signals with Analog Data</vt:lpstr>
      <vt:lpstr>13.4. Modulation of Digital Signals with Analog Data</vt:lpstr>
      <vt:lpstr>13.4. Modulation of Digital Signals with Analog Data</vt:lpstr>
      <vt:lpstr>13.4. Modulation of Digital Signals with Analog Data</vt:lpstr>
      <vt:lpstr>13.4. Modulation of Digital Signals with Analog Data</vt:lpstr>
      <vt:lpstr>13.5. Multiplexing and Demultiplexing</vt:lpstr>
      <vt:lpstr>13.5. Multiplexing and Demultiplexing</vt:lpstr>
      <vt:lpstr>13.5. Multiplexing and Demultiplexing</vt:lpstr>
      <vt:lpstr>13.5. Multiplexing and Demultiplexing</vt:lpstr>
      <vt:lpstr>13.5. Multiplexing and Demultiplexing</vt:lpstr>
      <vt:lpstr>13.6. Bus Basics</vt:lpstr>
      <vt:lpstr>13.6. Bus Basics</vt:lpstr>
      <vt:lpstr>13.7. Parallel Buses</vt:lpstr>
      <vt:lpstr>13.7. Parallel Buses</vt:lpstr>
      <vt:lpstr>13.7. Parallel Buses</vt:lpstr>
      <vt:lpstr>13.8. The Universal Serial Bus (USB)</vt:lpstr>
      <vt:lpstr>13.8. The Universal Serial Bus (USB)</vt:lpstr>
      <vt:lpstr>13.9. Other Serial Buses</vt:lpstr>
      <vt:lpstr>13.9. Other Serial Buses</vt:lpstr>
      <vt:lpstr>13.9. Other Serial Buses</vt:lpstr>
      <vt:lpstr>13.9. Other Serial Buses</vt:lpstr>
      <vt:lpstr>13.9. Other Serial Buses</vt:lpstr>
      <vt:lpstr>13.9. Other Serial Buses</vt:lpstr>
      <vt:lpstr>13.10. Bus Interfacing</vt:lpstr>
      <vt:lpstr>13.10. Bus Interfacing</vt:lpstr>
      <vt:lpstr>SUMMARY</vt:lpstr>
      <vt:lpstr>MULTIPLE-CHOICE TEST AND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Chapter 1: Electrical fundamentals 1.1. Fundamentals units (SI) 1.2. Conductors, insulators, voltage and resistance 1.3. Ohm’s Law 1.4. Electric fields 1.5. Magnetic fields 1.6. Circuit diagrams 1.7. Practical investigation &amp; Problems</dc:title>
  <dc:creator>MaiCV2</dc:creator>
  <cp:keywords>ICI101</cp:keywords>
  <cp:lastModifiedBy>Đặng Văn Hiếu</cp:lastModifiedBy>
  <cp:revision>273</cp:revision>
  <dcterms:created xsi:type="dcterms:W3CDTF">2024-04-08T01:59:57Z</dcterms:created>
  <dcterms:modified xsi:type="dcterms:W3CDTF">2025-08-27T03:46:45Z</dcterms:modified>
</cp:coreProperties>
</file>