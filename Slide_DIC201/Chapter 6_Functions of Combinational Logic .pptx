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8" r:id="rId2"/>
    <p:sldId id="327" r:id="rId3"/>
    <p:sldId id="296" r:id="rId4"/>
    <p:sldId id="329" r:id="rId5"/>
    <p:sldId id="378" r:id="rId6"/>
    <p:sldId id="379" r:id="rId7"/>
    <p:sldId id="370" r:id="rId8"/>
    <p:sldId id="380" r:id="rId9"/>
    <p:sldId id="382" r:id="rId10"/>
    <p:sldId id="381" r:id="rId11"/>
    <p:sldId id="371" r:id="rId12"/>
    <p:sldId id="383" r:id="rId13"/>
    <p:sldId id="384" r:id="rId14"/>
    <p:sldId id="372" r:id="rId15"/>
    <p:sldId id="385" r:id="rId16"/>
    <p:sldId id="373" r:id="rId17"/>
    <p:sldId id="374" r:id="rId18"/>
    <p:sldId id="375" r:id="rId19"/>
    <p:sldId id="376" r:id="rId20"/>
    <p:sldId id="388" r:id="rId21"/>
    <p:sldId id="389" r:id="rId22"/>
    <p:sldId id="390" r:id="rId23"/>
    <p:sldId id="386" r:id="rId24"/>
    <p:sldId id="391" r:id="rId25"/>
    <p:sldId id="393" r:id="rId26"/>
    <p:sldId id="392" r:id="rId27"/>
    <p:sldId id="387" r:id="rId28"/>
    <p:sldId id="394" r:id="rId29"/>
    <p:sldId id="377" r:id="rId30"/>
    <p:sldId id="395" r:id="rId31"/>
    <p:sldId id="368" r:id="rId32"/>
    <p:sldId id="36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4249" autoAdjust="0"/>
  </p:normalViewPr>
  <p:slideViewPr>
    <p:cSldViewPr snapToGrid="0">
      <p:cViewPr varScale="1">
        <p:scale>
          <a:sx n="72" d="100"/>
          <a:sy n="72" d="100"/>
        </p:scale>
        <p:origin x="330"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1139687" y="0"/>
            <a:ext cx="5102087" cy="5274365"/>
          </a:xfrm>
        </p:spPr>
        <p:txBody>
          <a:bodyPr>
            <a:normAutofit/>
          </a:bodyPr>
          <a:lstStyle/>
          <a:p>
            <a:r>
              <a:rPr lang="en-US" b="1" dirty="0"/>
              <a:t>Chapter 6: Functions of Combinational Logic </a:t>
            </a:r>
            <a:br>
              <a:rPr lang="en-US" b="1" dirty="0"/>
            </a:br>
            <a:br>
              <a:rPr lang="en-US" b="1"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Distinguish between half-adders and full-adders, and use full-adders to build multi-bit parallel binary adders.</a:t>
            </a:r>
          </a:p>
          <a:p>
            <a:pPr marL="0" marR="0"/>
            <a:r>
              <a:rPr lang="en-US" dirty="0">
                <a:effectLst/>
                <a:latin typeface="Aptos (Body)"/>
                <a:ea typeface="Times New Roman" panose="02020603050405020304" pitchFamily="18" charset="0"/>
              </a:rPr>
              <a:t>Explain the operation of ripple carry and look-ahead carry adders.</a:t>
            </a:r>
          </a:p>
          <a:p>
            <a:pPr marL="0" marR="0"/>
            <a:r>
              <a:rPr lang="en-US" dirty="0">
                <a:effectLst/>
                <a:latin typeface="Aptos (Body)"/>
                <a:ea typeface="Times New Roman" panose="02020603050405020304" pitchFamily="18" charset="0"/>
              </a:rPr>
              <a:t>Use magnitude comparators to determine the relationship between binary numbers, including using cascaded comparators for multi-bit comparisons.</a:t>
            </a:r>
          </a:p>
          <a:p>
            <a:pPr marL="0" marR="0"/>
            <a:r>
              <a:rPr lang="en-US" dirty="0">
                <a:effectLst/>
                <a:latin typeface="Aptos (Body)"/>
                <a:ea typeface="Times New Roman" panose="02020603050405020304" pitchFamily="18" charset="0"/>
              </a:rPr>
              <a:t>Design and implement basic binary decoders and BCD-to-7-segment decoders.</a:t>
            </a:r>
          </a:p>
          <a:p>
            <a:pPr marL="0" marR="0"/>
            <a:r>
              <a:rPr lang="en-US" dirty="0">
                <a:effectLst/>
                <a:latin typeface="Aptos (Body)"/>
                <a:ea typeface="Times New Roman" panose="02020603050405020304" pitchFamily="18" charset="0"/>
              </a:rPr>
              <a:t>Use encoders, such as priority encoders, and perform binary-to-Gray code and Gray code-to-binary conversions.</a:t>
            </a:r>
          </a:p>
          <a:p>
            <a:pPr marL="0" marR="0"/>
            <a:r>
              <a:rPr lang="en-US" dirty="0">
                <a:effectLst/>
                <a:latin typeface="Aptos (Body)"/>
                <a:ea typeface="Times New Roman" panose="02020603050405020304" pitchFamily="18" charset="0"/>
              </a:rPr>
              <a:t>Apply parity checkers and multiplexers in digital systems and use them as function generators.</a:t>
            </a:r>
          </a:p>
          <a:p>
            <a:pPr marL="0" marR="0" indent="0">
              <a:lnSpc>
                <a:spcPct val="107000"/>
              </a:lnSpc>
              <a:spcBef>
                <a:spcPts val="0"/>
              </a:spcBef>
              <a:spcAft>
                <a:spcPts val="800"/>
              </a:spcAft>
              <a:buNone/>
            </a:pP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Aptos (Body)"/>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dirty="0">
              <a:solidFill>
                <a:srgbClr val="0D0D0D"/>
              </a:solidFill>
              <a:latin typeface="Aptos (Body)"/>
            </a:endParaRPr>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2266121" y="901148"/>
            <a:ext cx="9395791" cy="5820329"/>
          </a:xfrm>
        </p:spPr>
        <p:txBody>
          <a:bodyPr>
            <a:noAutofit/>
          </a:bodyPr>
          <a:lstStyle/>
          <a:p>
            <a:pPr marL="0" indent="0">
              <a:lnSpc>
                <a:spcPct val="150000"/>
              </a:lnSpc>
              <a:buNone/>
            </a:pPr>
            <a:r>
              <a:rPr lang="en-US" dirty="0">
                <a:latin typeface="Aptos (Body)"/>
                <a:cs typeface="Times New Roman" panose="02020603050405020304" pitchFamily="18" charset="0"/>
              </a:rPr>
              <a:t>6.1 Half and Full Adders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6.2 Parallel Binary Adders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6.3 Ripple Carry and Look-Ahead Carry Adders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6.4 Comparators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6.5 Decoders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6.6 Encoders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6.7 Code Converters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6.8 Multiplexers (Data Selectors)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6.9 Demultiplexers</a:t>
            </a:r>
            <a:br>
              <a:rPr lang="en-US" dirty="0">
                <a:latin typeface="Aptos (Body)"/>
                <a:cs typeface="Times New Roman" panose="02020603050405020304" pitchFamily="18" charset="0"/>
              </a:rPr>
            </a:br>
            <a:r>
              <a:rPr lang="en-US" dirty="0">
                <a:latin typeface="Aptos (Body)"/>
                <a:cs typeface="Times New Roman" panose="02020603050405020304" pitchFamily="18" charset="0"/>
              </a:rPr>
              <a:t>6.10 Parity Generators/Checker</a:t>
            </a:r>
          </a:p>
          <a:p>
            <a:pPr marL="0" indent="0">
              <a:lnSpc>
                <a:spcPct val="150000"/>
              </a:lnSpc>
              <a:spcBef>
                <a:spcPts val="0"/>
              </a:spcBef>
              <a:spcAft>
                <a:spcPts val="1200"/>
              </a:spcAft>
              <a:buNone/>
            </a:pPr>
            <a:r>
              <a:rPr lang="en-US" dirty="0">
                <a:solidFill>
                  <a:schemeClr val="tx2">
                    <a:lumMod val="50000"/>
                    <a:lumOff val="50000"/>
                  </a:schemeClr>
                </a:solidFill>
                <a:latin typeface="Aptos (Body)"/>
                <a:cs typeface="Times New Roman" panose="02020603050405020304" pitchFamily="18" charset="0"/>
              </a:rPr>
              <a:t>Multiple-choice test and Problem</a:t>
            </a:r>
            <a:r>
              <a:rPr lang="en-US" dirty="0">
                <a:solidFill>
                  <a:schemeClr val="tx2">
                    <a:lumMod val="50000"/>
                    <a:lumOff val="50000"/>
                  </a:schemeClr>
                </a:solidFill>
                <a:latin typeface="Aptos (Body)"/>
              </a:rPr>
              <a:t>s</a:t>
            </a:r>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6.1 Half and Full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Half-Adder </a:t>
            </a:r>
          </a:p>
          <a:p>
            <a:pPr marL="0" indent="0">
              <a:lnSpc>
                <a:spcPct val="100000"/>
              </a:lnSpc>
              <a:buNone/>
            </a:pPr>
            <a:r>
              <a:rPr lang="en-US" dirty="0">
                <a:solidFill>
                  <a:srgbClr val="242021"/>
                </a:solidFill>
                <a:latin typeface="Aptos (Body)"/>
              </a:rPr>
              <a:t>Half-adder adds two bits and produces a sum and an output carry. </a:t>
            </a:r>
            <a:br>
              <a:rPr lang="en-US" sz="1200" dirty="0"/>
            </a:b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pic>
        <p:nvPicPr>
          <p:cNvPr id="3" name="Picture 2">
            <a:extLst>
              <a:ext uri="{FF2B5EF4-FFF2-40B4-BE49-F238E27FC236}">
                <a16:creationId xmlns:a16="http://schemas.microsoft.com/office/drawing/2014/main" id="{68D7E3F7-1196-4113-AD24-623C49DC4C4D}"/>
              </a:ext>
            </a:extLst>
          </p:cNvPr>
          <p:cNvPicPr>
            <a:picLocks noChangeAspect="1"/>
          </p:cNvPicPr>
          <p:nvPr/>
        </p:nvPicPr>
        <p:blipFill>
          <a:blip r:embed="rId2"/>
          <a:stretch>
            <a:fillRect/>
          </a:stretch>
        </p:blipFill>
        <p:spPr>
          <a:xfrm>
            <a:off x="1354135" y="2488972"/>
            <a:ext cx="2408108" cy="2363513"/>
          </a:xfrm>
          <a:prstGeom prst="rect">
            <a:avLst/>
          </a:prstGeom>
        </p:spPr>
      </p:pic>
      <p:pic>
        <p:nvPicPr>
          <p:cNvPr id="5" name="Picture 4">
            <a:extLst>
              <a:ext uri="{FF2B5EF4-FFF2-40B4-BE49-F238E27FC236}">
                <a16:creationId xmlns:a16="http://schemas.microsoft.com/office/drawing/2014/main" id="{7693E147-07AE-4EB2-9530-1C2AA251138E}"/>
              </a:ext>
            </a:extLst>
          </p:cNvPr>
          <p:cNvPicPr>
            <a:picLocks noChangeAspect="1"/>
          </p:cNvPicPr>
          <p:nvPr/>
        </p:nvPicPr>
        <p:blipFill>
          <a:blip r:embed="rId3"/>
          <a:stretch>
            <a:fillRect/>
          </a:stretch>
        </p:blipFill>
        <p:spPr>
          <a:xfrm>
            <a:off x="4810940" y="2261496"/>
            <a:ext cx="6283330" cy="2145064"/>
          </a:xfrm>
          <a:prstGeom prst="rect">
            <a:avLst/>
          </a:prstGeom>
        </p:spPr>
      </p:pic>
      <p:sp>
        <p:nvSpPr>
          <p:cNvPr id="8" name="TextBox 7">
            <a:extLst>
              <a:ext uri="{FF2B5EF4-FFF2-40B4-BE49-F238E27FC236}">
                <a16:creationId xmlns:a16="http://schemas.microsoft.com/office/drawing/2014/main" id="{2B59BBAC-D3FC-4F49-B021-270C783A9200}"/>
              </a:ext>
            </a:extLst>
          </p:cNvPr>
          <p:cNvSpPr txBox="1"/>
          <p:nvPr/>
        </p:nvSpPr>
        <p:spPr>
          <a:xfrm>
            <a:off x="2558189" y="5842337"/>
            <a:ext cx="8375376" cy="1107996"/>
          </a:xfrm>
          <a:prstGeom prst="rect">
            <a:avLst/>
          </a:prstGeom>
          <a:noFill/>
        </p:spPr>
        <p:txBody>
          <a:bodyPr wrap="square">
            <a:spAutoFit/>
          </a:bodyPr>
          <a:lstStyle/>
          <a:p>
            <a:r>
              <a:rPr lang="en-US" sz="2200" b="1" dirty="0">
                <a:solidFill>
                  <a:srgbClr val="242021"/>
                </a:solidFill>
                <a:latin typeface="Aptos (Body)"/>
              </a:rPr>
              <a:t>The half-adder accepts two binary digits on its inputs and produces two binary digits on its outputs—a sum bit and a carry bit. </a:t>
            </a:r>
            <a:br>
              <a:rPr lang="en-US" sz="2200" dirty="0"/>
            </a:br>
            <a:endParaRPr lang="en-US" sz="2200" dirty="0"/>
          </a:p>
        </p:txBody>
      </p:sp>
      <p:pic>
        <p:nvPicPr>
          <p:cNvPr id="9" name="Picture 8">
            <a:extLst>
              <a:ext uri="{FF2B5EF4-FFF2-40B4-BE49-F238E27FC236}">
                <a16:creationId xmlns:a16="http://schemas.microsoft.com/office/drawing/2014/main" id="{1AA90E40-3F48-4B4C-801D-D0B8C03F70D9}"/>
              </a:ext>
            </a:extLst>
          </p:cNvPr>
          <p:cNvPicPr>
            <a:picLocks noChangeAspect="1"/>
          </p:cNvPicPr>
          <p:nvPr/>
        </p:nvPicPr>
        <p:blipFill>
          <a:blip r:embed="rId4"/>
          <a:stretch>
            <a:fillRect/>
          </a:stretch>
        </p:blipFill>
        <p:spPr>
          <a:xfrm>
            <a:off x="4468372" y="4572218"/>
            <a:ext cx="6968465" cy="560534"/>
          </a:xfrm>
          <a:prstGeom prst="rect">
            <a:avLst/>
          </a:prstGeom>
        </p:spPr>
      </p:pic>
    </p:spTree>
    <p:extLst>
      <p:ext uri="{BB962C8B-B14F-4D97-AF65-F5344CB8AC3E}">
        <p14:creationId xmlns:p14="http://schemas.microsoft.com/office/powerpoint/2010/main" val="12291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6.1 Half and Full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Half-Adder Logic </a:t>
            </a:r>
            <a:br>
              <a:rPr lang="en-US" sz="1600" dirty="0"/>
            </a:br>
            <a:endParaRPr lang="en-US" sz="2100" b="1" i="1" dirty="0">
              <a:solidFill>
                <a:schemeClr val="tx2">
                  <a:lumMod val="50000"/>
                  <a:lumOff val="50000"/>
                </a:schemeClr>
              </a:solidFill>
              <a:latin typeface="Aptos (Body)"/>
            </a:endParaRPr>
          </a:p>
          <a:p>
            <a:pPr marL="0" indent="0">
              <a:lnSpc>
                <a:spcPct val="100000"/>
              </a:lnSpc>
              <a:buNone/>
            </a:pPr>
            <a:br>
              <a:rPr lang="en-US" sz="1200" dirty="0"/>
            </a:b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7" name="Picture 6">
            <a:extLst>
              <a:ext uri="{FF2B5EF4-FFF2-40B4-BE49-F238E27FC236}">
                <a16:creationId xmlns:a16="http://schemas.microsoft.com/office/drawing/2014/main" id="{C93D9626-C4B1-4D4C-955B-05167AD4486A}"/>
              </a:ext>
            </a:extLst>
          </p:cNvPr>
          <p:cNvPicPr>
            <a:picLocks noChangeAspect="1"/>
          </p:cNvPicPr>
          <p:nvPr/>
        </p:nvPicPr>
        <p:blipFill>
          <a:blip r:embed="rId2"/>
          <a:stretch>
            <a:fillRect/>
          </a:stretch>
        </p:blipFill>
        <p:spPr>
          <a:xfrm>
            <a:off x="1113226" y="1748842"/>
            <a:ext cx="4343771" cy="4308600"/>
          </a:xfrm>
          <a:prstGeom prst="rect">
            <a:avLst/>
          </a:prstGeom>
        </p:spPr>
      </p:pic>
      <p:pic>
        <p:nvPicPr>
          <p:cNvPr id="10" name="Picture 9">
            <a:extLst>
              <a:ext uri="{FF2B5EF4-FFF2-40B4-BE49-F238E27FC236}">
                <a16:creationId xmlns:a16="http://schemas.microsoft.com/office/drawing/2014/main" id="{9A4A64BD-55F8-4B52-A05C-4224737524BE}"/>
              </a:ext>
            </a:extLst>
          </p:cNvPr>
          <p:cNvPicPr>
            <a:picLocks noChangeAspect="1"/>
          </p:cNvPicPr>
          <p:nvPr/>
        </p:nvPicPr>
        <p:blipFill>
          <a:blip r:embed="rId3"/>
          <a:stretch>
            <a:fillRect/>
          </a:stretch>
        </p:blipFill>
        <p:spPr>
          <a:xfrm>
            <a:off x="7292336" y="1534930"/>
            <a:ext cx="1904672" cy="673961"/>
          </a:xfrm>
          <a:prstGeom prst="rect">
            <a:avLst/>
          </a:prstGeom>
        </p:spPr>
      </p:pic>
      <p:pic>
        <p:nvPicPr>
          <p:cNvPr id="11" name="Picture 10">
            <a:extLst>
              <a:ext uri="{FF2B5EF4-FFF2-40B4-BE49-F238E27FC236}">
                <a16:creationId xmlns:a16="http://schemas.microsoft.com/office/drawing/2014/main" id="{D1297F3B-4437-4CB5-9A5A-9707281EDE7F}"/>
              </a:ext>
            </a:extLst>
          </p:cNvPr>
          <p:cNvPicPr>
            <a:picLocks noChangeAspect="1"/>
          </p:cNvPicPr>
          <p:nvPr/>
        </p:nvPicPr>
        <p:blipFill>
          <a:blip r:embed="rId4"/>
          <a:stretch>
            <a:fillRect/>
          </a:stretch>
        </p:blipFill>
        <p:spPr>
          <a:xfrm>
            <a:off x="7187895" y="2244034"/>
            <a:ext cx="2227775" cy="799714"/>
          </a:xfrm>
          <a:prstGeom prst="rect">
            <a:avLst/>
          </a:prstGeom>
        </p:spPr>
      </p:pic>
      <p:pic>
        <p:nvPicPr>
          <p:cNvPr id="12" name="Picture 11">
            <a:extLst>
              <a:ext uri="{FF2B5EF4-FFF2-40B4-BE49-F238E27FC236}">
                <a16:creationId xmlns:a16="http://schemas.microsoft.com/office/drawing/2014/main" id="{26828373-360D-41A7-B33F-D065CCE2B336}"/>
              </a:ext>
            </a:extLst>
          </p:cNvPr>
          <p:cNvPicPr>
            <a:picLocks noChangeAspect="1"/>
          </p:cNvPicPr>
          <p:nvPr/>
        </p:nvPicPr>
        <p:blipFill>
          <a:blip r:embed="rId5"/>
          <a:stretch>
            <a:fillRect/>
          </a:stretch>
        </p:blipFill>
        <p:spPr>
          <a:xfrm>
            <a:off x="6261653" y="3037823"/>
            <a:ext cx="5324473" cy="2210158"/>
          </a:xfrm>
          <a:prstGeom prst="rect">
            <a:avLst/>
          </a:prstGeom>
        </p:spPr>
      </p:pic>
      <p:pic>
        <p:nvPicPr>
          <p:cNvPr id="13" name="Picture 12">
            <a:extLst>
              <a:ext uri="{FF2B5EF4-FFF2-40B4-BE49-F238E27FC236}">
                <a16:creationId xmlns:a16="http://schemas.microsoft.com/office/drawing/2014/main" id="{F9CCE314-0C01-4333-A473-D5DB6FE30515}"/>
              </a:ext>
            </a:extLst>
          </p:cNvPr>
          <p:cNvPicPr>
            <a:picLocks noChangeAspect="1"/>
          </p:cNvPicPr>
          <p:nvPr/>
        </p:nvPicPr>
        <p:blipFill>
          <a:blip r:embed="rId6"/>
          <a:stretch>
            <a:fillRect/>
          </a:stretch>
        </p:blipFill>
        <p:spPr>
          <a:xfrm>
            <a:off x="6782216" y="5685691"/>
            <a:ext cx="4016374" cy="365125"/>
          </a:xfrm>
          <a:prstGeom prst="rect">
            <a:avLst/>
          </a:prstGeom>
        </p:spPr>
      </p:pic>
    </p:spTree>
    <p:extLst>
      <p:ext uri="{BB962C8B-B14F-4D97-AF65-F5344CB8AC3E}">
        <p14:creationId xmlns:p14="http://schemas.microsoft.com/office/powerpoint/2010/main" val="3128634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6.1 Half and Full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715617" y="954157"/>
            <a:ext cx="11011938" cy="5356805"/>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Full-Adder</a:t>
            </a:r>
            <a:r>
              <a:rPr lang="vi-VN" sz="2400" b="1" i="1" dirty="0">
                <a:solidFill>
                  <a:schemeClr val="tx2">
                    <a:lumMod val="50000"/>
                    <a:lumOff val="50000"/>
                  </a:schemeClr>
                </a:solidFill>
                <a:latin typeface="Aptos (Body)"/>
              </a:rPr>
              <a:t>: </a:t>
            </a:r>
            <a:r>
              <a:rPr lang="en-US" dirty="0">
                <a:latin typeface="Aptos (Body)"/>
              </a:rPr>
              <a:t>A full-adder has an input carry while the half-adder does not. </a:t>
            </a:r>
            <a:br>
              <a:rPr lang="en-US" sz="2100" dirty="0">
                <a:latin typeface="Aptos (Body)"/>
              </a:rPr>
            </a:br>
            <a:br>
              <a:rPr lang="en-US" sz="2100" dirty="0">
                <a:latin typeface="Aptos (Body)"/>
              </a:rPr>
            </a:br>
            <a:endParaRPr lang="en-US" sz="2100" dirty="0">
              <a:latin typeface="Aptos (Body)"/>
            </a:endParaRPr>
          </a:p>
          <a:p>
            <a:pPr marL="0" indent="0">
              <a:lnSpc>
                <a:spcPct val="100000"/>
              </a:lnSpc>
              <a:buNone/>
            </a:pPr>
            <a:br>
              <a:rPr lang="en-US" sz="1200" dirty="0"/>
            </a:b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3" name="Picture 2">
            <a:extLst>
              <a:ext uri="{FF2B5EF4-FFF2-40B4-BE49-F238E27FC236}">
                <a16:creationId xmlns:a16="http://schemas.microsoft.com/office/drawing/2014/main" id="{03226042-1E7A-4616-B7CF-1FADB268CD56}"/>
              </a:ext>
            </a:extLst>
          </p:cNvPr>
          <p:cNvPicPr>
            <a:picLocks noChangeAspect="1"/>
          </p:cNvPicPr>
          <p:nvPr/>
        </p:nvPicPr>
        <p:blipFill>
          <a:blip r:embed="rId2"/>
          <a:stretch>
            <a:fillRect/>
          </a:stretch>
        </p:blipFill>
        <p:spPr>
          <a:xfrm>
            <a:off x="874644" y="1788559"/>
            <a:ext cx="2977040" cy="1234383"/>
          </a:xfrm>
          <a:prstGeom prst="rect">
            <a:avLst/>
          </a:prstGeom>
        </p:spPr>
      </p:pic>
      <p:pic>
        <p:nvPicPr>
          <p:cNvPr id="5" name="Picture 4">
            <a:extLst>
              <a:ext uri="{FF2B5EF4-FFF2-40B4-BE49-F238E27FC236}">
                <a16:creationId xmlns:a16="http://schemas.microsoft.com/office/drawing/2014/main" id="{5B4CD0BE-F1FE-4CC2-AA8B-882E9317FC85}"/>
              </a:ext>
            </a:extLst>
          </p:cNvPr>
          <p:cNvPicPr>
            <a:picLocks noChangeAspect="1"/>
          </p:cNvPicPr>
          <p:nvPr/>
        </p:nvPicPr>
        <p:blipFill>
          <a:blip r:embed="rId3"/>
          <a:stretch>
            <a:fillRect/>
          </a:stretch>
        </p:blipFill>
        <p:spPr>
          <a:xfrm>
            <a:off x="520239" y="3289666"/>
            <a:ext cx="3422038" cy="3221435"/>
          </a:xfrm>
          <a:prstGeom prst="rect">
            <a:avLst/>
          </a:prstGeom>
        </p:spPr>
      </p:pic>
      <p:pic>
        <p:nvPicPr>
          <p:cNvPr id="9" name="Picture 8">
            <a:extLst>
              <a:ext uri="{FF2B5EF4-FFF2-40B4-BE49-F238E27FC236}">
                <a16:creationId xmlns:a16="http://schemas.microsoft.com/office/drawing/2014/main" id="{750A3801-AC58-4017-B430-785BA9BB7955}"/>
              </a:ext>
            </a:extLst>
          </p:cNvPr>
          <p:cNvPicPr>
            <a:picLocks noChangeAspect="1"/>
          </p:cNvPicPr>
          <p:nvPr/>
        </p:nvPicPr>
        <p:blipFill>
          <a:blip r:embed="rId4"/>
          <a:stretch>
            <a:fillRect/>
          </a:stretch>
        </p:blipFill>
        <p:spPr>
          <a:xfrm>
            <a:off x="4137655" y="1383046"/>
            <a:ext cx="7866205" cy="2322746"/>
          </a:xfrm>
          <a:prstGeom prst="rect">
            <a:avLst/>
          </a:prstGeom>
        </p:spPr>
      </p:pic>
      <p:pic>
        <p:nvPicPr>
          <p:cNvPr id="14" name="Picture 13">
            <a:extLst>
              <a:ext uri="{FF2B5EF4-FFF2-40B4-BE49-F238E27FC236}">
                <a16:creationId xmlns:a16="http://schemas.microsoft.com/office/drawing/2014/main" id="{CCF4DA23-A1F7-43FA-BC11-1262344B5A1F}"/>
              </a:ext>
            </a:extLst>
          </p:cNvPr>
          <p:cNvPicPr>
            <a:picLocks noChangeAspect="1"/>
          </p:cNvPicPr>
          <p:nvPr/>
        </p:nvPicPr>
        <p:blipFill>
          <a:blip r:embed="rId5"/>
          <a:stretch>
            <a:fillRect/>
          </a:stretch>
        </p:blipFill>
        <p:spPr>
          <a:xfrm>
            <a:off x="4137655" y="1752161"/>
            <a:ext cx="2337291" cy="597912"/>
          </a:xfrm>
          <a:prstGeom prst="rect">
            <a:avLst/>
          </a:prstGeom>
        </p:spPr>
      </p:pic>
      <p:pic>
        <p:nvPicPr>
          <p:cNvPr id="15" name="Picture 14">
            <a:extLst>
              <a:ext uri="{FF2B5EF4-FFF2-40B4-BE49-F238E27FC236}">
                <a16:creationId xmlns:a16="http://schemas.microsoft.com/office/drawing/2014/main" id="{9FF93F9F-DE7C-4FE3-AE0D-876B04C0F1F8}"/>
              </a:ext>
            </a:extLst>
          </p:cNvPr>
          <p:cNvPicPr>
            <a:picLocks noChangeAspect="1"/>
          </p:cNvPicPr>
          <p:nvPr/>
        </p:nvPicPr>
        <p:blipFill>
          <a:blip r:embed="rId6"/>
          <a:stretch>
            <a:fillRect/>
          </a:stretch>
        </p:blipFill>
        <p:spPr>
          <a:xfrm>
            <a:off x="5271770" y="3671226"/>
            <a:ext cx="2946253" cy="463455"/>
          </a:xfrm>
          <a:prstGeom prst="rect">
            <a:avLst/>
          </a:prstGeom>
        </p:spPr>
      </p:pic>
      <p:pic>
        <p:nvPicPr>
          <p:cNvPr id="16" name="Picture 15">
            <a:extLst>
              <a:ext uri="{FF2B5EF4-FFF2-40B4-BE49-F238E27FC236}">
                <a16:creationId xmlns:a16="http://schemas.microsoft.com/office/drawing/2014/main" id="{92C36723-98B8-4312-8013-32AAC29D5F71}"/>
              </a:ext>
            </a:extLst>
          </p:cNvPr>
          <p:cNvPicPr>
            <a:picLocks noChangeAspect="1"/>
          </p:cNvPicPr>
          <p:nvPr/>
        </p:nvPicPr>
        <p:blipFill>
          <a:blip r:embed="rId7"/>
          <a:stretch>
            <a:fillRect/>
          </a:stretch>
        </p:blipFill>
        <p:spPr>
          <a:xfrm>
            <a:off x="4352299" y="4191023"/>
            <a:ext cx="6038227" cy="2714327"/>
          </a:xfrm>
          <a:prstGeom prst="rect">
            <a:avLst/>
          </a:prstGeom>
        </p:spPr>
      </p:pic>
    </p:spTree>
    <p:extLst>
      <p:ext uri="{BB962C8B-B14F-4D97-AF65-F5344CB8AC3E}">
        <p14:creationId xmlns:p14="http://schemas.microsoft.com/office/powerpoint/2010/main" val="2945547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6.2 Parallel Binary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b="1" i="1" dirty="0">
                <a:solidFill>
                  <a:schemeClr val="tx2">
                    <a:lumMod val="50000"/>
                    <a:lumOff val="50000"/>
                  </a:schemeClr>
                </a:solidFill>
                <a:latin typeface="Aptos (Body)"/>
              </a:rPr>
              <a:t>Two or more full-adders </a:t>
            </a:r>
            <a:r>
              <a:rPr lang="en-US" b="0" i="0" dirty="0">
                <a:solidFill>
                  <a:srgbClr val="242021"/>
                </a:solidFill>
                <a:effectLst/>
                <a:latin typeface="Aptos (Body)"/>
              </a:rPr>
              <a:t>are connected to form parallel binary adders. In this section,</a:t>
            </a:r>
            <a:r>
              <a:rPr lang="vi-VN" b="0" i="0" dirty="0">
                <a:solidFill>
                  <a:srgbClr val="242021"/>
                </a:solidFill>
                <a:effectLst/>
                <a:latin typeface="Aptos (Body)"/>
              </a:rPr>
              <a:t> </a:t>
            </a:r>
            <a:r>
              <a:rPr lang="en-US" b="0" i="0" dirty="0">
                <a:solidFill>
                  <a:srgbClr val="242021"/>
                </a:solidFill>
                <a:effectLst/>
                <a:latin typeface="Aptos (Body)"/>
              </a:rPr>
              <a:t>you will learn the basic operation of this type of adder and its associated input and output</a:t>
            </a:r>
            <a:r>
              <a:rPr lang="vi-VN" b="0" i="0" dirty="0">
                <a:solidFill>
                  <a:srgbClr val="242021"/>
                </a:solidFill>
                <a:effectLst/>
                <a:latin typeface="Aptos (Body)"/>
              </a:rPr>
              <a:t> </a:t>
            </a:r>
            <a:r>
              <a:rPr lang="en-US" b="0" i="0" dirty="0">
                <a:solidFill>
                  <a:srgbClr val="242021"/>
                </a:solidFill>
                <a:effectLst/>
                <a:latin typeface="Aptos (Body)"/>
              </a:rPr>
              <a:t>functions.</a:t>
            </a:r>
            <a:r>
              <a:rPr lang="en-US" dirty="0">
                <a:latin typeface="Aptos (Body)"/>
              </a:rPr>
              <a:t> </a:t>
            </a: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0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3" name="Picture 2">
            <a:extLst>
              <a:ext uri="{FF2B5EF4-FFF2-40B4-BE49-F238E27FC236}">
                <a16:creationId xmlns:a16="http://schemas.microsoft.com/office/drawing/2014/main" id="{0D8C8A08-2D1D-4A25-B666-46A846A873C1}"/>
              </a:ext>
            </a:extLst>
          </p:cNvPr>
          <p:cNvPicPr>
            <a:picLocks noChangeAspect="1"/>
          </p:cNvPicPr>
          <p:nvPr/>
        </p:nvPicPr>
        <p:blipFill>
          <a:blip r:embed="rId2"/>
          <a:stretch>
            <a:fillRect/>
          </a:stretch>
        </p:blipFill>
        <p:spPr>
          <a:xfrm>
            <a:off x="874644" y="2126845"/>
            <a:ext cx="6349137" cy="2219869"/>
          </a:xfrm>
          <a:prstGeom prst="rect">
            <a:avLst/>
          </a:prstGeom>
        </p:spPr>
      </p:pic>
      <p:pic>
        <p:nvPicPr>
          <p:cNvPr id="5" name="Picture 4">
            <a:extLst>
              <a:ext uri="{FF2B5EF4-FFF2-40B4-BE49-F238E27FC236}">
                <a16:creationId xmlns:a16="http://schemas.microsoft.com/office/drawing/2014/main" id="{1317E4AB-03E4-4D4E-8FD8-BF4AC1B9D777}"/>
              </a:ext>
            </a:extLst>
          </p:cNvPr>
          <p:cNvPicPr>
            <a:picLocks noChangeAspect="1"/>
          </p:cNvPicPr>
          <p:nvPr/>
        </p:nvPicPr>
        <p:blipFill>
          <a:blip r:embed="rId3"/>
          <a:stretch>
            <a:fillRect/>
          </a:stretch>
        </p:blipFill>
        <p:spPr>
          <a:xfrm>
            <a:off x="4500065" y="3117509"/>
            <a:ext cx="7180644" cy="3393592"/>
          </a:xfrm>
          <a:prstGeom prst="rect">
            <a:avLst/>
          </a:prstGeom>
        </p:spPr>
      </p:pic>
    </p:spTree>
    <p:extLst>
      <p:ext uri="{BB962C8B-B14F-4D97-AF65-F5344CB8AC3E}">
        <p14:creationId xmlns:p14="http://schemas.microsoft.com/office/powerpoint/2010/main" val="2438818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6.2 Parallel Binary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99930"/>
            <a:ext cx="11169275"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Four-Bit Parallel Adders </a:t>
            </a:r>
            <a:endParaRPr lang="vi-VN" sz="2400" b="1" i="1" dirty="0">
              <a:solidFill>
                <a:schemeClr val="tx2">
                  <a:lumMod val="50000"/>
                  <a:lumOff val="50000"/>
                </a:schemeClr>
              </a:solidFill>
              <a:latin typeface="Aptos (Body)"/>
            </a:endParaRPr>
          </a:p>
          <a:p>
            <a:pPr marL="0" indent="0">
              <a:lnSpc>
                <a:spcPct val="100000"/>
              </a:lnSpc>
              <a:buNone/>
            </a:pPr>
            <a:endParaRPr lang="vi-VN" sz="2100" b="1" i="1" dirty="0">
              <a:solidFill>
                <a:schemeClr val="tx2">
                  <a:lumMod val="50000"/>
                  <a:lumOff val="50000"/>
                </a:schemeClr>
              </a:solidFill>
              <a:latin typeface="Aptos (Body)"/>
            </a:endParaRPr>
          </a:p>
          <a:p>
            <a:pPr marL="0" indent="0">
              <a:lnSpc>
                <a:spcPct val="100000"/>
              </a:lnSpc>
              <a:buNone/>
            </a:pPr>
            <a:r>
              <a:rPr lang="vi-VN" sz="2100" b="1" i="1" dirty="0">
                <a:solidFill>
                  <a:schemeClr val="tx2">
                    <a:lumMod val="50000"/>
                    <a:lumOff val="50000"/>
                  </a:schemeClr>
                </a:solidFill>
                <a:latin typeface="Aptos (Body)"/>
              </a:rPr>
              <a:t>						</a:t>
            </a:r>
            <a:r>
              <a:rPr lang="vi-VN" b="1" i="1" dirty="0">
                <a:solidFill>
                  <a:schemeClr val="tx2">
                    <a:lumMod val="50000"/>
                    <a:lumOff val="50000"/>
                  </a:schemeClr>
                </a:solidFill>
                <a:latin typeface="Aptos (Body)"/>
              </a:rPr>
              <a:t>	    </a:t>
            </a:r>
            <a:r>
              <a:rPr lang="en-US" b="1" i="1" dirty="0">
                <a:solidFill>
                  <a:schemeClr val="tx2">
                    <a:lumMod val="50000"/>
                    <a:lumOff val="50000"/>
                  </a:schemeClr>
                </a:solidFill>
                <a:latin typeface="Aptos (Body)"/>
              </a:rPr>
              <a:t>Truth Table for a 4-Bit Parallel Adder </a:t>
            </a:r>
            <a:br>
              <a:rPr lang="en-US" sz="12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0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8" name="Picture 7">
            <a:extLst>
              <a:ext uri="{FF2B5EF4-FFF2-40B4-BE49-F238E27FC236}">
                <a16:creationId xmlns:a16="http://schemas.microsoft.com/office/drawing/2014/main" id="{D702FB53-EDE5-4E8B-A3FA-5175A3491BD4}"/>
              </a:ext>
            </a:extLst>
          </p:cNvPr>
          <p:cNvPicPr>
            <a:picLocks noChangeAspect="1"/>
          </p:cNvPicPr>
          <p:nvPr/>
        </p:nvPicPr>
        <p:blipFill>
          <a:blip r:embed="rId2"/>
          <a:stretch>
            <a:fillRect/>
          </a:stretch>
        </p:blipFill>
        <p:spPr>
          <a:xfrm>
            <a:off x="8275035" y="2455073"/>
            <a:ext cx="3528629" cy="4125512"/>
          </a:xfrm>
          <a:prstGeom prst="rect">
            <a:avLst/>
          </a:prstGeom>
        </p:spPr>
      </p:pic>
      <p:pic>
        <p:nvPicPr>
          <p:cNvPr id="9" name="Picture 8">
            <a:extLst>
              <a:ext uri="{FF2B5EF4-FFF2-40B4-BE49-F238E27FC236}">
                <a16:creationId xmlns:a16="http://schemas.microsoft.com/office/drawing/2014/main" id="{91D7C8B4-676B-45BD-A5DD-3F99B162C3EE}"/>
              </a:ext>
            </a:extLst>
          </p:cNvPr>
          <p:cNvPicPr>
            <a:picLocks noChangeAspect="1"/>
          </p:cNvPicPr>
          <p:nvPr/>
        </p:nvPicPr>
        <p:blipFill>
          <a:blip r:embed="rId3"/>
          <a:stretch>
            <a:fillRect/>
          </a:stretch>
        </p:blipFill>
        <p:spPr>
          <a:xfrm>
            <a:off x="788048" y="1549719"/>
            <a:ext cx="4930278" cy="2445206"/>
          </a:xfrm>
          <a:prstGeom prst="rect">
            <a:avLst/>
          </a:prstGeom>
        </p:spPr>
      </p:pic>
      <p:pic>
        <p:nvPicPr>
          <p:cNvPr id="10" name="Picture 9">
            <a:extLst>
              <a:ext uri="{FF2B5EF4-FFF2-40B4-BE49-F238E27FC236}">
                <a16:creationId xmlns:a16="http://schemas.microsoft.com/office/drawing/2014/main" id="{4876B036-CD6A-475E-89CE-BBF511F53364}"/>
              </a:ext>
            </a:extLst>
          </p:cNvPr>
          <p:cNvPicPr>
            <a:picLocks noChangeAspect="1"/>
          </p:cNvPicPr>
          <p:nvPr/>
        </p:nvPicPr>
        <p:blipFill>
          <a:blip r:embed="rId4"/>
          <a:stretch>
            <a:fillRect/>
          </a:stretch>
        </p:blipFill>
        <p:spPr>
          <a:xfrm>
            <a:off x="3765711" y="3750840"/>
            <a:ext cx="4078420" cy="3125386"/>
          </a:xfrm>
          <a:prstGeom prst="rect">
            <a:avLst/>
          </a:prstGeom>
        </p:spPr>
      </p:pic>
      <p:pic>
        <p:nvPicPr>
          <p:cNvPr id="11" name="Picture 10">
            <a:extLst>
              <a:ext uri="{FF2B5EF4-FFF2-40B4-BE49-F238E27FC236}">
                <a16:creationId xmlns:a16="http://schemas.microsoft.com/office/drawing/2014/main" id="{4DE0AF84-B434-4A35-B6EB-ABA84F4CF35F}"/>
              </a:ext>
            </a:extLst>
          </p:cNvPr>
          <p:cNvPicPr>
            <a:picLocks noChangeAspect="1"/>
          </p:cNvPicPr>
          <p:nvPr/>
        </p:nvPicPr>
        <p:blipFill>
          <a:blip r:embed="rId5"/>
          <a:stretch>
            <a:fillRect/>
          </a:stretch>
        </p:blipFill>
        <p:spPr>
          <a:xfrm>
            <a:off x="660097" y="4014584"/>
            <a:ext cx="3505474" cy="444597"/>
          </a:xfrm>
          <a:prstGeom prst="rect">
            <a:avLst/>
          </a:prstGeom>
        </p:spPr>
      </p:pic>
    </p:spTree>
    <p:extLst>
      <p:ext uri="{BB962C8B-B14F-4D97-AF65-F5344CB8AC3E}">
        <p14:creationId xmlns:p14="http://schemas.microsoft.com/office/powerpoint/2010/main" val="604141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6.2 Parallel Binary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1099930"/>
            <a:ext cx="11169275"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Adder Expansion </a:t>
            </a:r>
            <a:br>
              <a:rPr lang="en-US" sz="2100" b="1" i="1" dirty="0">
                <a:solidFill>
                  <a:schemeClr val="tx2">
                    <a:lumMod val="50000"/>
                    <a:lumOff val="50000"/>
                  </a:schemeClr>
                </a:solidFill>
                <a:latin typeface="Aptos (Body)"/>
              </a:rPr>
            </a:br>
            <a:r>
              <a:rPr lang="en-US" b="0" i="0" dirty="0">
                <a:effectLst/>
                <a:latin typeface="Aptos (Body)"/>
              </a:rPr>
              <a:t>Adders can be expanded to handle</a:t>
            </a:r>
            <a:r>
              <a:rPr lang="vi-VN" b="0" i="0" dirty="0">
                <a:effectLst/>
                <a:latin typeface="Aptos (Body)"/>
              </a:rPr>
              <a:t> </a:t>
            </a:r>
            <a:r>
              <a:rPr lang="en-US" b="0" i="0" dirty="0">
                <a:effectLst/>
                <a:latin typeface="Aptos (Body)"/>
              </a:rPr>
              <a:t>more bits by cascading.</a:t>
            </a:r>
            <a:r>
              <a:rPr lang="en-US" dirty="0">
                <a:latin typeface="Aptos (Body)"/>
              </a:rPr>
              <a:t> </a:t>
            </a:r>
            <a:br>
              <a:rPr lang="en-US" sz="2100" dirty="0">
                <a:latin typeface="Aptos (Body)"/>
              </a:rPr>
            </a:br>
            <a:endParaRPr lang="vi-VN" sz="2100" b="1" i="1" dirty="0">
              <a:latin typeface="Aptos (Body)"/>
            </a:endParaRPr>
          </a:p>
          <a:p>
            <a:pPr marL="0" indent="0">
              <a:lnSpc>
                <a:spcPct val="100000"/>
              </a:lnSpc>
              <a:buNone/>
            </a:pPr>
            <a:endParaRPr lang="en-US" sz="2100" b="1" i="1" dirty="0">
              <a:solidFill>
                <a:schemeClr val="tx2">
                  <a:lumMod val="50000"/>
                  <a:lumOff val="50000"/>
                </a:schemeClr>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pic>
        <p:nvPicPr>
          <p:cNvPr id="3" name="Picture 2">
            <a:extLst>
              <a:ext uri="{FF2B5EF4-FFF2-40B4-BE49-F238E27FC236}">
                <a16:creationId xmlns:a16="http://schemas.microsoft.com/office/drawing/2014/main" id="{5A28AEAB-5860-4ABE-8F3A-44D12ECE7585}"/>
              </a:ext>
            </a:extLst>
          </p:cNvPr>
          <p:cNvPicPr>
            <a:picLocks noChangeAspect="1"/>
          </p:cNvPicPr>
          <p:nvPr/>
        </p:nvPicPr>
        <p:blipFill>
          <a:blip r:embed="rId2"/>
          <a:stretch>
            <a:fillRect/>
          </a:stretch>
        </p:blipFill>
        <p:spPr>
          <a:xfrm>
            <a:off x="2381790" y="2136129"/>
            <a:ext cx="7040720" cy="3993002"/>
          </a:xfrm>
          <a:prstGeom prst="rect">
            <a:avLst/>
          </a:prstGeom>
        </p:spPr>
      </p:pic>
    </p:spTree>
    <p:extLst>
      <p:ext uri="{BB962C8B-B14F-4D97-AF65-F5344CB8AC3E}">
        <p14:creationId xmlns:p14="http://schemas.microsoft.com/office/powerpoint/2010/main" val="855773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6.2 Parallel Binary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967972"/>
            <a:ext cx="11169275" cy="536751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An Application </a:t>
            </a:r>
            <a:br>
              <a:rPr lang="en-US" sz="1600" dirty="0"/>
            </a:br>
            <a:br>
              <a:rPr lang="en-US" sz="2100" dirty="0">
                <a:latin typeface="Aptos (Body)"/>
              </a:rPr>
            </a:br>
            <a:endParaRPr lang="vi-VN" sz="2100" b="1" i="1" dirty="0">
              <a:latin typeface="Aptos (Body)"/>
            </a:endParaRPr>
          </a:p>
          <a:p>
            <a:pPr marL="0" indent="0">
              <a:lnSpc>
                <a:spcPct val="100000"/>
              </a:lnSpc>
              <a:buNone/>
            </a:pPr>
            <a:endParaRPr lang="en-US" sz="2100" b="1" i="1" dirty="0">
              <a:solidFill>
                <a:schemeClr val="tx2">
                  <a:lumMod val="50000"/>
                  <a:lumOff val="50000"/>
                </a:schemeClr>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5" name="Picture 4">
            <a:extLst>
              <a:ext uri="{FF2B5EF4-FFF2-40B4-BE49-F238E27FC236}">
                <a16:creationId xmlns:a16="http://schemas.microsoft.com/office/drawing/2014/main" id="{C5552DD9-13A3-4416-A498-579DE7E6B9CC}"/>
              </a:ext>
            </a:extLst>
          </p:cNvPr>
          <p:cNvPicPr>
            <a:picLocks noChangeAspect="1"/>
          </p:cNvPicPr>
          <p:nvPr/>
        </p:nvPicPr>
        <p:blipFill>
          <a:blip r:embed="rId2"/>
          <a:stretch>
            <a:fillRect/>
          </a:stretch>
        </p:blipFill>
        <p:spPr>
          <a:xfrm>
            <a:off x="5317152" y="924317"/>
            <a:ext cx="6000205" cy="5933683"/>
          </a:xfrm>
          <a:prstGeom prst="rect">
            <a:avLst/>
          </a:prstGeom>
        </p:spPr>
      </p:pic>
      <p:pic>
        <p:nvPicPr>
          <p:cNvPr id="7" name="Picture 6">
            <a:extLst>
              <a:ext uri="{FF2B5EF4-FFF2-40B4-BE49-F238E27FC236}">
                <a16:creationId xmlns:a16="http://schemas.microsoft.com/office/drawing/2014/main" id="{1386AC22-8054-4F75-BE02-91F00D7C5E3F}"/>
              </a:ext>
            </a:extLst>
          </p:cNvPr>
          <p:cNvPicPr>
            <a:picLocks noChangeAspect="1"/>
          </p:cNvPicPr>
          <p:nvPr/>
        </p:nvPicPr>
        <p:blipFill>
          <a:blip r:embed="rId3"/>
          <a:stretch>
            <a:fillRect/>
          </a:stretch>
        </p:blipFill>
        <p:spPr>
          <a:xfrm>
            <a:off x="534790" y="5890028"/>
            <a:ext cx="5659446" cy="542094"/>
          </a:xfrm>
          <a:prstGeom prst="rect">
            <a:avLst/>
          </a:prstGeom>
        </p:spPr>
      </p:pic>
      <p:sp>
        <p:nvSpPr>
          <p:cNvPr id="13" name="TextBox 12">
            <a:extLst>
              <a:ext uri="{FF2B5EF4-FFF2-40B4-BE49-F238E27FC236}">
                <a16:creationId xmlns:a16="http://schemas.microsoft.com/office/drawing/2014/main" id="{6DD48081-925E-4F00-A064-636B53B07248}"/>
              </a:ext>
            </a:extLst>
          </p:cNvPr>
          <p:cNvSpPr txBox="1"/>
          <p:nvPr/>
        </p:nvSpPr>
        <p:spPr>
          <a:xfrm>
            <a:off x="728201" y="1404293"/>
            <a:ext cx="3862390" cy="2462213"/>
          </a:xfrm>
          <a:prstGeom prst="rect">
            <a:avLst/>
          </a:prstGeom>
          <a:noFill/>
        </p:spPr>
        <p:txBody>
          <a:bodyPr wrap="square">
            <a:spAutoFit/>
          </a:bodyPr>
          <a:lstStyle/>
          <a:p>
            <a:r>
              <a:rPr lang="en-US" sz="2200" i="0" dirty="0">
                <a:solidFill>
                  <a:srgbClr val="242021"/>
                </a:solidFill>
                <a:effectLst/>
                <a:latin typeface="Aptos (Body)"/>
              </a:rPr>
              <a:t>An example of full-adder and parallel adder application is a simple voting system that</a:t>
            </a:r>
            <a:r>
              <a:rPr lang="vi-VN" sz="2200" i="0" dirty="0">
                <a:solidFill>
                  <a:srgbClr val="242021"/>
                </a:solidFill>
                <a:effectLst/>
                <a:latin typeface="Aptos (Body)"/>
              </a:rPr>
              <a:t> </a:t>
            </a:r>
            <a:r>
              <a:rPr lang="en-US" sz="2200" i="0" dirty="0">
                <a:solidFill>
                  <a:srgbClr val="242021"/>
                </a:solidFill>
                <a:effectLst/>
                <a:latin typeface="Aptos (Body)"/>
              </a:rPr>
              <a:t>can be used to simultaneously provide the number of “yes” votes and the number of “no”</a:t>
            </a:r>
            <a:r>
              <a:rPr lang="vi-VN" sz="2200" i="0" dirty="0">
                <a:solidFill>
                  <a:srgbClr val="242021"/>
                </a:solidFill>
                <a:effectLst/>
                <a:latin typeface="Aptos (Body)"/>
              </a:rPr>
              <a:t> </a:t>
            </a:r>
            <a:r>
              <a:rPr lang="en-US" sz="2200" i="0" dirty="0">
                <a:solidFill>
                  <a:srgbClr val="242021"/>
                </a:solidFill>
                <a:effectLst/>
                <a:latin typeface="Aptos (Body)"/>
              </a:rPr>
              <a:t>votes</a:t>
            </a:r>
            <a:endParaRPr lang="en-US" sz="2200" dirty="0">
              <a:latin typeface="Aptos (Body)"/>
            </a:endParaRPr>
          </a:p>
        </p:txBody>
      </p:sp>
    </p:spTree>
    <p:extLst>
      <p:ext uri="{BB962C8B-B14F-4D97-AF65-F5344CB8AC3E}">
        <p14:creationId xmlns:p14="http://schemas.microsoft.com/office/powerpoint/2010/main" val="3327141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6.3 Ripple Carry and Look-Ahead Carry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Ripple Carry Adder </a:t>
            </a:r>
            <a:br>
              <a:rPr lang="en-US" dirty="0"/>
            </a:br>
            <a:r>
              <a:rPr lang="en-US" b="1" i="1" dirty="0">
                <a:solidFill>
                  <a:schemeClr val="tx2">
                    <a:lumMod val="50000"/>
                    <a:lumOff val="50000"/>
                  </a:schemeClr>
                </a:solidFill>
                <a:latin typeface="Aptos (Body)"/>
              </a:rPr>
              <a:t> </a:t>
            </a:r>
            <a:r>
              <a:rPr lang="en-US" dirty="0">
                <a:solidFill>
                  <a:srgbClr val="242021"/>
                </a:solidFill>
                <a:latin typeface="Aptos (Body)"/>
              </a:rPr>
              <a:t>A ripple carry adder is one in which the carry output of each full-adder is connected to the carry input of the next higher-order stage (a stage is one full-adder). </a:t>
            </a: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3" name="Picture 2">
            <a:extLst>
              <a:ext uri="{FF2B5EF4-FFF2-40B4-BE49-F238E27FC236}">
                <a16:creationId xmlns:a16="http://schemas.microsoft.com/office/drawing/2014/main" id="{01542579-E7E4-4CC0-B968-67312DC9936C}"/>
              </a:ext>
            </a:extLst>
          </p:cNvPr>
          <p:cNvPicPr>
            <a:picLocks noChangeAspect="1"/>
          </p:cNvPicPr>
          <p:nvPr/>
        </p:nvPicPr>
        <p:blipFill>
          <a:blip r:embed="rId2"/>
          <a:stretch>
            <a:fillRect/>
          </a:stretch>
        </p:blipFill>
        <p:spPr>
          <a:xfrm>
            <a:off x="2788227" y="2399597"/>
            <a:ext cx="7574655" cy="4111504"/>
          </a:xfrm>
          <a:prstGeom prst="rect">
            <a:avLst/>
          </a:prstGeom>
        </p:spPr>
      </p:pic>
    </p:spTree>
    <p:extLst>
      <p:ext uri="{BB962C8B-B14F-4D97-AF65-F5344CB8AC3E}">
        <p14:creationId xmlns:p14="http://schemas.microsoft.com/office/powerpoint/2010/main" val="1591719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6.3 Ripple Carry and Look-Ahead Carry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Look-Ahead Carry Adder </a:t>
            </a:r>
            <a:br>
              <a:rPr lang="en-US" sz="1600" dirty="0"/>
            </a:br>
            <a:r>
              <a:rPr lang="en-US" dirty="0">
                <a:solidFill>
                  <a:srgbClr val="242021"/>
                </a:solidFill>
                <a:latin typeface="Aptos (Body)"/>
              </a:rPr>
              <a:t>The speed with which an addition can be performed is limited by the time required for the carries to propagate, or ripple, through all the stages of a parallel adder. </a:t>
            </a:r>
            <a:br>
              <a:rPr lang="en-US" sz="2100" dirty="0">
                <a:solidFill>
                  <a:srgbClr val="242021"/>
                </a:solidFill>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7" name="Picture 6">
            <a:extLst>
              <a:ext uri="{FF2B5EF4-FFF2-40B4-BE49-F238E27FC236}">
                <a16:creationId xmlns:a16="http://schemas.microsoft.com/office/drawing/2014/main" id="{1A330AAF-522F-48AA-801B-4B404FDB7422}"/>
              </a:ext>
            </a:extLst>
          </p:cNvPr>
          <p:cNvPicPr>
            <a:picLocks noChangeAspect="1"/>
          </p:cNvPicPr>
          <p:nvPr/>
        </p:nvPicPr>
        <p:blipFill>
          <a:blip r:embed="rId2"/>
          <a:stretch>
            <a:fillRect/>
          </a:stretch>
        </p:blipFill>
        <p:spPr>
          <a:xfrm>
            <a:off x="2729949" y="2506794"/>
            <a:ext cx="1282426" cy="389598"/>
          </a:xfrm>
          <a:prstGeom prst="rect">
            <a:avLst/>
          </a:prstGeom>
        </p:spPr>
      </p:pic>
      <p:pic>
        <p:nvPicPr>
          <p:cNvPr id="8" name="Picture 7">
            <a:extLst>
              <a:ext uri="{FF2B5EF4-FFF2-40B4-BE49-F238E27FC236}">
                <a16:creationId xmlns:a16="http://schemas.microsoft.com/office/drawing/2014/main" id="{531DC7A2-88D7-42C8-920F-C9B2F601F390}"/>
              </a:ext>
            </a:extLst>
          </p:cNvPr>
          <p:cNvPicPr>
            <a:picLocks noChangeAspect="1"/>
          </p:cNvPicPr>
          <p:nvPr/>
        </p:nvPicPr>
        <p:blipFill>
          <a:blip r:embed="rId3"/>
          <a:stretch>
            <a:fillRect/>
          </a:stretch>
        </p:blipFill>
        <p:spPr>
          <a:xfrm>
            <a:off x="2508253" y="2979287"/>
            <a:ext cx="1725818" cy="439914"/>
          </a:xfrm>
          <a:prstGeom prst="rect">
            <a:avLst/>
          </a:prstGeom>
        </p:spPr>
      </p:pic>
      <p:pic>
        <p:nvPicPr>
          <p:cNvPr id="9" name="Picture 8">
            <a:extLst>
              <a:ext uri="{FF2B5EF4-FFF2-40B4-BE49-F238E27FC236}">
                <a16:creationId xmlns:a16="http://schemas.microsoft.com/office/drawing/2014/main" id="{4A1ACB12-262B-4B1B-B179-95F13B8F2712}"/>
              </a:ext>
            </a:extLst>
          </p:cNvPr>
          <p:cNvPicPr>
            <a:picLocks noChangeAspect="1"/>
          </p:cNvPicPr>
          <p:nvPr/>
        </p:nvPicPr>
        <p:blipFill>
          <a:blip r:embed="rId4"/>
          <a:stretch>
            <a:fillRect/>
          </a:stretch>
        </p:blipFill>
        <p:spPr>
          <a:xfrm>
            <a:off x="543338" y="3544103"/>
            <a:ext cx="5438851" cy="2891993"/>
          </a:xfrm>
          <a:prstGeom prst="rect">
            <a:avLst/>
          </a:prstGeom>
        </p:spPr>
      </p:pic>
      <p:pic>
        <p:nvPicPr>
          <p:cNvPr id="10" name="Picture 9">
            <a:extLst>
              <a:ext uri="{FF2B5EF4-FFF2-40B4-BE49-F238E27FC236}">
                <a16:creationId xmlns:a16="http://schemas.microsoft.com/office/drawing/2014/main" id="{F2319640-5163-4168-9231-F37E3B215BD9}"/>
              </a:ext>
            </a:extLst>
          </p:cNvPr>
          <p:cNvPicPr>
            <a:picLocks noChangeAspect="1"/>
          </p:cNvPicPr>
          <p:nvPr/>
        </p:nvPicPr>
        <p:blipFill>
          <a:blip r:embed="rId5"/>
          <a:stretch>
            <a:fillRect/>
          </a:stretch>
        </p:blipFill>
        <p:spPr>
          <a:xfrm>
            <a:off x="8179627" y="2411717"/>
            <a:ext cx="2320360" cy="567570"/>
          </a:xfrm>
          <a:prstGeom prst="rect">
            <a:avLst/>
          </a:prstGeom>
        </p:spPr>
      </p:pic>
      <p:pic>
        <p:nvPicPr>
          <p:cNvPr id="11" name="Picture 10">
            <a:extLst>
              <a:ext uri="{FF2B5EF4-FFF2-40B4-BE49-F238E27FC236}">
                <a16:creationId xmlns:a16="http://schemas.microsoft.com/office/drawing/2014/main" id="{D04A1225-E486-43A5-A377-7FD295DE78E7}"/>
              </a:ext>
            </a:extLst>
          </p:cNvPr>
          <p:cNvPicPr>
            <a:picLocks noChangeAspect="1"/>
          </p:cNvPicPr>
          <p:nvPr/>
        </p:nvPicPr>
        <p:blipFill>
          <a:blip r:embed="rId6"/>
          <a:stretch>
            <a:fillRect/>
          </a:stretch>
        </p:blipFill>
        <p:spPr>
          <a:xfrm>
            <a:off x="6313495" y="3233064"/>
            <a:ext cx="5878505" cy="3203032"/>
          </a:xfrm>
          <a:prstGeom prst="rect">
            <a:avLst/>
          </a:prstGeom>
        </p:spPr>
      </p:pic>
    </p:spTree>
    <p:extLst>
      <p:ext uri="{BB962C8B-B14F-4D97-AF65-F5344CB8AC3E}">
        <p14:creationId xmlns:p14="http://schemas.microsoft.com/office/powerpoint/2010/main" val="4014106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6.3 Ripple Carry and Look-Ahead Carry Adders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Look-Ahead Carry Adder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3" name="Picture 2">
            <a:extLst>
              <a:ext uri="{FF2B5EF4-FFF2-40B4-BE49-F238E27FC236}">
                <a16:creationId xmlns:a16="http://schemas.microsoft.com/office/drawing/2014/main" id="{07F181B9-088A-4D29-9E4F-8C006884EED9}"/>
              </a:ext>
            </a:extLst>
          </p:cNvPr>
          <p:cNvPicPr>
            <a:picLocks noChangeAspect="1"/>
          </p:cNvPicPr>
          <p:nvPr/>
        </p:nvPicPr>
        <p:blipFill>
          <a:blip r:embed="rId2"/>
          <a:stretch>
            <a:fillRect/>
          </a:stretch>
        </p:blipFill>
        <p:spPr>
          <a:xfrm>
            <a:off x="1011387" y="1493702"/>
            <a:ext cx="10169225" cy="4841786"/>
          </a:xfrm>
          <a:prstGeom prst="rect">
            <a:avLst/>
          </a:prstGeom>
        </p:spPr>
      </p:pic>
      <p:pic>
        <p:nvPicPr>
          <p:cNvPr id="5" name="Picture 4">
            <a:extLst>
              <a:ext uri="{FF2B5EF4-FFF2-40B4-BE49-F238E27FC236}">
                <a16:creationId xmlns:a16="http://schemas.microsoft.com/office/drawing/2014/main" id="{27AA5C9E-056E-4291-8619-2A5C12DB4FD5}"/>
              </a:ext>
            </a:extLst>
          </p:cNvPr>
          <p:cNvPicPr>
            <a:picLocks noChangeAspect="1"/>
          </p:cNvPicPr>
          <p:nvPr/>
        </p:nvPicPr>
        <p:blipFill>
          <a:blip r:embed="rId3"/>
          <a:stretch>
            <a:fillRect/>
          </a:stretch>
        </p:blipFill>
        <p:spPr>
          <a:xfrm>
            <a:off x="3559439" y="6425800"/>
            <a:ext cx="6479911" cy="429790"/>
          </a:xfrm>
          <a:prstGeom prst="rect">
            <a:avLst/>
          </a:prstGeom>
        </p:spPr>
      </p:pic>
    </p:spTree>
    <p:extLst>
      <p:ext uri="{BB962C8B-B14F-4D97-AF65-F5344CB8AC3E}">
        <p14:creationId xmlns:p14="http://schemas.microsoft.com/office/powerpoint/2010/main" val="1609480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6.4 Comparators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85987"/>
            <a:ext cx="10774018" cy="5349501"/>
          </a:xfrm>
        </p:spPr>
        <p:txBody>
          <a:bodyPr>
            <a:normAutofit/>
          </a:bodyPr>
          <a:lstStyle/>
          <a:p>
            <a:pPr marL="0" indent="0">
              <a:lnSpc>
                <a:spcPct val="150000"/>
              </a:lnSpc>
              <a:buNone/>
            </a:pPr>
            <a:r>
              <a:rPr lang="en-US" sz="2400" b="1" i="1" dirty="0">
                <a:solidFill>
                  <a:schemeClr val="tx2">
                    <a:lumMod val="50000"/>
                    <a:lumOff val="50000"/>
                  </a:schemeClr>
                </a:solidFill>
                <a:latin typeface="Aptos (Body)"/>
              </a:rPr>
              <a:t>Equality </a:t>
            </a: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5" name="Picture 4">
            <a:extLst>
              <a:ext uri="{FF2B5EF4-FFF2-40B4-BE49-F238E27FC236}">
                <a16:creationId xmlns:a16="http://schemas.microsoft.com/office/drawing/2014/main" id="{0975E6E0-B455-4209-9F3D-446E72E66894}"/>
              </a:ext>
            </a:extLst>
          </p:cNvPr>
          <p:cNvPicPr>
            <a:picLocks noChangeAspect="1"/>
          </p:cNvPicPr>
          <p:nvPr/>
        </p:nvPicPr>
        <p:blipFill>
          <a:blip r:embed="rId2"/>
          <a:stretch>
            <a:fillRect/>
          </a:stretch>
        </p:blipFill>
        <p:spPr>
          <a:xfrm>
            <a:off x="2175221" y="1565379"/>
            <a:ext cx="8936188" cy="2115171"/>
          </a:xfrm>
          <a:prstGeom prst="rect">
            <a:avLst/>
          </a:prstGeom>
        </p:spPr>
      </p:pic>
      <p:pic>
        <p:nvPicPr>
          <p:cNvPr id="7" name="Picture 6">
            <a:extLst>
              <a:ext uri="{FF2B5EF4-FFF2-40B4-BE49-F238E27FC236}">
                <a16:creationId xmlns:a16="http://schemas.microsoft.com/office/drawing/2014/main" id="{51276C93-31DE-455D-8AFC-05BDB589A488}"/>
              </a:ext>
            </a:extLst>
          </p:cNvPr>
          <p:cNvPicPr>
            <a:picLocks noChangeAspect="1"/>
          </p:cNvPicPr>
          <p:nvPr/>
        </p:nvPicPr>
        <p:blipFill>
          <a:blip r:embed="rId3"/>
          <a:stretch>
            <a:fillRect/>
          </a:stretch>
        </p:blipFill>
        <p:spPr>
          <a:xfrm>
            <a:off x="2887524" y="3899958"/>
            <a:ext cx="7151826" cy="2776956"/>
          </a:xfrm>
          <a:prstGeom prst="rect">
            <a:avLst/>
          </a:prstGeom>
        </p:spPr>
      </p:pic>
    </p:spTree>
    <p:extLst>
      <p:ext uri="{BB962C8B-B14F-4D97-AF65-F5344CB8AC3E}">
        <p14:creationId xmlns:p14="http://schemas.microsoft.com/office/powerpoint/2010/main" val="1455369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6.4 Comparators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2" y="985987"/>
            <a:ext cx="7487479" cy="5349501"/>
          </a:xfrm>
        </p:spPr>
        <p:txBody>
          <a:bodyPr>
            <a:noAutofit/>
          </a:bodyPr>
          <a:lstStyle/>
          <a:p>
            <a:pPr marL="0" indent="0">
              <a:lnSpc>
                <a:spcPct val="150000"/>
              </a:lnSpc>
              <a:buNone/>
            </a:pPr>
            <a:r>
              <a:rPr lang="en-US" sz="2400" b="1" i="1" dirty="0">
                <a:solidFill>
                  <a:schemeClr val="tx2">
                    <a:lumMod val="50000"/>
                    <a:lumOff val="50000"/>
                  </a:schemeClr>
                </a:solidFill>
                <a:latin typeface="Aptos (Body)"/>
              </a:rPr>
              <a:t>Inequality </a:t>
            </a:r>
            <a:br>
              <a:rPr lang="en-US" sz="2100" b="1" i="1" dirty="0">
                <a:solidFill>
                  <a:schemeClr val="tx2">
                    <a:lumMod val="50000"/>
                    <a:lumOff val="50000"/>
                  </a:schemeClr>
                </a:solidFill>
                <a:latin typeface="Aptos (Body)"/>
              </a:rPr>
            </a:br>
            <a:r>
              <a:rPr lang="en-US" b="0" i="0" dirty="0">
                <a:solidFill>
                  <a:srgbClr val="242021"/>
                </a:solidFill>
                <a:effectLst/>
                <a:latin typeface="Aptos (Body)"/>
              </a:rPr>
              <a:t>To determine an inequality of binary numbers </a:t>
            </a:r>
            <a:r>
              <a:rPr lang="en-US" b="0" i="1" dirty="0">
                <a:solidFill>
                  <a:srgbClr val="242021"/>
                </a:solidFill>
                <a:effectLst/>
                <a:latin typeface="Aptos (Body)"/>
              </a:rPr>
              <a:t>A </a:t>
            </a:r>
            <a:r>
              <a:rPr lang="en-US" b="0" i="0" dirty="0">
                <a:solidFill>
                  <a:srgbClr val="242021"/>
                </a:solidFill>
                <a:effectLst/>
                <a:latin typeface="Aptos (Body)"/>
              </a:rPr>
              <a:t>and </a:t>
            </a:r>
            <a:r>
              <a:rPr lang="en-US" b="0" i="1" dirty="0">
                <a:solidFill>
                  <a:srgbClr val="242021"/>
                </a:solidFill>
                <a:effectLst/>
                <a:latin typeface="Aptos (Body)"/>
              </a:rPr>
              <a:t>B</a:t>
            </a:r>
            <a:r>
              <a:rPr lang="en-US" b="0" i="0" dirty="0">
                <a:solidFill>
                  <a:srgbClr val="242021"/>
                </a:solidFill>
                <a:effectLst/>
                <a:latin typeface="Aptos (Body)"/>
              </a:rPr>
              <a:t>, you first examine the highest order bit in each number. The following conditions are possible:</a:t>
            </a:r>
            <a:br>
              <a:rPr lang="en-US" b="0" i="0" dirty="0">
                <a:solidFill>
                  <a:srgbClr val="242021"/>
                </a:solidFill>
                <a:effectLst/>
                <a:latin typeface="Aptos (Body)"/>
              </a:rPr>
            </a:br>
            <a:r>
              <a:rPr lang="en-US" b="1" i="0" dirty="0">
                <a:solidFill>
                  <a:srgbClr val="242021"/>
                </a:solidFill>
                <a:effectLst/>
                <a:latin typeface="Aptos (Body)"/>
              </a:rPr>
              <a:t>1. </a:t>
            </a:r>
            <a:r>
              <a:rPr lang="en-US" b="0" i="0" dirty="0">
                <a:solidFill>
                  <a:srgbClr val="242021"/>
                </a:solidFill>
                <a:effectLst/>
                <a:latin typeface="Aptos (Body)"/>
              </a:rPr>
              <a:t>If </a:t>
            </a:r>
            <a:r>
              <a:rPr lang="en-US" b="0" i="1" dirty="0">
                <a:solidFill>
                  <a:srgbClr val="242021"/>
                </a:solidFill>
                <a:effectLst/>
                <a:latin typeface="Aptos (Body)"/>
              </a:rPr>
              <a:t>A</a:t>
            </a:r>
            <a:r>
              <a:rPr lang="en-US" b="0" i="0" dirty="0">
                <a:solidFill>
                  <a:srgbClr val="242021"/>
                </a:solidFill>
                <a:effectLst/>
                <a:latin typeface="Aptos (Body)"/>
              </a:rPr>
              <a:t>3 = 1 and </a:t>
            </a:r>
            <a:r>
              <a:rPr lang="en-US" b="0" i="1" dirty="0">
                <a:solidFill>
                  <a:srgbClr val="242021"/>
                </a:solidFill>
                <a:effectLst/>
                <a:latin typeface="Aptos (Body)"/>
              </a:rPr>
              <a:t>B</a:t>
            </a:r>
            <a:r>
              <a:rPr lang="en-US" b="0" i="0" dirty="0">
                <a:solidFill>
                  <a:srgbClr val="242021"/>
                </a:solidFill>
                <a:effectLst/>
                <a:latin typeface="Aptos (Body)"/>
              </a:rPr>
              <a:t>3 = 0, number </a:t>
            </a:r>
            <a:r>
              <a:rPr lang="en-US" b="0" i="1" dirty="0">
                <a:solidFill>
                  <a:srgbClr val="242021"/>
                </a:solidFill>
                <a:effectLst/>
                <a:latin typeface="Aptos (Body)"/>
              </a:rPr>
              <a:t>A </a:t>
            </a:r>
            <a:r>
              <a:rPr lang="en-US" b="0" i="0" dirty="0">
                <a:solidFill>
                  <a:srgbClr val="242021"/>
                </a:solidFill>
                <a:effectLst/>
                <a:latin typeface="Aptos (Body)"/>
              </a:rPr>
              <a:t>is greater than number </a:t>
            </a:r>
            <a:r>
              <a:rPr lang="en-US" b="0" i="1" dirty="0">
                <a:solidFill>
                  <a:srgbClr val="242021"/>
                </a:solidFill>
                <a:effectLst/>
                <a:latin typeface="Aptos (Body)"/>
              </a:rPr>
              <a:t>B.</a:t>
            </a:r>
            <a:br>
              <a:rPr lang="en-US" b="0" i="1" dirty="0">
                <a:solidFill>
                  <a:srgbClr val="242021"/>
                </a:solidFill>
                <a:effectLst/>
                <a:latin typeface="Aptos (Body)"/>
              </a:rPr>
            </a:br>
            <a:r>
              <a:rPr lang="en-US" b="1" i="0" dirty="0">
                <a:solidFill>
                  <a:srgbClr val="242021"/>
                </a:solidFill>
                <a:effectLst/>
                <a:latin typeface="Aptos (Body)"/>
              </a:rPr>
              <a:t>2. </a:t>
            </a:r>
            <a:r>
              <a:rPr lang="en-US" b="0" i="0" dirty="0">
                <a:solidFill>
                  <a:srgbClr val="242021"/>
                </a:solidFill>
                <a:effectLst/>
                <a:latin typeface="Aptos (Body)"/>
              </a:rPr>
              <a:t>If </a:t>
            </a:r>
            <a:r>
              <a:rPr lang="en-US" b="0" i="1" dirty="0">
                <a:solidFill>
                  <a:srgbClr val="242021"/>
                </a:solidFill>
                <a:effectLst/>
                <a:latin typeface="Aptos (Body)"/>
              </a:rPr>
              <a:t>A</a:t>
            </a:r>
            <a:r>
              <a:rPr lang="en-US" b="0" i="0" dirty="0">
                <a:solidFill>
                  <a:srgbClr val="242021"/>
                </a:solidFill>
                <a:effectLst/>
                <a:latin typeface="Aptos (Body)"/>
              </a:rPr>
              <a:t>3 = 0 and </a:t>
            </a:r>
            <a:r>
              <a:rPr lang="en-US" b="0" i="1" dirty="0">
                <a:solidFill>
                  <a:srgbClr val="242021"/>
                </a:solidFill>
                <a:effectLst/>
                <a:latin typeface="Aptos (Body)"/>
              </a:rPr>
              <a:t>B</a:t>
            </a:r>
            <a:r>
              <a:rPr lang="en-US" b="0" i="0" dirty="0">
                <a:solidFill>
                  <a:srgbClr val="242021"/>
                </a:solidFill>
                <a:effectLst/>
                <a:latin typeface="Aptos (Body)"/>
              </a:rPr>
              <a:t>3 = 1, number </a:t>
            </a:r>
            <a:r>
              <a:rPr lang="en-US" b="0" i="1" dirty="0">
                <a:solidFill>
                  <a:srgbClr val="242021"/>
                </a:solidFill>
                <a:effectLst/>
                <a:latin typeface="Aptos (Body)"/>
              </a:rPr>
              <a:t>A </a:t>
            </a:r>
            <a:r>
              <a:rPr lang="en-US" b="0" i="0" dirty="0">
                <a:solidFill>
                  <a:srgbClr val="242021"/>
                </a:solidFill>
                <a:effectLst/>
                <a:latin typeface="Aptos (Body)"/>
              </a:rPr>
              <a:t>is less than number </a:t>
            </a:r>
            <a:r>
              <a:rPr lang="en-US" b="0" i="1" dirty="0">
                <a:solidFill>
                  <a:srgbClr val="242021"/>
                </a:solidFill>
                <a:effectLst/>
                <a:latin typeface="Aptos (Body)"/>
              </a:rPr>
              <a:t>B.</a:t>
            </a:r>
            <a:br>
              <a:rPr lang="en-US" b="0" i="1" dirty="0">
                <a:solidFill>
                  <a:srgbClr val="242021"/>
                </a:solidFill>
                <a:effectLst/>
                <a:latin typeface="Aptos (Body)"/>
              </a:rPr>
            </a:br>
            <a:r>
              <a:rPr lang="en-US" b="1" i="0" dirty="0">
                <a:solidFill>
                  <a:srgbClr val="242021"/>
                </a:solidFill>
                <a:effectLst/>
                <a:latin typeface="Aptos (Body)"/>
              </a:rPr>
              <a:t>3. </a:t>
            </a:r>
            <a:r>
              <a:rPr lang="en-US" b="0" i="0" dirty="0">
                <a:solidFill>
                  <a:srgbClr val="242021"/>
                </a:solidFill>
                <a:effectLst/>
                <a:latin typeface="Aptos (Body)"/>
              </a:rPr>
              <a:t>If </a:t>
            </a:r>
            <a:r>
              <a:rPr lang="en-US" b="0" i="1" dirty="0">
                <a:solidFill>
                  <a:srgbClr val="242021"/>
                </a:solidFill>
                <a:effectLst/>
                <a:latin typeface="Aptos (Body)"/>
              </a:rPr>
              <a:t>A</a:t>
            </a:r>
            <a:r>
              <a:rPr lang="en-US" b="0" i="0" dirty="0">
                <a:solidFill>
                  <a:srgbClr val="242021"/>
                </a:solidFill>
                <a:effectLst/>
                <a:latin typeface="Aptos (Body)"/>
              </a:rPr>
              <a:t>3 = </a:t>
            </a:r>
            <a:r>
              <a:rPr lang="en-US" b="0" i="1" dirty="0">
                <a:solidFill>
                  <a:srgbClr val="242021"/>
                </a:solidFill>
                <a:effectLst/>
                <a:latin typeface="Aptos (Body)"/>
              </a:rPr>
              <a:t>B</a:t>
            </a:r>
            <a:r>
              <a:rPr lang="en-US" b="0" i="0" dirty="0">
                <a:solidFill>
                  <a:srgbClr val="242021"/>
                </a:solidFill>
                <a:effectLst/>
                <a:latin typeface="Aptos (Body)"/>
              </a:rPr>
              <a:t>3, then you must examine the next lower bit position for an inequality.</a:t>
            </a:r>
            <a:r>
              <a:rPr lang="en-US" dirty="0">
                <a:latin typeface="Aptos (Body)"/>
              </a:rPr>
              <a:t> </a:t>
            </a:r>
            <a:br>
              <a:rPr lang="en-US" sz="2100" dirty="0">
                <a:latin typeface="Aptos (Body)"/>
              </a:rPr>
            </a:b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3" name="Picture 2">
            <a:extLst>
              <a:ext uri="{FF2B5EF4-FFF2-40B4-BE49-F238E27FC236}">
                <a16:creationId xmlns:a16="http://schemas.microsoft.com/office/drawing/2014/main" id="{E757CB12-BC6E-4A9E-A4AB-53FC1C9BFFE6}"/>
              </a:ext>
            </a:extLst>
          </p:cNvPr>
          <p:cNvPicPr>
            <a:picLocks noChangeAspect="1"/>
          </p:cNvPicPr>
          <p:nvPr/>
        </p:nvPicPr>
        <p:blipFill>
          <a:blip r:embed="rId2"/>
          <a:stretch>
            <a:fillRect/>
          </a:stretch>
        </p:blipFill>
        <p:spPr>
          <a:xfrm>
            <a:off x="8719930" y="1401886"/>
            <a:ext cx="3472070" cy="4284682"/>
          </a:xfrm>
          <a:prstGeom prst="rect">
            <a:avLst/>
          </a:prstGeom>
        </p:spPr>
      </p:pic>
    </p:spTree>
    <p:extLst>
      <p:ext uri="{BB962C8B-B14F-4D97-AF65-F5344CB8AC3E}">
        <p14:creationId xmlns:p14="http://schemas.microsoft.com/office/powerpoint/2010/main" val="349745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6.5 Decoders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 decoder </a:t>
            </a:r>
            <a:r>
              <a:rPr lang="en-US" dirty="0">
                <a:solidFill>
                  <a:srgbClr val="242021"/>
                </a:solidFill>
                <a:latin typeface="Aptos (Body)"/>
              </a:rPr>
              <a:t>is a digital circuit that detects the presence of a specified combination of bits (code) on its inputs and indicates the presence of that code by a specified output level. </a:t>
            </a:r>
          </a:p>
          <a:p>
            <a:pPr marL="0" indent="0">
              <a:lnSpc>
                <a:spcPct val="100000"/>
              </a:lnSpc>
              <a:buNone/>
            </a:pPr>
            <a:r>
              <a:rPr lang="en-US" sz="2400" b="1" i="1" dirty="0">
                <a:solidFill>
                  <a:schemeClr val="tx2">
                    <a:lumMod val="50000"/>
                    <a:lumOff val="50000"/>
                  </a:schemeClr>
                </a:solidFill>
                <a:latin typeface="Aptos (Body)"/>
              </a:rPr>
              <a:t>The Basic Binary Decoder </a:t>
            </a: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3" name="Picture 2">
            <a:extLst>
              <a:ext uri="{FF2B5EF4-FFF2-40B4-BE49-F238E27FC236}">
                <a16:creationId xmlns:a16="http://schemas.microsoft.com/office/drawing/2014/main" id="{A286F1EB-78AE-463E-86C0-F6800957E0F7}"/>
              </a:ext>
            </a:extLst>
          </p:cNvPr>
          <p:cNvPicPr>
            <a:picLocks noChangeAspect="1"/>
          </p:cNvPicPr>
          <p:nvPr/>
        </p:nvPicPr>
        <p:blipFill>
          <a:blip r:embed="rId2"/>
          <a:stretch>
            <a:fillRect/>
          </a:stretch>
        </p:blipFill>
        <p:spPr>
          <a:xfrm>
            <a:off x="2179774" y="2585636"/>
            <a:ext cx="8991807" cy="3172434"/>
          </a:xfrm>
          <a:prstGeom prst="rect">
            <a:avLst/>
          </a:prstGeom>
        </p:spPr>
      </p:pic>
    </p:spTree>
    <p:extLst>
      <p:ext uri="{BB962C8B-B14F-4D97-AF65-F5344CB8AC3E}">
        <p14:creationId xmlns:p14="http://schemas.microsoft.com/office/powerpoint/2010/main" val="3142086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6.5 Decoders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14400"/>
            <a:ext cx="10774018" cy="542108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4-Bit Decoder </a:t>
            </a:r>
            <a:br>
              <a:rPr lang="en-US" dirty="0">
                <a:latin typeface="Aptos (Body)"/>
              </a:rPr>
            </a:br>
            <a:r>
              <a:rPr lang="en-US" b="0" i="0" dirty="0">
                <a:solidFill>
                  <a:srgbClr val="242021"/>
                </a:solidFill>
                <a:effectLst/>
                <a:latin typeface="Aptos (Body)"/>
              </a:rPr>
              <a:t>In order to decode all possible combinations of four bits, sixteen decoding gates are required (24 = 16). </a:t>
            </a: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3" name="Picture 2">
            <a:extLst>
              <a:ext uri="{FF2B5EF4-FFF2-40B4-BE49-F238E27FC236}">
                <a16:creationId xmlns:a16="http://schemas.microsoft.com/office/drawing/2014/main" id="{6851CEC0-E776-4BEA-B86F-B775438A020A}"/>
              </a:ext>
            </a:extLst>
          </p:cNvPr>
          <p:cNvPicPr>
            <a:picLocks noChangeAspect="1"/>
          </p:cNvPicPr>
          <p:nvPr/>
        </p:nvPicPr>
        <p:blipFill>
          <a:blip r:embed="rId2"/>
          <a:stretch>
            <a:fillRect/>
          </a:stretch>
        </p:blipFill>
        <p:spPr>
          <a:xfrm>
            <a:off x="543338" y="2078513"/>
            <a:ext cx="7885942" cy="4306588"/>
          </a:xfrm>
          <a:prstGeom prst="rect">
            <a:avLst/>
          </a:prstGeom>
        </p:spPr>
      </p:pic>
      <p:pic>
        <p:nvPicPr>
          <p:cNvPr id="5" name="Picture 4">
            <a:extLst>
              <a:ext uri="{FF2B5EF4-FFF2-40B4-BE49-F238E27FC236}">
                <a16:creationId xmlns:a16="http://schemas.microsoft.com/office/drawing/2014/main" id="{98DDBE53-9F38-4279-949F-58125CD58001}"/>
              </a:ext>
            </a:extLst>
          </p:cNvPr>
          <p:cNvPicPr>
            <a:picLocks noChangeAspect="1"/>
          </p:cNvPicPr>
          <p:nvPr/>
        </p:nvPicPr>
        <p:blipFill>
          <a:blip r:embed="rId3"/>
          <a:stretch>
            <a:fillRect/>
          </a:stretch>
        </p:blipFill>
        <p:spPr>
          <a:xfrm>
            <a:off x="8261553" y="2721100"/>
            <a:ext cx="1870909" cy="3021413"/>
          </a:xfrm>
          <a:prstGeom prst="rect">
            <a:avLst/>
          </a:prstGeom>
        </p:spPr>
      </p:pic>
      <p:pic>
        <p:nvPicPr>
          <p:cNvPr id="7" name="Picture 6">
            <a:extLst>
              <a:ext uri="{FF2B5EF4-FFF2-40B4-BE49-F238E27FC236}">
                <a16:creationId xmlns:a16="http://schemas.microsoft.com/office/drawing/2014/main" id="{2EA2F149-5AC0-43B2-A529-99A58E0227FA}"/>
              </a:ext>
            </a:extLst>
          </p:cNvPr>
          <p:cNvPicPr>
            <a:picLocks noChangeAspect="1"/>
          </p:cNvPicPr>
          <p:nvPr/>
        </p:nvPicPr>
        <p:blipFill>
          <a:blip r:embed="rId4"/>
          <a:stretch>
            <a:fillRect/>
          </a:stretch>
        </p:blipFill>
        <p:spPr>
          <a:xfrm>
            <a:off x="10410576" y="2717016"/>
            <a:ext cx="1781424" cy="3000794"/>
          </a:xfrm>
          <a:prstGeom prst="rect">
            <a:avLst/>
          </a:prstGeom>
        </p:spPr>
      </p:pic>
      <p:pic>
        <p:nvPicPr>
          <p:cNvPr id="8" name="Picture 7">
            <a:extLst>
              <a:ext uri="{FF2B5EF4-FFF2-40B4-BE49-F238E27FC236}">
                <a16:creationId xmlns:a16="http://schemas.microsoft.com/office/drawing/2014/main" id="{9F98B996-55F2-4E8F-A02D-A0FF03E3BC84}"/>
              </a:ext>
            </a:extLst>
          </p:cNvPr>
          <p:cNvPicPr>
            <a:picLocks noChangeAspect="1"/>
          </p:cNvPicPr>
          <p:nvPr/>
        </p:nvPicPr>
        <p:blipFill>
          <a:blip r:embed="rId5"/>
          <a:stretch>
            <a:fillRect/>
          </a:stretch>
        </p:blipFill>
        <p:spPr>
          <a:xfrm>
            <a:off x="8439504" y="5968905"/>
            <a:ext cx="3752496" cy="312708"/>
          </a:xfrm>
          <a:prstGeom prst="rect">
            <a:avLst/>
          </a:prstGeom>
        </p:spPr>
      </p:pic>
    </p:spTree>
    <p:extLst>
      <p:ext uri="{BB962C8B-B14F-4D97-AF65-F5344CB8AC3E}">
        <p14:creationId xmlns:p14="http://schemas.microsoft.com/office/powerpoint/2010/main" val="1612015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6.5 Decoders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BCD-to-Decimal Decoder</a:t>
            </a:r>
            <a:br>
              <a:rPr lang="en-US" sz="2100" b="0" i="0" dirty="0">
                <a:solidFill>
                  <a:srgbClr val="00803E"/>
                </a:solidFill>
                <a:effectLst/>
                <a:latin typeface="Aptos (Body)"/>
              </a:rPr>
            </a:br>
            <a:r>
              <a:rPr lang="en-US" b="0" i="0" dirty="0">
                <a:solidFill>
                  <a:srgbClr val="242021"/>
                </a:solidFill>
                <a:effectLst/>
                <a:latin typeface="Aptos (Body)"/>
              </a:rPr>
              <a:t>The BCD-to-decimal decoder converts each BCD code (8421 code) into one of ten possible decimal digit indications. It is frequently referred as a </a:t>
            </a:r>
            <a:r>
              <a:rPr lang="en-US" b="0" i="1" dirty="0">
                <a:solidFill>
                  <a:srgbClr val="242021"/>
                </a:solidFill>
                <a:effectLst/>
                <a:latin typeface="Aptos (Body)"/>
              </a:rPr>
              <a:t>4-line-to-10-line decoder </a:t>
            </a:r>
            <a:r>
              <a:rPr lang="en-US" b="0" i="0" dirty="0">
                <a:solidFill>
                  <a:srgbClr val="242021"/>
                </a:solidFill>
                <a:effectLst/>
                <a:latin typeface="Aptos (Body)"/>
              </a:rPr>
              <a:t>or a </a:t>
            </a:r>
            <a:r>
              <a:rPr lang="en-US" b="0" i="1" dirty="0">
                <a:solidFill>
                  <a:srgbClr val="242021"/>
                </a:solidFill>
                <a:effectLst/>
                <a:latin typeface="Aptos (Body)"/>
              </a:rPr>
              <a:t>1-of-10 decoder.</a:t>
            </a:r>
            <a:r>
              <a:rPr lang="en-US" dirty="0">
                <a:latin typeface="Aptos (Body)"/>
              </a:rPr>
              <a:t> </a:t>
            </a: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3" name="Picture 2">
            <a:extLst>
              <a:ext uri="{FF2B5EF4-FFF2-40B4-BE49-F238E27FC236}">
                <a16:creationId xmlns:a16="http://schemas.microsoft.com/office/drawing/2014/main" id="{E715DAF1-BBA4-401A-9D87-50BFC0A04F97}"/>
              </a:ext>
            </a:extLst>
          </p:cNvPr>
          <p:cNvPicPr>
            <a:picLocks noChangeAspect="1"/>
          </p:cNvPicPr>
          <p:nvPr/>
        </p:nvPicPr>
        <p:blipFill>
          <a:blip r:embed="rId2"/>
          <a:stretch>
            <a:fillRect/>
          </a:stretch>
        </p:blipFill>
        <p:spPr>
          <a:xfrm>
            <a:off x="543338" y="2464996"/>
            <a:ext cx="6246078" cy="4046105"/>
          </a:xfrm>
          <a:prstGeom prst="rect">
            <a:avLst/>
          </a:prstGeom>
        </p:spPr>
      </p:pic>
      <p:pic>
        <p:nvPicPr>
          <p:cNvPr id="5" name="Picture 4">
            <a:extLst>
              <a:ext uri="{FF2B5EF4-FFF2-40B4-BE49-F238E27FC236}">
                <a16:creationId xmlns:a16="http://schemas.microsoft.com/office/drawing/2014/main" id="{FE1922E3-A1E1-448B-9EDE-A194CC120CC0}"/>
              </a:ext>
            </a:extLst>
          </p:cNvPr>
          <p:cNvPicPr>
            <a:picLocks noChangeAspect="1"/>
          </p:cNvPicPr>
          <p:nvPr/>
        </p:nvPicPr>
        <p:blipFill>
          <a:blip r:embed="rId3"/>
          <a:stretch>
            <a:fillRect/>
          </a:stretch>
        </p:blipFill>
        <p:spPr>
          <a:xfrm>
            <a:off x="7789249" y="2652293"/>
            <a:ext cx="2815517" cy="3105777"/>
          </a:xfrm>
          <a:prstGeom prst="rect">
            <a:avLst/>
          </a:prstGeom>
        </p:spPr>
      </p:pic>
      <p:pic>
        <p:nvPicPr>
          <p:cNvPr id="8" name="Picture 7">
            <a:extLst>
              <a:ext uri="{FF2B5EF4-FFF2-40B4-BE49-F238E27FC236}">
                <a16:creationId xmlns:a16="http://schemas.microsoft.com/office/drawing/2014/main" id="{3AD63886-764F-4980-A4BD-59E30A64348C}"/>
              </a:ext>
            </a:extLst>
          </p:cNvPr>
          <p:cNvPicPr>
            <a:picLocks noChangeAspect="1"/>
          </p:cNvPicPr>
          <p:nvPr/>
        </p:nvPicPr>
        <p:blipFill>
          <a:blip r:embed="rId4"/>
          <a:stretch>
            <a:fillRect/>
          </a:stretch>
        </p:blipFill>
        <p:spPr>
          <a:xfrm>
            <a:off x="6952839" y="5908858"/>
            <a:ext cx="5027129" cy="426630"/>
          </a:xfrm>
          <a:prstGeom prst="rect">
            <a:avLst/>
          </a:prstGeom>
        </p:spPr>
      </p:pic>
    </p:spTree>
    <p:extLst>
      <p:ext uri="{BB962C8B-B14F-4D97-AF65-F5344CB8AC3E}">
        <p14:creationId xmlns:p14="http://schemas.microsoft.com/office/powerpoint/2010/main" val="4151793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6.5 Decoders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92677"/>
            <a:ext cx="10774018" cy="5341575"/>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The BCD-to-7-Segment Decoder </a:t>
            </a:r>
            <a:br>
              <a:rPr lang="en-US" dirty="0"/>
            </a:br>
            <a:r>
              <a:rPr lang="en-US" dirty="0"/>
              <a:t> </a:t>
            </a:r>
            <a:r>
              <a:rPr lang="en-US" dirty="0">
                <a:solidFill>
                  <a:srgbClr val="242021"/>
                </a:solidFill>
                <a:latin typeface="Aptos (Body)"/>
              </a:rPr>
              <a:t>The BCD-to-7-segment decoder accepts the BCD code on its inputs and provides outputs to drive 7-segment display devices to produce a decimal readout. </a:t>
            </a: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3" name="Picture 2">
            <a:extLst>
              <a:ext uri="{FF2B5EF4-FFF2-40B4-BE49-F238E27FC236}">
                <a16:creationId xmlns:a16="http://schemas.microsoft.com/office/drawing/2014/main" id="{01FECAC8-6F6A-4A19-8700-8DA27040C0E5}"/>
              </a:ext>
            </a:extLst>
          </p:cNvPr>
          <p:cNvPicPr>
            <a:picLocks noChangeAspect="1"/>
          </p:cNvPicPr>
          <p:nvPr/>
        </p:nvPicPr>
        <p:blipFill>
          <a:blip r:embed="rId2"/>
          <a:stretch>
            <a:fillRect/>
          </a:stretch>
        </p:blipFill>
        <p:spPr>
          <a:xfrm>
            <a:off x="1164560" y="2839868"/>
            <a:ext cx="3920826" cy="2183024"/>
          </a:xfrm>
          <a:prstGeom prst="rect">
            <a:avLst/>
          </a:prstGeom>
        </p:spPr>
      </p:pic>
      <p:pic>
        <p:nvPicPr>
          <p:cNvPr id="5" name="Picture 4">
            <a:extLst>
              <a:ext uri="{FF2B5EF4-FFF2-40B4-BE49-F238E27FC236}">
                <a16:creationId xmlns:a16="http://schemas.microsoft.com/office/drawing/2014/main" id="{6947798E-938F-4804-9633-150CD3E6F19E}"/>
              </a:ext>
            </a:extLst>
          </p:cNvPr>
          <p:cNvPicPr>
            <a:picLocks noChangeAspect="1"/>
          </p:cNvPicPr>
          <p:nvPr/>
        </p:nvPicPr>
        <p:blipFill>
          <a:blip r:embed="rId3"/>
          <a:stretch>
            <a:fillRect/>
          </a:stretch>
        </p:blipFill>
        <p:spPr>
          <a:xfrm>
            <a:off x="7877111" y="2427568"/>
            <a:ext cx="3426515" cy="3154569"/>
          </a:xfrm>
          <a:prstGeom prst="rect">
            <a:avLst/>
          </a:prstGeom>
        </p:spPr>
      </p:pic>
      <p:pic>
        <p:nvPicPr>
          <p:cNvPr id="7" name="Picture 6">
            <a:extLst>
              <a:ext uri="{FF2B5EF4-FFF2-40B4-BE49-F238E27FC236}">
                <a16:creationId xmlns:a16="http://schemas.microsoft.com/office/drawing/2014/main" id="{4217740A-6F0E-41F5-BCAC-72FE1BF3EE5A}"/>
              </a:ext>
            </a:extLst>
          </p:cNvPr>
          <p:cNvPicPr>
            <a:picLocks noChangeAspect="1"/>
          </p:cNvPicPr>
          <p:nvPr/>
        </p:nvPicPr>
        <p:blipFill>
          <a:blip r:embed="rId4"/>
          <a:stretch>
            <a:fillRect/>
          </a:stretch>
        </p:blipFill>
        <p:spPr>
          <a:xfrm>
            <a:off x="7127883" y="5740772"/>
            <a:ext cx="4924969" cy="409238"/>
          </a:xfrm>
          <a:prstGeom prst="rect">
            <a:avLst/>
          </a:prstGeom>
        </p:spPr>
      </p:pic>
      <p:pic>
        <p:nvPicPr>
          <p:cNvPr id="8" name="Picture 7">
            <a:extLst>
              <a:ext uri="{FF2B5EF4-FFF2-40B4-BE49-F238E27FC236}">
                <a16:creationId xmlns:a16="http://schemas.microsoft.com/office/drawing/2014/main" id="{C0BF89A8-5C0A-4E17-9FC5-E1D79252A2E1}"/>
              </a:ext>
            </a:extLst>
          </p:cNvPr>
          <p:cNvPicPr>
            <a:picLocks noChangeAspect="1"/>
          </p:cNvPicPr>
          <p:nvPr/>
        </p:nvPicPr>
        <p:blipFill>
          <a:blip r:embed="rId5"/>
          <a:stretch>
            <a:fillRect/>
          </a:stretch>
        </p:blipFill>
        <p:spPr>
          <a:xfrm>
            <a:off x="543338" y="5540962"/>
            <a:ext cx="6251330" cy="485017"/>
          </a:xfrm>
          <a:prstGeom prst="rect">
            <a:avLst/>
          </a:prstGeom>
        </p:spPr>
      </p:pic>
    </p:spTree>
    <p:extLst>
      <p:ext uri="{BB962C8B-B14F-4D97-AF65-F5344CB8AC3E}">
        <p14:creationId xmlns:p14="http://schemas.microsoft.com/office/powerpoint/2010/main" val="111769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6.5 Decoders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93913"/>
            <a:ext cx="10774018" cy="5341575"/>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Zero Suppression for a 4-Digit Display </a:t>
            </a:r>
            <a:br>
              <a:rPr lang="en-US" sz="2100" b="1" i="1" dirty="0">
                <a:solidFill>
                  <a:schemeClr val="tx2">
                    <a:lumMod val="50000"/>
                    <a:lumOff val="50000"/>
                  </a:schemeClr>
                </a:solidFill>
                <a:latin typeface="Aptos (Body)"/>
              </a:rPr>
            </a:br>
            <a:r>
              <a:rPr lang="en-US" dirty="0">
                <a:solidFill>
                  <a:srgbClr val="242021"/>
                </a:solidFill>
                <a:latin typeface="Aptos (Body)"/>
              </a:rPr>
              <a:t>Zero suppression results in leading or trailing zeros in a number not showing on a display. </a:t>
            </a:r>
            <a:br>
              <a:rPr lang="en-US" sz="1200" dirty="0"/>
            </a:br>
            <a:r>
              <a:rPr lang="en-US" sz="1600" dirty="0"/>
              <a:t> </a:t>
            </a: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pic>
        <p:nvPicPr>
          <p:cNvPr id="9" name="Picture 8">
            <a:extLst>
              <a:ext uri="{FF2B5EF4-FFF2-40B4-BE49-F238E27FC236}">
                <a16:creationId xmlns:a16="http://schemas.microsoft.com/office/drawing/2014/main" id="{70FFE075-6155-4C3D-AE0B-FE87F9C9E311}"/>
              </a:ext>
            </a:extLst>
          </p:cNvPr>
          <p:cNvPicPr>
            <a:picLocks noChangeAspect="1"/>
          </p:cNvPicPr>
          <p:nvPr/>
        </p:nvPicPr>
        <p:blipFill>
          <a:blip r:embed="rId2"/>
          <a:stretch>
            <a:fillRect/>
          </a:stretch>
        </p:blipFill>
        <p:spPr>
          <a:xfrm>
            <a:off x="3268606" y="1892361"/>
            <a:ext cx="5822385" cy="4970613"/>
          </a:xfrm>
          <a:prstGeom prst="rect">
            <a:avLst/>
          </a:prstGeom>
        </p:spPr>
      </p:pic>
    </p:spTree>
    <p:extLst>
      <p:ext uri="{BB962C8B-B14F-4D97-AF65-F5344CB8AC3E}">
        <p14:creationId xmlns:p14="http://schemas.microsoft.com/office/powerpoint/2010/main" val="1897797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6.6 E</a:t>
            </a:r>
            <a:r>
              <a:rPr lang="en-US" dirty="0">
                <a:solidFill>
                  <a:srgbClr val="FF0000"/>
                </a:solidFill>
              </a:rPr>
              <a:t>ncoder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93913"/>
            <a:ext cx="10522226" cy="5341575"/>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An encoder is </a:t>
            </a:r>
            <a:r>
              <a:rPr lang="en-US" dirty="0">
                <a:solidFill>
                  <a:srgbClr val="242021"/>
                </a:solidFill>
                <a:latin typeface="Aptos (Body)"/>
              </a:rPr>
              <a:t>a combinational logic circuit that essentially performs a “reverse” decoder function. An encoder accepts an active level on one of its inputs representing a digit, such as a decimal or octal digit, and converts it to a coded output, such as BCD or binary. Encoders can also be devised to encode various symbols and alphabetic characters. </a:t>
            </a:r>
            <a:br>
              <a:rPr lang="en-US" sz="2100" dirty="0">
                <a:solidFill>
                  <a:srgbClr val="242021"/>
                </a:solidFill>
                <a:latin typeface="Aptos (Body)"/>
              </a:rPr>
            </a:br>
            <a:r>
              <a:rPr lang="en-US" sz="2400" b="1" i="1" dirty="0">
                <a:solidFill>
                  <a:schemeClr val="tx2">
                    <a:lumMod val="50000"/>
                    <a:lumOff val="50000"/>
                  </a:schemeClr>
                </a:solidFill>
                <a:latin typeface="Aptos (Body)"/>
              </a:rPr>
              <a:t>The Decimal-to-BCD Encoder </a:t>
            </a:r>
            <a:br>
              <a:rPr lang="en-US" sz="2100" b="1" i="1" dirty="0">
                <a:solidFill>
                  <a:schemeClr val="tx2">
                    <a:lumMod val="50000"/>
                    <a:lumOff val="50000"/>
                  </a:schemeClr>
                </a:solidFill>
                <a:latin typeface="Aptos (Body)"/>
              </a:rPr>
            </a:br>
            <a:br>
              <a:rPr lang="en-US" sz="1600" dirty="0"/>
            </a:br>
            <a:br>
              <a:rPr lang="en-US" sz="2100" dirty="0">
                <a:latin typeface="Aptos (Body)"/>
              </a:rPr>
            </a:b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21</a:t>
            </a:fld>
            <a:endParaRPr lang="vi-VN" dirty="0"/>
          </a:p>
        </p:txBody>
      </p:sp>
      <p:pic>
        <p:nvPicPr>
          <p:cNvPr id="8" name="Picture 7">
            <a:extLst>
              <a:ext uri="{FF2B5EF4-FFF2-40B4-BE49-F238E27FC236}">
                <a16:creationId xmlns:a16="http://schemas.microsoft.com/office/drawing/2014/main" id="{C701DEA3-6FE6-4385-BBF8-0699ADC4FFA6}"/>
              </a:ext>
            </a:extLst>
          </p:cNvPr>
          <p:cNvPicPr>
            <a:picLocks noChangeAspect="1"/>
          </p:cNvPicPr>
          <p:nvPr/>
        </p:nvPicPr>
        <p:blipFill>
          <a:blip r:embed="rId2"/>
          <a:stretch>
            <a:fillRect/>
          </a:stretch>
        </p:blipFill>
        <p:spPr>
          <a:xfrm>
            <a:off x="689113" y="3189662"/>
            <a:ext cx="2584173" cy="2083160"/>
          </a:xfrm>
          <a:prstGeom prst="rect">
            <a:avLst/>
          </a:prstGeom>
        </p:spPr>
      </p:pic>
      <p:pic>
        <p:nvPicPr>
          <p:cNvPr id="10" name="Picture 9">
            <a:extLst>
              <a:ext uri="{FF2B5EF4-FFF2-40B4-BE49-F238E27FC236}">
                <a16:creationId xmlns:a16="http://schemas.microsoft.com/office/drawing/2014/main" id="{6E481D16-272D-4374-86C4-1664DB09FB51}"/>
              </a:ext>
            </a:extLst>
          </p:cNvPr>
          <p:cNvPicPr>
            <a:picLocks noChangeAspect="1"/>
          </p:cNvPicPr>
          <p:nvPr/>
        </p:nvPicPr>
        <p:blipFill>
          <a:blip r:embed="rId3"/>
          <a:stretch>
            <a:fillRect/>
          </a:stretch>
        </p:blipFill>
        <p:spPr>
          <a:xfrm>
            <a:off x="3504686" y="2772528"/>
            <a:ext cx="4245718" cy="2903394"/>
          </a:xfrm>
          <a:prstGeom prst="rect">
            <a:avLst/>
          </a:prstGeom>
        </p:spPr>
      </p:pic>
      <p:pic>
        <p:nvPicPr>
          <p:cNvPr id="11" name="Picture 10">
            <a:extLst>
              <a:ext uri="{FF2B5EF4-FFF2-40B4-BE49-F238E27FC236}">
                <a16:creationId xmlns:a16="http://schemas.microsoft.com/office/drawing/2014/main" id="{7FD680D2-B864-4F45-8E4F-909ECF6F70F8}"/>
              </a:ext>
            </a:extLst>
          </p:cNvPr>
          <p:cNvPicPr>
            <a:picLocks noChangeAspect="1"/>
          </p:cNvPicPr>
          <p:nvPr/>
        </p:nvPicPr>
        <p:blipFill>
          <a:blip r:embed="rId4"/>
          <a:stretch>
            <a:fillRect/>
          </a:stretch>
        </p:blipFill>
        <p:spPr>
          <a:xfrm>
            <a:off x="7981804" y="2973345"/>
            <a:ext cx="4115092" cy="2633131"/>
          </a:xfrm>
          <a:prstGeom prst="rect">
            <a:avLst/>
          </a:prstGeom>
        </p:spPr>
      </p:pic>
      <p:pic>
        <p:nvPicPr>
          <p:cNvPr id="12" name="Picture 11">
            <a:extLst>
              <a:ext uri="{FF2B5EF4-FFF2-40B4-BE49-F238E27FC236}">
                <a16:creationId xmlns:a16="http://schemas.microsoft.com/office/drawing/2014/main" id="{5768547F-5B8D-4199-A4D5-E4AB2C2F5510}"/>
              </a:ext>
            </a:extLst>
          </p:cNvPr>
          <p:cNvPicPr>
            <a:picLocks noChangeAspect="1"/>
          </p:cNvPicPr>
          <p:nvPr/>
        </p:nvPicPr>
        <p:blipFill>
          <a:blip r:embed="rId5"/>
          <a:stretch>
            <a:fillRect/>
          </a:stretch>
        </p:blipFill>
        <p:spPr>
          <a:xfrm>
            <a:off x="1704620" y="5835246"/>
            <a:ext cx="1568667" cy="381224"/>
          </a:xfrm>
          <a:prstGeom prst="rect">
            <a:avLst/>
          </a:prstGeom>
        </p:spPr>
      </p:pic>
      <p:pic>
        <p:nvPicPr>
          <p:cNvPr id="13" name="Picture 12">
            <a:extLst>
              <a:ext uri="{FF2B5EF4-FFF2-40B4-BE49-F238E27FC236}">
                <a16:creationId xmlns:a16="http://schemas.microsoft.com/office/drawing/2014/main" id="{8394C87A-83DE-448B-85BE-E5767EBA66A3}"/>
              </a:ext>
            </a:extLst>
          </p:cNvPr>
          <p:cNvPicPr>
            <a:picLocks noChangeAspect="1"/>
          </p:cNvPicPr>
          <p:nvPr/>
        </p:nvPicPr>
        <p:blipFill>
          <a:blip r:embed="rId6"/>
          <a:stretch>
            <a:fillRect/>
          </a:stretch>
        </p:blipFill>
        <p:spPr>
          <a:xfrm>
            <a:off x="1615330" y="6253192"/>
            <a:ext cx="2734647" cy="585996"/>
          </a:xfrm>
          <a:prstGeom prst="rect">
            <a:avLst/>
          </a:prstGeom>
        </p:spPr>
      </p:pic>
      <p:pic>
        <p:nvPicPr>
          <p:cNvPr id="14" name="Picture 13">
            <a:extLst>
              <a:ext uri="{FF2B5EF4-FFF2-40B4-BE49-F238E27FC236}">
                <a16:creationId xmlns:a16="http://schemas.microsoft.com/office/drawing/2014/main" id="{D5438E8C-5211-4C91-92A5-3E86FCCB1097}"/>
              </a:ext>
            </a:extLst>
          </p:cNvPr>
          <p:cNvPicPr>
            <a:picLocks noChangeAspect="1"/>
          </p:cNvPicPr>
          <p:nvPr/>
        </p:nvPicPr>
        <p:blipFill>
          <a:blip r:embed="rId7"/>
          <a:stretch>
            <a:fillRect/>
          </a:stretch>
        </p:blipFill>
        <p:spPr>
          <a:xfrm>
            <a:off x="5337131" y="5694283"/>
            <a:ext cx="3047381" cy="576532"/>
          </a:xfrm>
          <a:prstGeom prst="rect">
            <a:avLst/>
          </a:prstGeom>
        </p:spPr>
      </p:pic>
      <p:pic>
        <p:nvPicPr>
          <p:cNvPr id="15" name="Picture 14">
            <a:extLst>
              <a:ext uri="{FF2B5EF4-FFF2-40B4-BE49-F238E27FC236}">
                <a16:creationId xmlns:a16="http://schemas.microsoft.com/office/drawing/2014/main" id="{21443D3A-9399-4A66-A6D5-4877A35D5070}"/>
              </a:ext>
            </a:extLst>
          </p:cNvPr>
          <p:cNvPicPr>
            <a:picLocks noChangeAspect="1"/>
          </p:cNvPicPr>
          <p:nvPr/>
        </p:nvPicPr>
        <p:blipFill>
          <a:blip r:embed="rId8"/>
          <a:stretch>
            <a:fillRect/>
          </a:stretch>
        </p:blipFill>
        <p:spPr>
          <a:xfrm>
            <a:off x="5337131" y="6240838"/>
            <a:ext cx="3580980" cy="540526"/>
          </a:xfrm>
          <a:prstGeom prst="rect">
            <a:avLst/>
          </a:prstGeom>
        </p:spPr>
      </p:pic>
    </p:spTree>
    <p:extLst>
      <p:ext uri="{BB962C8B-B14F-4D97-AF65-F5344CB8AC3E}">
        <p14:creationId xmlns:p14="http://schemas.microsoft.com/office/powerpoint/2010/main" val="373527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6.6 E</a:t>
            </a:r>
            <a:r>
              <a:rPr lang="en-US" dirty="0">
                <a:solidFill>
                  <a:srgbClr val="FF0000"/>
                </a:solidFill>
              </a:rPr>
              <a:t>ncoder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3" y="887897"/>
            <a:ext cx="10933043" cy="5447592"/>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An Application </a:t>
            </a:r>
            <a:br>
              <a:rPr lang="en-US" sz="1600" dirty="0"/>
            </a:br>
            <a:r>
              <a:rPr lang="en-US" sz="2100" dirty="0">
                <a:solidFill>
                  <a:srgbClr val="242021"/>
                </a:solidFill>
                <a:latin typeface="Aptos (Body)"/>
              </a:rPr>
              <a:t>The ten decimal digits on a numeric keypad must be encoded for processing by the logic circuitry. In this example, when one of the keys is pressed, the decimal digit is encoded to the corresponding BCD code. </a:t>
            </a:r>
            <a:br>
              <a:rPr lang="en-US" sz="1600" dirty="0"/>
            </a:br>
            <a:endParaRPr lang="en-US" sz="1600" dirty="0"/>
          </a:p>
          <a:p>
            <a:pPr marL="0" indent="0">
              <a:lnSpc>
                <a:spcPct val="100000"/>
              </a:lnSpc>
              <a:buNone/>
            </a:pPr>
            <a:br>
              <a:rPr lang="en-US" sz="1600" dirty="0"/>
            </a:br>
            <a:br>
              <a:rPr lang="en-US" sz="2100" dirty="0">
                <a:latin typeface="Aptos (Body)"/>
              </a:rPr>
            </a:br>
            <a:br>
              <a:rPr lang="en-US" sz="2100" dirty="0">
                <a:latin typeface="Aptos (Body)"/>
              </a:rPr>
            </a:b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22</a:t>
            </a:fld>
            <a:endParaRPr lang="vi-VN" dirty="0"/>
          </a:p>
        </p:txBody>
      </p:sp>
      <p:pic>
        <p:nvPicPr>
          <p:cNvPr id="5" name="Picture 4">
            <a:extLst>
              <a:ext uri="{FF2B5EF4-FFF2-40B4-BE49-F238E27FC236}">
                <a16:creationId xmlns:a16="http://schemas.microsoft.com/office/drawing/2014/main" id="{15FCC8B3-3F0D-4526-AEE9-685048A09F3A}"/>
              </a:ext>
            </a:extLst>
          </p:cNvPr>
          <p:cNvPicPr>
            <a:picLocks noChangeAspect="1"/>
          </p:cNvPicPr>
          <p:nvPr/>
        </p:nvPicPr>
        <p:blipFill>
          <a:blip r:embed="rId2"/>
          <a:stretch>
            <a:fillRect/>
          </a:stretch>
        </p:blipFill>
        <p:spPr>
          <a:xfrm>
            <a:off x="4129469" y="1998802"/>
            <a:ext cx="5438601" cy="4776331"/>
          </a:xfrm>
          <a:prstGeom prst="rect">
            <a:avLst/>
          </a:prstGeom>
        </p:spPr>
      </p:pic>
    </p:spTree>
    <p:extLst>
      <p:ext uri="{BB962C8B-B14F-4D97-AF65-F5344CB8AC3E}">
        <p14:creationId xmlns:p14="http://schemas.microsoft.com/office/powerpoint/2010/main" val="4198230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6.7 Code Converters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3596"/>
            <a:ext cx="10774018" cy="5394584"/>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BCD-to-Binary Conversion </a:t>
            </a:r>
            <a:br>
              <a:rPr lang="en-US" sz="1600" dirty="0"/>
            </a:br>
            <a:r>
              <a:rPr lang="en-US" b="1" i="1" dirty="0">
                <a:solidFill>
                  <a:srgbClr val="242021"/>
                </a:solidFill>
                <a:latin typeface="Aptos (Body)"/>
              </a:rPr>
              <a:t>The binary numbers representing the weights of the BCD bits are summed to produce the total binary number. </a:t>
            </a:r>
            <a:br>
              <a:rPr lang="en-US" sz="1600" dirty="0"/>
            </a:b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23</a:t>
            </a:fld>
            <a:endParaRPr lang="vi-VN" dirty="0"/>
          </a:p>
        </p:txBody>
      </p:sp>
      <p:pic>
        <p:nvPicPr>
          <p:cNvPr id="7" name="Picture 6">
            <a:extLst>
              <a:ext uri="{FF2B5EF4-FFF2-40B4-BE49-F238E27FC236}">
                <a16:creationId xmlns:a16="http://schemas.microsoft.com/office/drawing/2014/main" id="{4826A8DD-CBBD-4891-8AD6-FDC9102F40DE}"/>
              </a:ext>
            </a:extLst>
          </p:cNvPr>
          <p:cNvPicPr>
            <a:picLocks noChangeAspect="1"/>
          </p:cNvPicPr>
          <p:nvPr/>
        </p:nvPicPr>
        <p:blipFill>
          <a:blip r:embed="rId2"/>
          <a:stretch>
            <a:fillRect/>
          </a:stretch>
        </p:blipFill>
        <p:spPr>
          <a:xfrm>
            <a:off x="6096000" y="1695528"/>
            <a:ext cx="1815548" cy="822670"/>
          </a:xfrm>
          <a:prstGeom prst="rect">
            <a:avLst/>
          </a:prstGeom>
        </p:spPr>
      </p:pic>
      <p:pic>
        <p:nvPicPr>
          <p:cNvPr id="9" name="Picture 8">
            <a:extLst>
              <a:ext uri="{FF2B5EF4-FFF2-40B4-BE49-F238E27FC236}">
                <a16:creationId xmlns:a16="http://schemas.microsoft.com/office/drawing/2014/main" id="{56DC3204-F9D2-4511-B083-A585C12CAAB7}"/>
              </a:ext>
            </a:extLst>
          </p:cNvPr>
          <p:cNvPicPr>
            <a:picLocks noChangeAspect="1"/>
          </p:cNvPicPr>
          <p:nvPr/>
        </p:nvPicPr>
        <p:blipFill>
          <a:blip r:embed="rId3"/>
          <a:stretch>
            <a:fillRect/>
          </a:stretch>
        </p:blipFill>
        <p:spPr>
          <a:xfrm>
            <a:off x="2462342" y="2628206"/>
            <a:ext cx="7598622" cy="1114464"/>
          </a:xfrm>
          <a:prstGeom prst="rect">
            <a:avLst/>
          </a:prstGeom>
        </p:spPr>
      </p:pic>
      <p:pic>
        <p:nvPicPr>
          <p:cNvPr id="10" name="Picture 9">
            <a:extLst>
              <a:ext uri="{FF2B5EF4-FFF2-40B4-BE49-F238E27FC236}">
                <a16:creationId xmlns:a16="http://schemas.microsoft.com/office/drawing/2014/main" id="{B8F74EB5-B006-4B7C-BA96-E59495CE0434}"/>
              </a:ext>
            </a:extLst>
          </p:cNvPr>
          <p:cNvPicPr>
            <a:picLocks noChangeAspect="1"/>
          </p:cNvPicPr>
          <p:nvPr/>
        </p:nvPicPr>
        <p:blipFill>
          <a:blip r:embed="rId4"/>
          <a:stretch>
            <a:fillRect/>
          </a:stretch>
        </p:blipFill>
        <p:spPr>
          <a:xfrm>
            <a:off x="2696135" y="3705586"/>
            <a:ext cx="7131035" cy="3170640"/>
          </a:xfrm>
          <a:prstGeom prst="rect">
            <a:avLst/>
          </a:prstGeom>
        </p:spPr>
      </p:pic>
    </p:spTree>
    <p:extLst>
      <p:ext uri="{BB962C8B-B14F-4D97-AF65-F5344CB8AC3E}">
        <p14:creationId xmlns:p14="http://schemas.microsoft.com/office/powerpoint/2010/main" val="701438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6.7 Code Converters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3596"/>
            <a:ext cx="10774018" cy="5394584"/>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Binary-to-Gray and Gray-to-Binary Conversion </a:t>
            </a:r>
            <a:br>
              <a:rPr lang="en-US" sz="1200" dirty="0"/>
            </a:br>
            <a:br>
              <a:rPr lang="en-US" sz="1600" dirty="0"/>
            </a:b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24</a:t>
            </a:fld>
            <a:endParaRPr lang="vi-VN" dirty="0"/>
          </a:p>
        </p:txBody>
      </p:sp>
      <p:pic>
        <p:nvPicPr>
          <p:cNvPr id="8" name="Picture 7">
            <a:extLst>
              <a:ext uri="{FF2B5EF4-FFF2-40B4-BE49-F238E27FC236}">
                <a16:creationId xmlns:a16="http://schemas.microsoft.com/office/drawing/2014/main" id="{D368E25E-D581-4B4F-9D26-2C2415040CC0}"/>
              </a:ext>
            </a:extLst>
          </p:cNvPr>
          <p:cNvPicPr>
            <a:picLocks noChangeAspect="1"/>
          </p:cNvPicPr>
          <p:nvPr/>
        </p:nvPicPr>
        <p:blipFill>
          <a:blip r:embed="rId2"/>
          <a:stretch>
            <a:fillRect/>
          </a:stretch>
        </p:blipFill>
        <p:spPr>
          <a:xfrm>
            <a:off x="7065819" y="1592084"/>
            <a:ext cx="4262377" cy="3526149"/>
          </a:xfrm>
          <a:prstGeom prst="rect">
            <a:avLst/>
          </a:prstGeom>
        </p:spPr>
      </p:pic>
      <p:pic>
        <p:nvPicPr>
          <p:cNvPr id="11" name="Picture 10">
            <a:extLst>
              <a:ext uri="{FF2B5EF4-FFF2-40B4-BE49-F238E27FC236}">
                <a16:creationId xmlns:a16="http://schemas.microsoft.com/office/drawing/2014/main" id="{64D3ACD2-80F4-4153-A2C6-12B3B69943FB}"/>
              </a:ext>
            </a:extLst>
          </p:cNvPr>
          <p:cNvPicPr>
            <a:picLocks noChangeAspect="1"/>
          </p:cNvPicPr>
          <p:nvPr/>
        </p:nvPicPr>
        <p:blipFill>
          <a:blip r:embed="rId3"/>
          <a:stretch>
            <a:fillRect/>
          </a:stretch>
        </p:blipFill>
        <p:spPr>
          <a:xfrm>
            <a:off x="1138375" y="1501067"/>
            <a:ext cx="4318622" cy="3809441"/>
          </a:xfrm>
          <a:prstGeom prst="rect">
            <a:avLst/>
          </a:prstGeom>
        </p:spPr>
      </p:pic>
      <p:pic>
        <p:nvPicPr>
          <p:cNvPr id="12" name="Picture 11">
            <a:extLst>
              <a:ext uri="{FF2B5EF4-FFF2-40B4-BE49-F238E27FC236}">
                <a16:creationId xmlns:a16="http://schemas.microsoft.com/office/drawing/2014/main" id="{2E4ECEC8-6A8B-478E-8550-6FFD13D487B7}"/>
              </a:ext>
            </a:extLst>
          </p:cNvPr>
          <p:cNvPicPr>
            <a:picLocks noChangeAspect="1"/>
          </p:cNvPicPr>
          <p:nvPr/>
        </p:nvPicPr>
        <p:blipFill>
          <a:blip r:embed="rId4"/>
          <a:stretch>
            <a:fillRect/>
          </a:stretch>
        </p:blipFill>
        <p:spPr>
          <a:xfrm>
            <a:off x="1695851" y="5473429"/>
            <a:ext cx="3010577" cy="861950"/>
          </a:xfrm>
          <a:prstGeom prst="rect">
            <a:avLst/>
          </a:prstGeom>
        </p:spPr>
      </p:pic>
      <p:pic>
        <p:nvPicPr>
          <p:cNvPr id="13" name="Picture 12">
            <a:extLst>
              <a:ext uri="{FF2B5EF4-FFF2-40B4-BE49-F238E27FC236}">
                <a16:creationId xmlns:a16="http://schemas.microsoft.com/office/drawing/2014/main" id="{038DCDB3-831E-4254-9D12-B7AD82B2807D}"/>
              </a:ext>
            </a:extLst>
          </p:cNvPr>
          <p:cNvPicPr>
            <a:picLocks noChangeAspect="1"/>
          </p:cNvPicPr>
          <p:nvPr/>
        </p:nvPicPr>
        <p:blipFill>
          <a:blip r:embed="rId5"/>
          <a:stretch>
            <a:fillRect/>
          </a:stretch>
        </p:blipFill>
        <p:spPr>
          <a:xfrm>
            <a:off x="7485574" y="5473429"/>
            <a:ext cx="3010577" cy="815364"/>
          </a:xfrm>
          <a:prstGeom prst="rect">
            <a:avLst/>
          </a:prstGeom>
        </p:spPr>
      </p:pic>
    </p:spTree>
    <p:extLst>
      <p:ext uri="{BB962C8B-B14F-4D97-AF65-F5344CB8AC3E}">
        <p14:creationId xmlns:p14="http://schemas.microsoft.com/office/powerpoint/2010/main" val="1463467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6.8 Multiplexers (Data Selectors)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3596"/>
            <a:ext cx="10774018" cy="5394584"/>
          </a:xfrm>
        </p:spPr>
        <p:txBody>
          <a:bodyPr>
            <a:normAutofit/>
          </a:bodyPr>
          <a:lstStyle/>
          <a:p>
            <a:pPr marL="0" indent="0">
              <a:lnSpc>
                <a:spcPct val="100000"/>
              </a:lnSpc>
              <a:buNone/>
            </a:pPr>
            <a:r>
              <a:rPr lang="en-US" b="1" i="1" dirty="0">
                <a:solidFill>
                  <a:schemeClr val="tx2">
                    <a:lumMod val="50000"/>
                    <a:lumOff val="50000"/>
                  </a:schemeClr>
                </a:solidFill>
                <a:latin typeface="Aptos (Body)"/>
              </a:rPr>
              <a:t>A multiplexer (MUX) is </a:t>
            </a:r>
            <a:r>
              <a:rPr lang="en-US" b="0" i="0" dirty="0">
                <a:solidFill>
                  <a:srgbClr val="242021"/>
                </a:solidFill>
                <a:effectLst/>
                <a:latin typeface="Aptos (Body)"/>
              </a:rPr>
              <a:t>a device that allows digital information from several sources to be routed onto a single line for transmission over that line to a common destination. The basic multiplexer has several data input lines and a single output line. </a:t>
            </a:r>
            <a:br>
              <a:rPr lang="en-US" sz="2100" dirty="0">
                <a:latin typeface="Aptos (Body)"/>
              </a:rPr>
            </a:br>
            <a:br>
              <a:rPr lang="en-US" sz="2100" dirty="0">
                <a:latin typeface="Aptos (Body)"/>
              </a:rPr>
            </a:b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25</a:t>
            </a:fld>
            <a:endParaRPr lang="vi-VN" dirty="0"/>
          </a:p>
        </p:txBody>
      </p:sp>
      <p:pic>
        <p:nvPicPr>
          <p:cNvPr id="3" name="Picture 2">
            <a:extLst>
              <a:ext uri="{FF2B5EF4-FFF2-40B4-BE49-F238E27FC236}">
                <a16:creationId xmlns:a16="http://schemas.microsoft.com/office/drawing/2014/main" id="{194633DF-084A-43A5-8219-65934D8E5CE9}"/>
              </a:ext>
            </a:extLst>
          </p:cNvPr>
          <p:cNvPicPr>
            <a:picLocks noChangeAspect="1"/>
          </p:cNvPicPr>
          <p:nvPr/>
        </p:nvPicPr>
        <p:blipFill>
          <a:blip r:embed="rId2"/>
          <a:stretch>
            <a:fillRect/>
          </a:stretch>
        </p:blipFill>
        <p:spPr>
          <a:xfrm>
            <a:off x="543338" y="2679138"/>
            <a:ext cx="3349793" cy="2222355"/>
          </a:xfrm>
          <a:prstGeom prst="rect">
            <a:avLst/>
          </a:prstGeom>
        </p:spPr>
      </p:pic>
      <p:pic>
        <p:nvPicPr>
          <p:cNvPr id="5" name="Picture 4">
            <a:extLst>
              <a:ext uri="{FF2B5EF4-FFF2-40B4-BE49-F238E27FC236}">
                <a16:creationId xmlns:a16="http://schemas.microsoft.com/office/drawing/2014/main" id="{3478CAA7-CF7B-4EAF-BC6C-02E1C2D16F7D}"/>
              </a:ext>
            </a:extLst>
          </p:cNvPr>
          <p:cNvPicPr>
            <a:picLocks noChangeAspect="1"/>
          </p:cNvPicPr>
          <p:nvPr/>
        </p:nvPicPr>
        <p:blipFill>
          <a:blip r:embed="rId3"/>
          <a:stretch>
            <a:fillRect/>
          </a:stretch>
        </p:blipFill>
        <p:spPr>
          <a:xfrm>
            <a:off x="3950183" y="2529625"/>
            <a:ext cx="3799755" cy="2728684"/>
          </a:xfrm>
          <a:prstGeom prst="rect">
            <a:avLst/>
          </a:prstGeom>
        </p:spPr>
      </p:pic>
      <p:pic>
        <p:nvPicPr>
          <p:cNvPr id="7" name="Picture 6">
            <a:extLst>
              <a:ext uri="{FF2B5EF4-FFF2-40B4-BE49-F238E27FC236}">
                <a16:creationId xmlns:a16="http://schemas.microsoft.com/office/drawing/2014/main" id="{7A4E3D7C-8C40-4B1C-ADFA-A01746E1C0BC}"/>
              </a:ext>
            </a:extLst>
          </p:cNvPr>
          <p:cNvPicPr>
            <a:picLocks noChangeAspect="1"/>
          </p:cNvPicPr>
          <p:nvPr/>
        </p:nvPicPr>
        <p:blipFill>
          <a:blip r:embed="rId4"/>
          <a:stretch>
            <a:fillRect/>
          </a:stretch>
        </p:blipFill>
        <p:spPr>
          <a:xfrm>
            <a:off x="3498361" y="5715762"/>
            <a:ext cx="5621490" cy="632418"/>
          </a:xfrm>
          <a:prstGeom prst="rect">
            <a:avLst/>
          </a:prstGeom>
        </p:spPr>
      </p:pic>
      <p:pic>
        <p:nvPicPr>
          <p:cNvPr id="8" name="Picture 7">
            <a:extLst>
              <a:ext uri="{FF2B5EF4-FFF2-40B4-BE49-F238E27FC236}">
                <a16:creationId xmlns:a16="http://schemas.microsoft.com/office/drawing/2014/main" id="{BED6C54D-8AC5-46FD-A305-B525E80F06F5}"/>
              </a:ext>
            </a:extLst>
          </p:cNvPr>
          <p:cNvPicPr>
            <a:picLocks noChangeAspect="1"/>
          </p:cNvPicPr>
          <p:nvPr/>
        </p:nvPicPr>
        <p:blipFill>
          <a:blip r:embed="rId5"/>
          <a:stretch>
            <a:fillRect/>
          </a:stretch>
        </p:blipFill>
        <p:spPr>
          <a:xfrm>
            <a:off x="7852903" y="2330216"/>
            <a:ext cx="4264776" cy="3127503"/>
          </a:xfrm>
          <a:prstGeom prst="rect">
            <a:avLst/>
          </a:prstGeom>
        </p:spPr>
      </p:pic>
    </p:spTree>
    <p:extLst>
      <p:ext uri="{BB962C8B-B14F-4D97-AF65-F5344CB8AC3E}">
        <p14:creationId xmlns:p14="http://schemas.microsoft.com/office/powerpoint/2010/main" val="4243759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6.8 Multiplexers (Data Selectors)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53596"/>
            <a:ext cx="10774018" cy="5394584"/>
          </a:xfrm>
        </p:spPr>
        <p:txBody>
          <a:bodyPr>
            <a:normAutofit/>
          </a:bodyPr>
          <a:lstStyle/>
          <a:p>
            <a:pPr marL="0" indent="0">
              <a:lnSpc>
                <a:spcPct val="100000"/>
              </a:lnSpc>
              <a:buNone/>
            </a:pPr>
            <a:r>
              <a:rPr lang="en-US" sz="2400" b="1" i="1" dirty="0">
                <a:solidFill>
                  <a:srgbClr val="FF0000"/>
                </a:solidFill>
                <a:latin typeface="Aptos (Body)"/>
              </a:rPr>
              <a:t>Applications</a:t>
            </a:r>
            <a:br>
              <a:rPr lang="en-US" sz="2400" b="1" i="1" dirty="0">
                <a:solidFill>
                  <a:schemeClr val="tx2">
                    <a:lumMod val="50000"/>
                    <a:lumOff val="50000"/>
                  </a:schemeClr>
                </a:solidFill>
                <a:latin typeface="Aptos (Body)"/>
              </a:rPr>
            </a:br>
            <a:r>
              <a:rPr lang="en-US" sz="2400" b="1" i="1" dirty="0">
                <a:solidFill>
                  <a:schemeClr val="tx2">
                    <a:lumMod val="50000"/>
                    <a:lumOff val="50000"/>
                  </a:schemeClr>
                </a:solidFill>
                <a:latin typeface="Aptos (Body)"/>
              </a:rPr>
              <a:t>A 7-Segment Display Multiplexer </a:t>
            </a:r>
            <a:br>
              <a:rPr lang="en-US" sz="2100" dirty="0">
                <a:latin typeface="Aptos (Body)"/>
              </a:rPr>
            </a:b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26</a:t>
            </a:fld>
            <a:endParaRPr lang="vi-VN" dirty="0"/>
          </a:p>
        </p:txBody>
      </p:sp>
      <p:pic>
        <p:nvPicPr>
          <p:cNvPr id="9" name="Picture 8">
            <a:extLst>
              <a:ext uri="{FF2B5EF4-FFF2-40B4-BE49-F238E27FC236}">
                <a16:creationId xmlns:a16="http://schemas.microsoft.com/office/drawing/2014/main" id="{15E6292F-5CB9-41FF-A127-9E6AD1886F04}"/>
              </a:ext>
            </a:extLst>
          </p:cNvPr>
          <p:cNvPicPr>
            <a:picLocks noChangeAspect="1"/>
          </p:cNvPicPr>
          <p:nvPr/>
        </p:nvPicPr>
        <p:blipFill>
          <a:blip r:embed="rId2"/>
          <a:stretch>
            <a:fillRect/>
          </a:stretch>
        </p:blipFill>
        <p:spPr>
          <a:xfrm>
            <a:off x="4254755" y="2292139"/>
            <a:ext cx="4268519" cy="4074670"/>
          </a:xfrm>
          <a:prstGeom prst="rect">
            <a:avLst/>
          </a:prstGeom>
        </p:spPr>
      </p:pic>
      <p:pic>
        <p:nvPicPr>
          <p:cNvPr id="10" name="Picture 9">
            <a:extLst>
              <a:ext uri="{FF2B5EF4-FFF2-40B4-BE49-F238E27FC236}">
                <a16:creationId xmlns:a16="http://schemas.microsoft.com/office/drawing/2014/main" id="{3F159234-87DB-40A7-B34C-141ACE4CCE91}"/>
              </a:ext>
            </a:extLst>
          </p:cNvPr>
          <p:cNvPicPr>
            <a:picLocks noChangeAspect="1"/>
          </p:cNvPicPr>
          <p:nvPr/>
        </p:nvPicPr>
        <p:blipFill>
          <a:blip r:embed="rId3"/>
          <a:stretch>
            <a:fillRect/>
          </a:stretch>
        </p:blipFill>
        <p:spPr>
          <a:xfrm>
            <a:off x="3979244" y="6464321"/>
            <a:ext cx="4819539" cy="308226"/>
          </a:xfrm>
          <a:prstGeom prst="rect">
            <a:avLst/>
          </a:prstGeom>
        </p:spPr>
      </p:pic>
      <p:sp>
        <p:nvSpPr>
          <p:cNvPr id="12" name="TextBox 11">
            <a:extLst>
              <a:ext uri="{FF2B5EF4-FFF2-40B4-BE49-F238E27FC236}">
                <a16:creationId xmlns:a16="http://schemas.microsoft.com/office/drawing/2014/main" id="{52E90A6B-D123-4733-AEC8-0A87868102E4}"/>
              </a:ext>
            </a:extLst>
          </p:cNvPr>
          <p:cNvSpPr txBox="1"/>
          <p:nvPr/>
        </p:nvSpPr>
        <p:spPr>
          <a:xfrm>
            <a:off x="1044286" y="1808525"/>
            <a:ext cx="10498357" cy="769441"/>
          </a:xfrm>
          <a:prstGeom prst="rect">
            <a:avLst/>
          </a:prstGeom>
          <a:noFill/>
        </p:spPr>
        <p:txBody>
          <a:bodyPr wrap="square">
            <a:spAutoFit/>
          </a:bodyPr>
          <a:lstStyle/>
          <a:p>
            <a:pPr algn="just"/>
            <a:r>
              <a:rPr lang="en-US" sz="2200" b="0" i="0" dirty="0">
                <a:solidFill>
                  <a:srgbClr val="242021"/>
                </a:solidFill>
                <a:effectLst/>
                <a:latin typeface="Aptos (Body)"/>
              </a:rPr>
              <a:t>The basic operation is as follows. Two BCD digits (</a:t>
            </a:r>
            <a:r>
              <a:rPr lang="en-US" sz="2200" b="0" i="1" dirty="0">
                <a:solidFill>
                  <a:srgbClr val="242021"/>
                </a:solidFill>
                <a:effectLst/>
                <a:latin typeface="Aptos (Body)"/>
              </a:rPr>
              <a:t>A</a:t>
            </a:r>
            <a:r>
              <a:rPr lang="en-US" sz="2200" b="0" i="0" dirty="0">
                <a:solidFill>
                  <a:srgbClr val="242021"/>
                </a:solidFill>
                <a:effectLst/>
                <a:latin typeface="Aptos (Body)"/>
              </a:rPr>
              <a:t>3</a:t>
            </a:r>
            <a:r>
              <a:rPr lang="en-US" sz="2200" b="0" i="1" dirty="0">
                <a:solidFill>
                  <a:srgbClr val="242021"/>
                </a:solidFill>
                <a:effectLst/>
                <a:latin typeface="Aptos (Body)"/>
              </a:rPr>
              <a:t>A</a:t>
            </a:r>
            <a:r>
              <a:rPr lang="en-US" sz="2200" b="0" i="0" dirty="0">
                <a:solidFill>
                  <a:srgbClr val="242021"/>
                </a:solidFill>
                <a:effectLst/>
                <a:latin typeface="Aptos (Body)"/>
              </a:rPr>
              <a:t>2</a:t>
            </a:r>
            <a:r>
              <a:rPr lang="en-US" sz="2200" b="0" i="1" dirty="0">
                <a:solidFill>
                  <a:srgbClr val="242021"/>
                </a:solidFill>
                <a:effectLst/>
                <a:latin typeface="Aptos (Body)"/>
              </a:rPr>
              <a:t>A</a:t>
            </a:r>
            <a:r>
              <a:rPr lang="en-US" sz="2200" b="0" i="0" dirty="0">
                <a:solidFill>
                  <a:srgbClr val="242021"/>
                </a:solidFill>
                <a:effectLst/>
                <a:latin typeface="Aptos (Body)"/>
              </a:rPr>
              <a:t>1</a:t>
            </a:r>
            <a:r>
              <a:rPr lang="en-US" sz="2200" b="0" i="1" dirty="0">
                <a:solidFill>
                  <a:srgbClr val="242021"/>
                </a:solidFill>
                <a:effectLst/>
                <a:latin typeface="Aptos (Body)"/>
              </a:rPr>
              <a:t>A</a:t>
            </a:r>
            <a:r>
              <a:rPr lang="en-US" sz="2200" b="0" i="0" dirty="0">
                <a:solidFill>
                  <a:srgbClr val="242021"/>
                </a:solidFill>
                <a:effectLst/>
                <a:latin typeface="Aptos (Body)"/>
              </a:rPr>
              <a:t>0 and </a:t>
            </a:r>
            <a:r>
              <a:rPr lang="en-US" sz="2200" b="0" i="1" dirty="0">
                <a:solidFill>
                  <a:srgbClr val="242021"/>
                </a:solidFill>
                <a:effectLst/>
                <a:latin typeface="Aptos (Body)"/>
              </a:rPr>
              <a:t>B</a:t>
            </a:r>
            <a:r>
              <a:rPr lang="en-US" sz="2200" b="0" i="0" dirty="0">
                <a:solidFill>
                  <a:srgbClr val="242021"/>
                </a:solidFill>
                <a:effectLst/>
                <a:latin typeface="Aptos (Body)"/>
              </a:rPr>
              <a:t>3</a:t>
            </a:r>
            <a:r>
              <a:rPr lang="en-US" sz="2200" b="0" i="1" dirty="0">
                <a:solidFill>
                  <a:srgbClr val="242021"/>
                </a:solidFill>
                <a:effectLst/>
                <a:latin typeface="Aptos (Body)"/>
              </a:rPr>
              <a:t>B</a:t>
            </a:r>
            <a:r>
              <a:rPr lang="en-US" sz="2200" b="0" i="0" dirty="0">
                <a:solidFill>
                  <a:srgbClr val="242021"/>
                </a:solidFill>
                <a:effectLst/>
                <a:latin typeface="Aptos (Body)"/>
              </a:rPr>
              <a:t>2</a:t>
            </a:r>
            <a:r>
              <a:rPr lang="en-US" sz="2200" b="0" i="1" dirty="0">
                <a:solidFill>
                  <a:srgbClr val="242021"/>
                </a:solidFill>
                <a:effectLst/>
                <a:latin typeface="Aptos (Body)"/>
              </a:rPr>
              <a:t>B</a:t>
            </a:r>
            <a:r>
              <a:rPr lang="en-US" sz="2200" b="0" i="0" dirty="0">
                <a:solidFill>
                  <a:srgbClr val="242021"/>
                </a:solidFill>
                <a:effectLst/>
                <a:latin typeface="Aptos (Body)"/>
              </a:rPr>
              <a:t>1</a:t>
            </a:r>
            <a:r>
              <a:rPr lang="en-US" sz="2200" b="0" i="1" dirty="0">
                <a:solidFill>
                  <a:srgbClr val="242021"/>
                </a:solidFill>
                <a:effectLst/>
                <a:latin typeface="Aptos (Body)"/>
              </a:rPr>
              <a:t>B</a:t>
            </a:r>
            <a:r>
              <a:rPr lang="en-US" sz="2200" b="0" i="0" dirty="0">
                <a:solidFill>
                  <a:srgbClr val="242021"/>
                </a:solidFill>
                <a:effectLst/>
                <a:latin typeface="Aptos (Body)"/>
              </a:rPr>
              <a:t>0) are applied to the multiplexer inputs.</a:t>
            </a:r>
            <a:endParaRPr lang="en-US" sz="2200" dirty="0">
              <a:latin typeface="Aptos (Body)"/>
            </a:endParaRPr>
          </a:p>
        </p:txBody>
      </p:sp>
    </p:spTree>
    <p:extLst>
      <p:ext uri="{BB962C8B-B14F-4D97-AF65-F5344CB8AC3E}">
        <p14:creationId xmlns:p14="http://schemas.microsoft.com/office/powerpoint/2010/main" val="2288726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6.9 Demultiplexers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93913"/>
            <a:ext cx="10774018" cy="5341575"/>
          </a:xfrm>
        </p:spPr>
        <p:txBody>
          <a:bodyPr>
            <a:normAutofit/>
          </a:bodyPr>
          <a:lstStyle/>
          <a:p>
            <a:pPr marL="0" indent="0">
              <a:lnSpc>
                <a:spcPct val="100000"/>
              </a:lnSpc>
              <a:buNone/>
            </a:pPr>
            <a:r>
              <a:rPr lang="en-US" b="1" i="1" dirty="0">
                <a:solidFill>
                  <a:schemeClr val="tx2">
                    <a:lumMod val="50000"/>
                    <a:lumOff val="50000"/>
                  </a:schemeClr>
                </a:solidFill>
                <a:latin typeface="Aptos (Body)"/>
              </a:rPr>
              <a:t>A demultiplexer (DEMUX) </a:t>
            </a:r>
            <a:r>
              <a:rPr lang="en-US" dirty="0">
                <a:solidFill>
                  <a:srgbClr val="242021"/>
                </a:solidFill>
                <a:latin typeface="Aptos (Body)"/>
              </a:rPr>
              <a:t>basically reverses the multiplexing function. It takes digital information from one line and distributes it to a given number of output lines. For this reason, the demultiplexer is also known as a data distributor. </a:t>
            </a:r>
            <a:br>
              <a:rPr lang="en-US" dirty="0">
                <a:solidFill>
                  <a:srgbClr val="242021"/>
                </a:solidFill>
                <a:latin typeface="Aptos (Body)"/>
              </a:rPr>
            </a:br>
            <a:r>
              <a:rPr lang="en-US" sz="2400" b="1" i="1" dirty="0">
                <a:solidFill>
                  <a:schemeClr val="tx2">
                    <a:lumMod val="50000"/>
                    <a:lumOff val="50000"/>
                  </a:schemeClr>
                </a:solidFill>
                <a:latin typeface="Aptos (Body)"/>
              </a:rPr>
              <a:t>In a demultiplexer, data are switched from one line to several lines. </a:t>
            </a: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27</a:t>
            </a:fld>
            <a:endParaRPr lang="vi-VN" dirty="0"/>
          </a:p>
        </p:txBody>
      </p:sp>
      <p:pic>
        <p:nvPicPr>
          <p:cNvPr id="11" name="Picture 10">
            <a:extLst>
              <a:ext uri="{FF2B5EF4-FFF2-40B4-BE49-F238E27FC236}">
                <a16:creationId xmlns:a16="http://schemas.microsoft.com/office/drawing/2014/main" id="{40826784-7709-4D27-904A-6809A06010BD}"/>
              </a:ext>
            </a:extLst>
          </p:cNvPr>
          <p:cNvPicPr>
            <a:picLocks noChangeAspect="1"/>
          </p:cNvPicPr>
          <p:nvPr/>
        </p:nvPicPr>
        <p:blipFill>
          <a:blip r:embed="rId2"/>
          <a:stretch>
            <a:fillRect/>
          </a:stretch>
        </p:blipFill>
        <p:spPr>
          <a:xfrm>
            <a:off x="2804295" y="2586587"/>
            <a:ext cx="6228266" cy="2883773"/>
          </a:xfrm>
          <a:prstGeom prst="rect">
            <a:avLst/>
          </a:prstGeom>
        </p:spPr>
      </p:pic>
      <p:pic>
        <p:nvPicPr>
          <p:cNvPr id="12" name="Picture 11">
            <a:extLst>
              <a:ext uri="{FF2B5EF4-FFF2-40B4-BE49-F238E27FC236}">
                <a16:creationId xmlns:a16="http://schemas.microsoft.com/office/drawing/2014/main" id="{B4567221-6D88-4665-B8BD-62B0A3AB3BE3}"/>
              </a:ext>
            </a:extLst>
          </p:cNvPr>
          <p:cNvPicPr>
            <a:picLocks noChangeAspect="1"/>
          </p:cNvPicPr>
          <p:nvPr/>
        </p:nvPicPr>
        <p:blipFill>
          <a:blip r:embed="rId3"/>
          <a:stretch>
            <a:fillRect/>
          </a:stretch>
        </p:blipFill>
        <p:spPr>
          <a:xfrm>
            <a:off x="3805455" y="5769484"/>
            <a:ext cx="4581089" cy="566004"/>
          </a:xfrm>
          <a:prstGeom prst="rect">
            <a:avLst/>
          </a:prstGeom>
        </p:spPr>
      </p:pic>
    </p:spTree>
    <p:extLst>
      <p:ext uri="{BB962C8B-B14F-4D97-AF65-F5344CB8AC3E}">
        <p14:creationId xmlns:p14="http://schemas.microsoft.com/office/powerpoint/2010/main" val="3167004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6.9 Demultiplexers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40905"/>
            <a:ext cx="10774018" cy="5394584"/>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4-Line-to-16-Line Decoder as a Demultiplexer </a:t>
            </a:r>
            <a:br>
              <a:rPr lang="en-US" sz="1600" dirty="0"/>
            </a:br>
            <a:r>
              <a:rPr lang="en-US" dirty="0">
                <a:solidFill>
                  <a:srgbClr val="242021"/>
                </a:solidFill>
                <a:latin typeface="Aptos (Body)"/>
              </a:rPr>
              <a:t>In demultiplexer applications, the input lines are used as the data-select lines. </a:t>
            </a: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28</a:t>
            </a:fld>
            <a:endParaRPr lang="vi-VN" dirty="0"/>
          </a:p>
        </p:txBody>
      </p:sp>
      <p:pic>
        <p:nvPicPr>
          <p:cNvPr id="3" name="Picture 2">
            <a:extLst>
              <a:ext uri="{FF2B5EF4-FFF2-40B4-BE49-F238E27FC236}">
                <a16:creationId xmlns:a16="http://schemas.microsoft.com/office/drawing/2014/main" id="{F7D932C9-D6EA-41E3-A20D-FD411839EAF2}"/>
              </a:ext>
            </a:extLst>
          </p:cNvPr>
          <p:cNvPicPr>
            <a:picLocks noChangeAspect="1"/>
          </p:cNvPicPr>
          <p:nvPr/>
        </p:nvPicPr>
        <p:blipFill>
          <a:blip r:embed="rId2"/>
          <a:stretch>
            <a:fillRect/>
          </a:stretch>
        </p:blipFill>
        <p:spPr>
          <a:xfrm>
            <a:off x="4148042" y="1768367"/>
            <a:ext cx="3895916" cy="4567122"/>
          </a:xfrm>
          <a:prstGeom prst="rect">
            <a:avLst/>
          </a:prstGeom>
        </p:spPr>
      </p:pic>
      <p:pic>
        <p:nvPicPr>
          <p:cNvPr id="5" name="Picture 4">
            <a:extLst>
              <a:ext uri="{FF2B5EF4-FFF2-40B4-BE49-F238E27FC236}">
                <a16:creationId xmlns:a16="http://schemas.microsoft.com/office/drawing/2014/main" id="{B2377409-92A4-4757-8A48-769D0592817E}"/>
              </a:ext>
            </a:extLst>
          </p:cNvPr>
          <p:cNvPicPr>
            <a:picLocks noChangeAspect="1"/>
          </p:cNvPicPr>
          <p:nvPr/>
        </p:nvPicPr>
        <p:blipFill>
          <a:blip r:embed="rId3"/>
          <a:stretch>
            <a:fillRect/>
          </a:stretch>
        </p:blipFill>
        <p:spPr>
          <a:xfrm>
            <a:off x="3972022" y="6335489"/>
            <a:ext cx="4579261" cy="365124"/>
          </a:xfrm>
          <a:prstGeom prst="rect">
            <a:avLst/>
          </a:prstGeom>
        </p:spPr>
      </p:pic>
    </p:spTree>
    <p:extLst>
      <p:ext uri="{BB962C8B-B14F-4D97-AF65-F5344CB8AC3E}">
        <p14:creationId xmlns:p14="http://schemas.microsoft.com/office/powerpoint/2010/main" val="2724349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6.10 Parity Generators/Checkers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Basic Parity Logic </a:t>
            </a:r>
            <a:r>
              <a:rPr lang="en-US" dirty="0">
                <a:solidFill>
                  <a:srgbClr val="242021"/>
                </a:solidFill>
                <a:latin typeface="Aptos (Body)"/>
              </a:rPr>
              <a:t>A parity bit indicates if the number of 1s in a code is even or odd for error detection. </a:t>
            </a:r>
            <a:r>
              <a:rPr lang="en-US" b="1" dirty="0">
                <a:solidFill>
                  <a:srgbClr val="242021"/>
                </a:solidFill>
                <a:latin typeface="Aptos (Body)"/>
              </a:rPr>
              <a:t>The sum (disregarding carries) of an even number of 1s is always 0, and the sum of an odd number of 1s is always 1. </a:t>
            </a:r>
            <a:br>
              <a:rPr lang="en-US" b="1" dirty="0">
                <a:solidFill>
                  <a:srgbClr val="242021"/>
                </a:solidFill>
                <a:latin typeface="Aptos (Body)"/>
              </a:rPr>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29</a:t>
            </a:fld>
            <a:endParaRPr lang="vi-VN" dirty="0"/>
          </a:p>
        </p:txBody>
      </p:sp>
      <p:pic>
        <p:nvPicPr>
          <p:cNvPr id="3" name="Picture 2">
            <a:extLst>
              <a:ext uri="{FF2B5EF4-FFF2-40B4-BE49-F238E27FC236}">
                <a16:creationId xmlns:a16="http://schemas.microsoft.com/office/drawing/2014/main" id="{8B92A221-9918-4B36-802E-9826E680CB20}"/>
              </a:ext>
            </a:extLst>
          </p:cNvPr>
          <p:cNvPicPr>
            <a:picLocks noChangeAspect="1"/>
          </p:cNvPicPr>
          <p:nvPr/>
        </p:nvPicPr>
        <p:blipFill>
          <a:blip r:embed="rId2"/>
          <a:stretch>
            <a:fillRect/>
          </a:stretch>
        </p:blipFill>
        <p:spPr>
          <a:xfrm>
            <a:off x="2841829" y="2770541"/>
            <a:ext cx="6839647" cy="2435169"/>
          </a:xfrm>
          <a:prstGeom prst="rect">
            <a:avLst/>
          </a:prstGeom>
        </p:spPr>
      </p:pic>
    </p:spTree>
    <p:extLst>
      <p:ext uri="{BB962C8B-B14F-4D97-AF65-F5344CB8AC3E}">
        <p14:creationId xmlns:p14="http://schemas.microsoft.com/office/powerpoint/2010/main" val="4162872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sz="2800" b="1" dirty="0">
                <a:solidFill>
                  <a:srgbClr val="FF0000"/>
                </a:solidFill>
                <a:latin typeface="+mj-lt"/>
                <a:ea typeface="+mj-ea"/>
                <a:cs typeface="+mj-cs"/>
              </a:rPr>
              <a:t>6.10 Parity Generators/Checkers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982772"/>
            <a:ext cx="10774018" cy="5352716"/>
          </a:xfrm>
        </p:spPr>
        <p:txBody>
          <a:bodyPr>
            <a:normAutofit/>
          </a:bodyPr>
          <a:lstStyle/>
          <a:p>
            <a:pPr marL="0" indent="0">
              <a:lnSpc>
                <a:spcPct val="100000"/>
              </a:lnSpc>
              <a:buNone/>
            </a:pPr>
            <a:r>
              <a:rPr lang="en-US" sz="2400" b="1" i="1" dirty="0">
                <a:solidFill>
                  <a:schemeClr val="tx2">
                    <a:lumMod val="50000"/>
                    <a:lumOff val="50000"/>
                  </a:schemeClr>
                </a:solidFill>
                <a:latin typeface="Aptos (Body)"/>
              </a:rPr>
              <a:t>A Data Transmission System with Error Detection </a:t>
            </a:r>
            <a:br>
              <a:rPr lang="en-US" sz="1600" dirty="0"/>
            </a:br>
            <a:br>
              <a:rPr lang="en-US" sz="1600" dirty="0"/>
            </a:br>
            <a:br>
              <a:rPr lang="en-US" sz="2100" dirty="0">
                <a:latin typeface="Aptos (Body)"/>
              </a:rPr>
            </a:br>
            <a:endParaRPr lang="en-US" sz="2100" b="1" i="1" dirty="0">
              <a:solidFill>
                <a:schemeClr val="tx2">
                  <a:lumMod val="50000"/>
                  <a:lumOff val="50000"/>
                </a:schemeClr>
              </a:solidFill>
              <a:latin typeface="Aptos (Body)"/>
            </a:endParaRPr>
          </a:p>
          <a:p>
            <a:pPr marL="0" indent="0">
              <a:lnSpc>
                <a:spcPct val="15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30</a:t>
            </a:fld>
            <a:endParaRPr lang="vi-VN" dirty="0"/>
          </a:p>
        </p:txBody>
      </p:sp>
      <p:pic>
        <p:nvPicPr>
          <p:cNvPr id="5" name="Picture 4">
            <a:extLst>
              <a:ext uri="{FF2B5EF4-FFF2-40B4-BE49-F238E27FC236}">
                <a16:creationId xmlns:a16="http://schemas.microsoft.com/office/drawing/2014/main" id="{A90B1618-7A7A-4CB6-8627-74B49BEEF235}"/>
              </a:ext>
            </a:extLst>
          </p:cNvPr>
          <p:cNvPicPr>
            <a:picLocks noChangeAspect="1"/>
          </p:cNvPicPr>
          <p:nvPr/>
        </p:nvPicPr>
        <p:blipFill>
          <a:blip r:embed="rId2"/>
          <a:stretch>
            <a:fillRect/>
          </a:stretch>
        </p:blipFill>
        <p:spPr>
          <a:xfrm>
            <a:off x="543338" y="1532317"/>
            <a:ext cx="5950227" cy="5323031"/>
          </a:xfrm>
          <a:prstGeom prst="rect">
            <a:avLst/>
          </a:prstGeom>
        </p:spPr>
      </p:pic>
      <p:pic>
        <p:nvPicPr>
          <p:cNvPr id="10" name="Picture 9">
            <a:extLst>
              <a:ext uri="{FF2B5EF4-FFF2-40B4-BE49-F238E27FC236}">
                <a16:creationId xmlns:a16="http://schemas.microsoft.com/office/drawing/2014/main" id="{57A1496F-F32C-4B84-88A6-CAFDFBFCE1E8}"/>
              </a:ext>
            </a:extLst>
          </p:cNvPr>
          <p:cNvPicPr>
            <a:picLocks noChangeAspect="1"/>
          </p:cNvPicPr>
          <p:nvPr/>
        </p:nvPicPr>
        <p:blipFill>
          <a:blip r:embed="rId3"/>
          <a:stretch>
            <a:fillRect/>
          </a:stretch>
        </p:blipFill>
        <p:spPr>
          <a:xfrm>
            <a:off x="6333307" y="4342010"/>
            <a:ext cx="5858693" cy="1952898"/>
          </a:xfrm>
          <a:prstGeom prst="rect">
            <a:avLst/>
          </a:prstGeom>
        </p:spPr>
      </p:pic>
      <p:sp>
        <p:nvSpPr>
          <p:cNvPr id="12" name="TextBox 11">
            <a:extLst>
              <a:ext uri="{FF2B5EF4-FFF2-40B4-BE49-F238E27FC236}">
                <a16:creationId xmlns:a16="http://schemas.microsoft.com/office/drawing/2014/main" id="{33B3C843-4D41-4D5D-A751-99598CD4D0BA}"/>
              </a:ext>
            </a:extLst>
          </p:cNvPr>
          <p:cNvSpPr txBox="1"/>
          <p:nvPr/>
        </p:nvSpPr>
        <p:spPr>
          <a:xfrm>
            <a:off x="6533324" y="1771326"/>
            <a:ext cx="5115338" cy="2800767"/>
          </a:xfrm>
          <a:prstGeom prst="rect">
            <a:avLst/>
          </a:prstGeom>
          <a:noFill/>
        </p:spPr>
        <p:txBody>
          <a:bodyPr wrap="square">
            <a:spAutoFit/>
          </a:bodyPr>
          <a:lstStyle/>
          <a:p>
            <a:r>
              <a:rPr lang="en-US" sz="2200" b="0" i="0" dirty="0">
                <a:solidFill>
                  <a:srgbClr val="242021"/>
                </a:solidFill>
                <a:effectLst/>
                <a:latin typeface="Aptos (Body)"/>
              </a:rPr>
              <a:t>In this application, digital data from seven sources are multiplexed onto a single line for transmission to a distant point. The seven data bits (</a:t>
            </a:r>
            <a:r>
              <a:rPr lang="en-US" sz="2200" b="0" i="1" dirty="0">
                <a:solidFill>
                  <a:srgbClr val="242021"/>
                </a:solidFill>
                <a:effectLst/>
                <a:latin typeface="Aptos (Body)"/>
              </a:rPr>
              <a:t>D</a:t>
            </a:r>
            <a:r>
              <a:rPr lang="en-US" sz="2200" b="0" i="0" dirty="0">
                <a:solidFill>
                  <a:srgbClr val="242021"/>
                </a:solidFill>
                <a:effectLst/>
                <a:latin typeface="Aptos (Body)"/>
              </a:rPr>
              <a:t>0 through </a:t>
            </a:r>
            <a:r>
              <a:rPr lang="en-US" sz="2200" b="0" i="1" dirty="0">
                <a:solidFill>
                  <a:srgbClr val="242021"/>
                </a:solidFill>
                <a:effectLst/>
                <a:latin typeface="Aptos (Body)"/>
              </a:rPr>
              <a:t>D</a:t>
            </a:r>
            <a:r>
              <a:rPr lang="en-US" sz="2200" b="0" i="0" dirty="0">
                <a:solidFill>
                  <a:srgbClr val="242021"/>
                </a:solidFill>
                <a:effectLst/>
                <a:latin typeface="Aptos (Body)"/>
              </a:rPr>
              <a:t>6) are applied to the multiplexer data inputs and, at the same time, to the even parity generator inputs. </a:t>
            </a:r>
            <a:br>
              <a:rPr lang="en-US" sz="2200" dirty="0">
                <a:latin typeface="Aptos (Body)"/>
              </a:rPr>
            </a:br>
            <a:endParaRPr lang="en-US" sz="2200" dirty="0">
              <a:latin typeface="Aptos (Body)"/>
            </a:endParaRPr>
          </a:p>
        </p:txBody>
      </p:sp>
    </p:spTree>
    <p:extLst>
      <p:ext uri="{BB962C8B-B14F-4D97-AF65-F5344CB8AC3E}">
        <p14:creationId xmlns:p14="http://schemas.microsoft.com/office/powerpoint/2010/main" val="4275403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086677" y="1567993"/>
            <a:ext cx="10747513" cy="4970921"/>
          </a:xfrm>
        </p:spPr>
        <p:txBody>
          <a:bodyPr>
            <a:noAutofit/>
          </a:bodyPr>
          <a:lstStyle/>
          <a:p>
            <a:pPr marL="0" marR="0">
              <a:lnSpc>
                <a:spcPct val="150000"/>
              </a:lnSpc>
            </a:pPr>
            <a:r>
              <a:rPr lang="en-US" dirty="0">
                <a:effectLst/>
                <a:latin typeface="Aptos (Body)"/>
                <a:ea typeface="Times New Roman" panose="02020603050405020304" pitchFamily="18" charset="0"/>
              </a:rPr>
              <a:t>The operations of half-adders and full-adders are demonstrated through truth tables, showing how they process input bits and produce sums along with carry outputs.</a:t>
            </a:r>
          </a:p>
          <a:p>
            <a:pPr marL="0" marR="0">
              <a:lnSpc>
                <a:spcPct val="150000"/>
              </a:lnSpc>
            </a:pPr>
            <a:r>
              <a:rPr lang="en-US" dirty="0">
                <a:effectLst/>
                <a:latin typeface="Aptos (Body)"/>
                <a:ea typeface="Times New Roman" panose="02020603050405020304" pitchFamily="18" charset="0"/>
              </a:rPr>
              <a:t>Combinational logic functions include comparators, decoders, encoders, code converters, multiplexers, demultiplexers, and parity generators/checkers.</a:t>
            </a:r>
          </a:p>
          <a:p>
            <a:pPr marL="0" marR="0">
              <a:lnSpc>
                <a:spcPct val="150000"/>
              </a:lnSpc>
            </a:pPr>
            <a:r>
              <a:rPr lang="en-US" dirty="0">
                <a:effectLst/>
                <a:latin typeface="Aptos (Body)"/>
                <a:ea typeface="Times New Roman" panose="02020603050405020304" pitchFamily="18" charset="0"/>
              </a:rPr>
              <a:t>Software versions of standard logic functions from the 74XX series are available for use in programmable logic design.</a:t>
            </a:r>
          </a:p>
          <a:p>
            <a:pPr marL="0" marR="0">
              <a:lnSpc>
                <a:spcPct val="150000"/>
              </a:lnSpc>
              <a:spcBef>
                <a:spcPts val="0"/>
              </a:spcBef>
              <a:spcAft>
                <a:spcPts val="800"/>
              </a:spcAft>
            </a:pPr>
            <a:endParaRPr lang="en-US" sz="2100" dirty="0">
              <a:effectLst/>
              <a:latin typeface="Aptos (Body)"/>
              <a:ea typeface="Calibri" panose="020F0502020204030204" pitchFamily="34" charset="0"/>
              <a:cs typeface="Times New Roman" panose="02020603050405020304" pitchFamily="18" charset="0"/>
            </a:endParaRPr>
          </a:p>
          <a:p>
            <a:pPr marL="0" marR="0" indent="0">
              <a:lnSpc>
                <a:spcPct val="150000"/>
              </a:lnSpc>
              <a:spcBef>
                <a:spcPts val="0"/>
              </a:spcBef>
              <a:buNone/>
            </a:pPr>
            <a:endParaRPr lang="en-US" sz="2100" dirty="0">
              <a:latin typeface="Aptos (Body)"/>
              <a:ea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sz="2100" dirty="0">
              <a:latin typeface="Aptos (Body)"/>
            </a:endParaRPr>
          </a:p>
          <a:p>
            <a:pPr marL="0" indent="0">
              <a:lnSpc>
                <a:spcPct val="150000"/>
              </a:lnSpc>
              <a:spcBef>
                <a:spcPts val="0"/>
              </a:spcBef>
              <a:buNone/>
            </a:pPr>
            <a:endParaRPr lang="en-US" sz="2100"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6: Functions of Combinational Logic </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31</a:t>
            </a:fld>
            <a:endParaRPr lang="vi-VN"/>
          </a:p>
        </p:txBody>
      </p:sp>
    </p:spTree>
    <p:extLst>
      <p:ext uri="{BB962C8B-B14F-4D97-AF65-F5344CB8AC3E}">
        <p14:creationId xmlns:p14="http://schemas.microsoft.com/office/powerpoint/2010/main" val="1886719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32</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5157</TotalTime>
  <Words>1371</Words>
  <Application>Microsoft Office PowerPoint</Application>
  <PresentationFormat>Widescreen</PresentationFormat>
  <Paragraphs>119</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(Body)</vt:lpstr>
      <vt:lpstr>Aptos Display</vt:lpstr>
      <vt:lpstr>Arial</vt:lpstr>
      <vt:lpstr>Times New Roman</vt:lpstr>
      <vt:lpstr>Office Theme</vt:lpstr>
      <vt:lpstr>Chapter 6: Functions of Combinational Logic   </vt:lpstr>
      <vt:lpstr>Chapter Objectives</vt:lpstr>
      <vt:lpstr>Chapter Outline</vt:lpstr>
      <vt:lpstr>6.1 Half and Full Adders</vt:lpstr>
      <vt:lpstr>6.1 Half and Full Adders</vt:lpstr>
      <vt:lpstr>6.1 Half and Full Adders</vt:lpstr>
      <vt:lpstr>6.2 Parallel Binary Adders</vt:lpstr>
      <vt:lpstr>6.2 Parallel Binary Adders</vt:lpstr>
      <vt:lpstr>6.2 Parallel Binary Adders</vt:lpstr>
      <vt:lpstr>6.2 Parallel Binary Adders</vt:lpstr>
      <vt:lpstr>6.3 Ripple Carry and Look-Ahead Carry Adders</vt:lpstr>
      <vt:lpstr>6.3 Ripple Carry and Look-Ahead Carry Adders</vt:lpstr>
      <vt:lpstr>6.3 Ripple Carry and Look-Ahead Carry Adders</vt:lpstr>
      <vt:lpstr>6.4 Comparators</vt:lpstr>
      <vt:lpstr>6.4 Comparators</vt:lpstr>
      <vt:lpstr>6.5 Decoders</vt:lpstr>
      <vt:lpstr>6.5 Decoders</vt:lpstr>
      <vt:lpstr>6.5 Decoders</vt:lpstr>
      <vt:lpstr>6.5 Decoders</vt:lpstr>
      <vt:lpstr>6.5 Decoders</vt:lpstr>
      <vt:lpstr>6.6 Encoder </vt:lpstr>
      <vt:lpstr>6.6 Encoder </vt:lpstr>
      <vt:lpstr>6.7 Code Converters</vt:lpstr>
      <vt:lpstr>6.7 Code Converters</vt:lpstr>
      <vt:lpstr>6.8 Multiplexers (Data Selectors)</vt:lpstr>
      <vt:lpstr>6.8 Multiplexers (Data Selectors)</vt:lpstr>
      <vt:lpstr>6.9 Demultiplexers</vt:lpstr>
      <vt:lpstr>6.9 Demultiplexers</vt:lpstr>
      <vt:lpstr>6.10 Parity Generators/Checkers</vt:lpstr>
      <vt:lpstr>6.10 Parity Generators/Checkers</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170</cp:revision>
  <dcterms:created xsi:type="dcterms:W3CDTF">2024-04-08T01:59:57Z</dcterms:created>
  <dcterms:modified xsi:type="dcterms:W3CDTF">2025-08-27T03:45:08Z</dcterms:modified>
</cp:coreProperties>
</file>