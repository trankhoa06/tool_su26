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handoutMasterIdLst>
    <p:handoutMasterId r:id="rId41"/>
  </p:handoutMasterIdLst>
  <p:sldIdLst>
    <p:sldId id="258" r:id="rId2"/>
    <p:sldId id="327" r:id="rId3"/>
    <p:sldId id="296" r:id="rId4"/>
    <p:sldId id="328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5" r:id="rId13"/>
    <p:sldId id="364" r:id="rId14"/>
    <p:sldId id="366" r:id="rId15"/>
    <p:sldId id="367" r:id="rId16"/>
    <p:sldId id="368" r:id="rId17"/>
    <p:sldId id="369" r:id="rId18"/>
    <p:sldId id="370" r:id="rId19"/>
    <p:sldId id="372" r:id="rId20"/>
    <p:sldId id="375" r:id="rId21"/>
    <p:sldId id="373" r:id="rId22"/>
    <p:sldId id="374" r:id="rId23"/>
    <p:sldId id="376" r:id="rId24"/>
    <p:sldId id="378" r:id="rId25"/>
    <p:sldId id="377" r:id="rId26"/>
    <p:sldId id="381" r:id="rId27"/>
    <p:sldId id="380" r:id="rId28"/>
    <p:sldId id="383" r:id="rId29"/>
    <p:sldId id="384" r:id="rId30"/>
    <p:sldId id="385" r:id="rId31"/>
    <p:sldId id="382" r:id="rId32"/>
    <p:sldId id="386" r:id="rId33"/>
    <p:sldId id="387" r:id="rId34"/>
    <p:sldId id="388" r:id="rId35"/>
    <p:sldId id="389" r:id="rId36"/>
    <p:sldId id="391" r:id="rId37"/>
    <p:sldId id="356" r:id="rId38"/>
    <p:sldId id="392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112020-9413-486F-BA5D-75CDAEC9B132}" v="33" dt="2024-04-17T15:14:20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 Cao Van" userId="f7949ac2-728d-41dd-ad7e-3544eb396517" providerId="ADAL" clId="{9A112020-9413-486F-BA5D-75CDAEC9B132}"/>
    <pc:docChg chg="undo custSel addSld delSld modSld">
      <pc:chgData name="Mai Cao Van" userId="f7949ac2-728d-41dd-ad7e-3544eb396517" providerId="ADAL" clId="{9A112020-9413-486F-BA5D-75CDAEC9B132}" dt="2024-04-17T15:14:29.613" v="118" actId="14100"/>
      <pc:docMkLst>
        <pc:docMk/>
      </pc:docMkLst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14208525" sldId="2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26776459" sldId="257"/>
        </pc:sldMkLst>
      </pc:sldChg>
      <pc:sldChg chg="modSp mod modClrScheme chgLayout">
        <pc:chgData name="Mai Cao Van" userId="f7949ac2-728d-41dd-ad7e-3544eb396517" providerId="ADAL" clId="{9A112020-9413-486F-BA5D-75CDAEC9B132}" dt="2024-04-17T14:20:18.691" v="9" actId="207"/>
        <pc:sldMkLst>
          <pc:docMk/>
          <pc:sldMk cId="3190321118" sldId="258"/>
        </pc:sldMkLst>
        <pc:spChg chg="mod ord">
          <ac:chgData name="Mai Cao Van" userId="f7949ac2-728d-41dd-ad7e-3544eb396517" providerId="ADAL" clId="{9A112020-9413-486F-BA5D-75CDAEC9B132}" dt="2024-04-17T14:20:18.691" v="9" actId="207"/>
          <ac:spMkLst>
            <pc:docMk/>
            <pc:sldMk cId="3190321118" sldId="258"/>
            <ac:spMk id="2" creationId="{07CF3735-88FE-51EE-7EA1-A930D1D9D4F9}"/>
          </ac:spMkLst>
        </pc:spChg>
        <pc:spChg chg="mod ord">
          <ac:chgData name="Mai Cao Van" userId="f7949ac2-728d-41dd-ad7e-3544eb396517" providerId="ADAL" clId="{9A112020-9413-486F-BA5D-75CDAEC9B132}" dt="2024-04-17T14:20:02.053" v="5" actId="120"/>
          <ac:spMkLst>
            <pc:docMk/>
            <pc:sldMk cId="3190321118" sldId="258"/>
            <ac:spMk id="9" creationId="{F0932675-FEE9-806C-4C5C-4E45D1CBCBF5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71320278" sldId="25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7350594" sldId="26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06777267" sldId="2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5489809" sldId="2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91464535" sldId="26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6108424" sldId="26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53395001" sldId="26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89765472" sldId="26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60731846" sldId="26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336286143" sldId="26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1732853" sldId="26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43067150" sldId="27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890814" sldId="27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352985877" sldId="27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18896443" sldId="27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31915942" sldId="27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52181570" sldId="27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79499132" sldId="27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058281605" sldId="27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443217586" sldId="27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1532945" sldId="28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617769310" sldId="28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880446481" sldId="28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70850264" sldId="28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727363365" sldId="28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346282213" sldId="28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09053363" sldId="28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94563085" sldId="28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26019977" sldId="28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77283182" sldId="28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2004715" sldId="29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32815543" sldId="29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32717068" sldId="29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74586941" sldId="29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986597189" sldId="29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170217672" sldId="295"/>
        </pc:sldMkLst>
      </pc:sldChg>
      <pc:sldChg chg="addSp delSp modSp mod chgLayout">
        <pc:chgData name="Mai Cao Van" userId="f7949ac2-728d-41dd-ad7e-3544eb396517" providerId="ADAL" clId="{9A112020-9413-486F-BA5D-75CDAEC9B132}" dt="2024-04-17T15:07:47.436" v="76" actId="113"/>
        <pc:sldMkLst>
          <pc:docMk/>
          <pc:sldMk cId="1501905343" sldId="296"/>
        </pc:sldMkLst>
        <pc:spChg chg="mod or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2" creationId="{8C430AE8-0EBE-B0C5-28F2-79A2A6992611}"/>
          </ac:spMkLst>
        </pc:spChg>
        <pc:spChg chg="mod ord">
          <ac:chgData name="Mai Cao Van" userId="f7949ac2-728d-41dd-ad7e-3544eb396517" providerId="ADAL" clId="{9A112020-9413-486F-BA5D-75CDAEC9B132}" dt="2024-04-17T15:03:37.451" v="47" actId="123"/>
          <ac:spMkLst>
            <pc:docMk/>
            <pc:sldMk cId="1501905343" sldId="296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6" creationId="{4E16FE9D-6910-3544-261B-84B87D8CEB42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7" creationId="{7F0A6817-88FB-7DF1-0253-7A09FF946583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8" creationId="{4C016DF6-0FEB-F18C-BF4A-135819304B30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9" creationId="{F07948B4-DBBE-2601-1A16-1F3D99DFC0B4}"/>
          </ac:spMkLst>
        </pc:spChg>
        <pc:spChg chg="add mod">
          <ac:chgData name="Mai Cao Van" userId="f7949ac2-728d-41dd-ad7e-3544eb396517" providerId="ADAL" clId="{9A112020-9413-486F-BA5D-75CDAEC9B132}" dt="2024-04-17T15:07:47.436" v="76" actId="113"/>
          <ac:spMkLst>
            <pc:docMk/>
            <pc:sldMk cId="1501905343" sldId="296"/>
            <ac:spMk id="13" creationId="{C0DE56BB-D25E-8028-4B39-613B82E2F666}"/>
          </ac:spMkLst>
        </pc:spChg>
        <pc:picChg chg="add del mod">
          <ac:chgData name="Mai Cao Van" userId="f7949ac2-728d-41dd-ad7e-3544eb396517" providerId="ADAL" clId="{9A112020-9413-486F-BA5D-75CDAEC9B132}" dt="2024-04-17T14:58:25.778" v="17" actId="478"/>
          <ac:picMkLst>
            <pc:docMk/>
            <pc:sldMk cId="1501905343" sldId="296"/>
            <ac:picMk id="5" creationId="{DAFB7174-EBC2-F8A4-63D1-02D5BDF15D48}"/>
          </ac:picMkLst>
        </pc:picChg>
        <pc:picChg chg="add mod">
          <ac:chgData name="Mai Cao Van" userId="f7949ac2-728d-41dd-ad7e-3544eb396517" providerId="ADAL" clId="{9A112020-9413-486F-BA5D-75CDAEC9B132}" dt="2024-04-17T15:03:32.009" v="46" actId="1035"/>
          <ac:picMkLst>
            <pc:docMk/>
            <pc:sldMk cId="1501905343" sldId="296"/>
            <ac:picMk id="11" creationId="{3060298A-DE97-347C-64A7-3756612B109F}"/>
          </ac:picMkLst>
        </pc:picChg>
      </pc:sldChg>
      <pc:sldChg chg="addSp delSp modSp add mod chgLayout">
        <pc:chgData name="Mai Cao Van" userId="f7949ac2-728d-41dd-ad7e-3544eb396517" providerId="ADAL" clId="{9A112020-9413-486F-BA5D-75CDAEC9B132}" dt="2024-04-17T15:07:40.195" v="75" actId="113"/>
        <pc:sldMkLst>
          <pc:docMk/>
          <pc:sldMk cId="2933662193" sldId="301"/>
        </pc:sldMkLst>
        <pc:spChg chg="mod or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2" creationId="{8C430AE8-0EBE-B0C5-28F2-79A2A6992611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3" creationId="{70A34787-31ED-7DDC-549A-161AF8900A2B}"/>
          </ac:spMkLst>
        </pc:spChg>
        <pc:spChg chg="mod ord">
          <ac:chgData name="Mai Cao Van" userId="f7949ac2-728d-41dd-ad7e-3544eb396517" providerId="ADAL" clId="{9A112020-9413-486F-BA5D-75CDAEC9B132}" dt="2024-04-17T15:06:11.303" v="68" actId="27636"/>
          <ac:spMkLst>
            <pc:docMk/>
            <pc:sldMk cId="2933662193" sldId="301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5" creationId="{2AB4403E-1207-5BEB-0BA0-55A57680AB16}"/>
          </ac:spMkLst>
        </pc:spChg>
        <pc:spChg chg="mod">
          <ac:chgData name="Mai Cao Van" userId="f7949ac2-728d-41dd-ad7e-3544eb396517" providerId="ADAL" clId="{9A112020-9413-486F-BA5D-75CDAEC9B132}" dt="2024-04-17T15:07:40.195" v="75" actId="113"/>
          <ac:spMkLst>
            <pc:docMk/>
            <pc:sldMk cId="2933662193" sldId="301"/>
            <ac:spMk id="13" creationId="{C0DE56BB-D25E-8028-4B39-613B82E2F666}"/>
          </ac:spMkLst>
        </pc:spChg>
        <pc:picChg chg="add mod">
          <ac:chgData name="Mai Cao Van" userId="f7949ac2-728d-41dd-ad7e-3544eb396517" providerId="ADAL" clId="{9A112020-9413-486F-BA5D-75CDAEC9B132}" dt="2024-04-17T15:07:11.801" v="72" actId="14100"/>
          <ac:picMkLst>
            <pc:docMk/>
            <pc:sldMk cId="2933662193" sldId="301"/>
            <ac:picMk id="7" creationId="{BACB1871-71F6-5AFF-51A8-84E978A82971}"/>
          </ac:picMkLst>
        </pc:picChg>
        <pc:picChg chg="del">
          <ac:chgData name="Mai Cao Van" userId="f7949ac2-728d-41dd-ad7e-3544eb396517" providerId="ADAL" clId="{9A112020-9413-486F-BA5D-75CDAEC9B132}" dt="2024-04-17T15:05:56.729" v="63" actId="478"/>
          <ac:picMkLst>
            <pc:docMk/>
            <pc:sldMk cId="2933662193" sldId="301"/>
            <ac:picMk id="11" creationId="{3060298A-DE97-347C-64A7-3756612B109F}"/>
          </ac:picMkLst>
        </pc:pic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61348225" sldId="3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320354" sldId="302"/>
        </pc:sldMkLst>
      </pc:sldChg>
      <pc:sldChg chg="modSp add mod">
        <pc:chgData name="Mai Cao Van" userId="f7949ac2-728d-41dd-ad7e-3544eb396517" providerId="ADAL" clId="{9A112020-9413-486F-BA5D-75CDAEC9B132}" dt="2024-04-17T15:14:29.613" v="118" actId="14100"/>
        <pc:sldMkLst>
          <pc:docMk/>
          <pc:sldMk cId="2652356429" sldId="302"/>
        </pc:sldMkLst>
        <pc:spChg chg="mod">
          <ac:chgData name="Mai Cao Van" userId="f7949ac2-728d-41dd-ad7e-3544eb396517" providerId="ADAL" clId="{9A112020-9413-486F-BA5D-75CDAEC9B132}" dt="2024-04-17T15:14:29.613" v="118" actId="14100"/>
          <ac:spMkLst>
            <pc:docMk/>
            <pc:sldMk cId="2652356429" sldId="302"/>
            <ac:spMk id="4" creationId="{BE7F8D9A-9F36-3F42-5DDB-B214C4EAC8A6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82246672" sldId="3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3158920" sldId="3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54021612" sldId="3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80960752" sldId="3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49476003" sldId="3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81069589" sldId="3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162619783" sldId="3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64759149" sldId="3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21748694" sldId="3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48051221" sldId="3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3469992" sldId="3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15820225" sldId="3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31213231" sldId="3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72900586" sldId="3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20231526" sldId="3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83509001" sldId="3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84775449" sldId="32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71388492" sldId="3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759009" sldId="3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67845728" sldId="3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0621169" sldId="3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53342677" sldId="3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5125376" sldId="3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87807566" sldId="3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07945801" sldId="3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78991458" sldId="3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42944599" sldId="3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47322492" sldId="3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0702777" sldId="3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0726604" sldId="3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4312387" sldId="3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62530898" sldId="3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10533634" sldId="3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24928923" sldId="3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8002459" sldId="3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90179627" sldId="3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63368077" sldId="3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09250700" sldId="3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50418921" sldId="3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57694825" sldId="3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05595158" sldId="34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73060477" sldId="34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59707268" sldId="34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848758112" sldId="35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036275847" sldId="35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181531778" sldId="35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59275954" sldId="35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09173124" sldId="35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247538530" sldId="35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6905501" sldId="3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16005775" sldId="35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55634875" sldId="35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11785288" sldId="3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13708824" sldId="3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1358665" sldId="39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308099" sldId="39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40247633" sldId="4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02376594" sldId="40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73410731" sldId="4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70051078" sldId="4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84010954" sldId="4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4740067" sldId="4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19231035" sldId="4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85599415" sldId="4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64253548" sldId="4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21512525" sldId="4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5239884" sldId="4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9551571" sldId="4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77181734" sldId="4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64186032" sldId="4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7174173" sldId="4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7491730" sldId="41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94990954" sldId="4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9368100" sldId="41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15897664" sldId="4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16007585" sldId="4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662009085" sldId="4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02492514" sldId="4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5303601" sldId="4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72253741" sldId="4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3780426" sldId="4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2503861" sldId="4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78228032" sldId="4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21868727" sldId="4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74550136" sldId="4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78328790" sldId="4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77041457" sldId="4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21886896" sldId="4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00060120" sldId="43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364085" sldId="4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562749593" sldId="4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3443945" sldId="4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35142140" sldId="4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6830420" sldId="4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58526831" sldId="4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6389077" sldId="4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28909499" sldId="4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55187822" sldId="4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6909249" sldId="4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57333704" sldId="4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04045078" sldId="4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9BC76D4-69A6-4C48-B85C-5372873A5E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1B1CA9-ACE5-452A-BF7C-32499EEA04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1E0B5-58FA-4B1F-8330-438260AD236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F4F3-3395-405A-A9B7-A9255FB171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4FE90-C38D-4F49-AEFF-EEFB9D7049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9C701-B8E5-488D-B103-5B435AD37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07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AD9A4-3449-456F-BCB1-B37D2B162820}" type="datetimeFigureOut">
              <a:rPr lang="vi-VN" smtClean="0"/>
              <a:t>27/08/2025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4DB88-6E80-499D-ABB8-38FBF3AE1A2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443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49648"/>
            <a:ext cx="12192000" cy="690764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2886" y="6356351"/>
            <a:ext cx="2743200" cy="365125"/>
          </a:xfrm>
        </p:spPr>
        <p:txBody>
          <a:bodyPr/>
          <a:lstStyle/>
          <a:p>
            <a:fld id="{601871CC-0A5A-4983-867F-F63CAC6B553F}" type="datetime1">
              <a:rPr lang="vi-VN" smtClean="0"/>
              <a:t>27/08/2025</a:t>
            </a:fld>
            <a:endParaRPr lang="vi-V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4330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 userDrawn="1"/>
        </p:nvSpPr>
        <p:spPr>
          <a:xfrm rot="5400000">
            <a:off x="9182294" y="3821567"/>
            <a:ext cx="5611860" cy="411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200" b="1" dirty="0">
                <a:solidFill>
                  <a:srgbClr val="002060"/>
                </a:solidFill>
              </a:rPr>
              <a:t>Chapter 15: Integrated Circuit Technologies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305"/>
            <a:ext cx="10515600" cy="549274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4303"/>
            <a:ext cx="10515600" cy="5312661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23400" y="6468112"/>
            <a:ext cx="27432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44A9409-5B7A-4A68-9AEC-D10994391474}" type="slidenum">
              <a:rPr lang="vi-VN" smtClean="0"/>
              <a:pPr/>
              <a:t>‹#›</a:t>
            </a:fld>
            <a:endParaRPr lang="vi-VN" dirty="0"/>
          </a:p>
        </p:txBody>
      </p:sp>
      <p:pic>
        <p:nvPicPr>
          <p:cNvPr id="9" name="Picture 8" descr="A black background with text&#10;&#10;Description automatically generated">
            <a:extLst>
              <a:ext uri="{FF2B5EF4-FFF2-40B4-BE49-F238E27FC236}">
                <a16:creationId xmlns:a16="http://schemas.microsoft.com/office/drawing/2014/main" id="{6BF17E32-750A-6C62-EA62-509EF6C9FA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77123"/>
            <a:ext cx="2387692" cy="556277"/>
          </a:xfrm>
          <a:prstGeom prst="rect">
            <a:avLst/>
          </a:prstGeom>
        </p:spPr>
      </p:pic>
      <p:grpSp>
        <p:nvGrpSpPr>
          <p:cNvPr id="68" name="Group 67"/>
          <p:cNvGrpSpPr/>
          <p:nvPr userDrawn="1"/>
        </p:nvGrpSpPr>
        <p:grpSpPr>
          <a:xfrm>
            <a:off x="10955782" y="-1564"/>
            <a:ext cx="1234440" cy="1234718"/>
            <a:chOff x="10963402" y="2246"/>
            <a:chExt cx="1234440" cy="1234718"/>
          </a:xfrm>
        </p:grpSpPr>
        <p:grpSp>
          <p:nvGrpSpPr>
            <p:cNvPr id="65" name="Group 64"/>
            <p:cNvGrpSpPr/>
            <p:nvPr userDrawn="1"/>
          </p:nvGrpSpPr>
          <p:grpSpPr>
            <a:xfrm>
              <a:off x="11786362" y="5171"/>
              <a:ext cx="411480" cy="411481"/>
              <a:chOff x="11782552" y="5171"/>
              <a:chExt cx="411480" cy="411481"/>
            </a:xfrm>
          </p:grpSpPr>
          <p:sp>
            <p:nvSpPr>
              <p:cNvPr id="27" name="Right Triangle 26">
                <a:extLst>
                  <a:ext uri="{FF2B5EF4-FFF2-40B4-BE49-F238E27FC236}">
                    <a16:creationId xmlns:a16="http://schemas.microsoft.com/office/drawing/2014/main" id="{104E3744-FC6E-D772-CB2C-94156FE16F5E}"/>
                  </a:ext>
                </a:extLst>
              </p:cNvPr>
              <p:cNvSpPr/>
              <p:nvPr userDrawn="1"/>
            </p:nvSpPr>
            <p:spPr>
              <a:xfrm rot="10800000">
                <a:off x="11782552" y="5172"/>
                <a:ext cx="411480" cy="41148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8" name="Right Triangle 27">
                <a:extLst>
                  <a:ext uri="{FF2B5EF4-FFF2-40B4-BE49-F238E27FC236}">
                    <a16:creationId xmlns:a16="http://schemas.microsoft.com/office/drawing/2014/main" id="{8E526613-AFFA-0BE7-1031-5FE07BE21465}"/>
                  </a:ext>
                </a:extLst>
              </p:cNvPr>
              <p:cNvSpPr/>
              <p:nvPr userDrawn="1"/>
            </p:nvSpPr>
            <p:spPr>
              <a:xfrm>
                <a:off x="11782552" y="5171"/>
                <a:ext cx="411480" cy="41148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3" name="Group 62"/>
            <p:cNvGrpSpPr/>
            <p:nvPr userDrawn="1"/>
          </p:nvGrpSpPr>
          <p:grpSpPr>
            <a:xfrm>
              <a:off x="11786362" y="416048"/>
              <a:ext cx="411480" cy="411480"/>
              <a:chOff x="11790172" y="404618"/>
              <a:chExt cx="411480" cy="411480"/>
            </a:xfrm>
          </p:grpSpPr>
          <p:sp>
            <p:nvSpPr>
              <p:cNvPr id="25" name="Right Triangle 24">
                <a:extLst>
                  <a:ext uri="{FF2B5EF4-FFF2-40B4-BE49-F238E27FC236}">
                    <a16:creationId xmlns:a16="http://schemas.microsoft.com/office/drawing/2014/main" id="{85BC3172-424A-A4E4-CB48-10AEBF5908B8}"/>
                  </a:ext>
                </a:extLst>
              </p:cNvPr>
              <p:cNvSpPr/>
              <p:nvPr userDrawn="1"/>
            </p:nvSpPr>
            <p:spPr>
              <a:xfrm rot="10800000">
                <a:off x="11790172" y="404618"/>
                <a:ext cx="411480" cy="41148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314298E0-6DBD-FD83-9BE9-9C0888F45A6F}"/>
                  </a:ext>
                </a:extLst>
              </p:cNvPr>
              <p:cNvSpPr/>
              <p:nvPr userDrawn="1"/>
            </p:nvSpPr>
            <p:spPr>
              <a:xfrm>
                <a:off x="11790172" y="404618"/>
                <a:ext cx="411480" cy="41148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2" name="Group 61"/>
            <p:cNvGrpSpPr/>
            <p:nvPr userDrawn="1"/>
          </p:nvGrpSpPr>
          <p:grpSpPr>
            <a:xfrm>
              <a:off x="11786362" y="825484"/>
              <a:ext cx="411480" cy="411480"/>
              <a:chOff x="11790172" y="802624"/>
              <a:chExt cx="411480" cy="411480"/>
            </a:xfrm>
          </p:grpSpPr>
          <p:sp>
            <p:nvSpPr>
              <p:cNvPr id="23" name="Right Triangle 22">
                <a:extLst>
                  <a:ext uri="{FF2B5EF4-FFF2-40B4-BE49-F238E27FC236}">
                    <a16:creationId xmlns:a16="http://schemas.microsoft.com/office/drawing/2014/main" id="{91C97430-586C-1852-7B7E-CC8BD43C1F34}"/>
                  </a:ext>
                </a:extLst>
              </p:cNvPr>
              <p:cNvSpPr/>
              <p:nvPr userDrawn="1"/>
            </p:nvSpPr>
            <p:spPr>
              <a:xfrm rot="10800000">
                <a:off x="11790172" y="802624"/>
                <a:ext cx="411480" cy="41148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DE6DCA86-3931-B1AC-3F66-88107D63265F}"/>
                  </a:ext>
                </a:extLst>
              </p:cNvPr>
              <p:cNvSpPr/>
              <p:nvPr userDrawn="1"/>
            </p:nvSpPr>
            <p:spPr>
              <a:xfrm>
                <a:off x="11790172" y="802624"/>
                <a:ext cx="411480" cy="41148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4" name="Group 63"/>
            <p:cNvGrpSpPr/>
            <p:nvPr userDrawn="1"/>
          </p:nvGrpSpPr>
          <p:grpSpPr>
            <a:xfrm>
              <a:off x="11374882" y="416680"/>
              <a:ext cx="411480" cy="411480"/>
              <a:chOff x="11393932" y="409060"/>
              <a:chExt cx="411480" cy="411480"/>
            </a:xfrm>
          </p:grpSpPr>
          <p:sp>
            <p:nvSpPr>
              <p:cNvPr id="21" name="Right Triangle 20">
                <a:extLst>
                  <a:ext uri="{FF2B5EF4-FFF2-40B4-BE49-F238E27FC236}">
                    <a16:creationId xmlns:a16="http://schemas.microsoft.com/office/drawing/2014/main" id="{D7B18993-7C91-F71E-F1EB-8E1AD63B2C42}"/>
                  </a:ext>
                </a:extLst>
              </p:cNvPr>
              <p:cNvSpPr/>
              <p:nvPr userDrawn="1"/>
            </p:nvSpPr>
            <p:spPr>
              <a:xfrm rot="10800000">
                <a:off x="11393932" y="409060"/>
                <a:ext cx="411480" cy="41148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2" name="Right Triangle 21">
                <a:extLst>
                  <a:ext uri="{FF2B5EF4-FFF2-40B4-BE49-F238E27FC236}">
                    <a16:creationId xmlns:a16="http://schemas.microsoft.com/office/drawing/2014/main" id="{A1832769-9077-3069-4A71-C6696C21BC5F}"/>
                  </a:ext>
                </a:extLst>
              </p:cNvPr>
              <p:cNvSpPr/>
              <p:nvPr userDrawn="1"/>
            </p:nvSpPr>
            <p:spPr>
              <a:xfrm>
                <a:off x="11393932" y="409060"/>
                <a:ext cx="411480" cy="41148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6" name="Group 65"/>
            <p:cNvGrpSpPr/>
            <p:nvPr userDrawn="1"/>
          </p:nvGrpSpPr>
          <p:grpSpPr>
            <a:xfrm>
              <a:off x="11374882" y="5293"/>
              <a:ext cx="411480" cy="411480"/>
              <a:chOff x="11382502" y="-6137"/>
              <a:chExt cx="411480" cy="411480"/>
            </a:xfrm>
          </p:grpSpPr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B3697819-6C2D-176B-5402-026EE5B6ADE0}"/>
                  </a:ext>
                </a:extLst>
              </p:cNvPr>
              <p:cNvSpPr/>
              <p:nvPr userDrawn="1"/>
            </p:nvSpPr>
            <p:spPr>
              <a:xfrm rot="10800000">
                <a:off x="11382502" y="-6137"/>
                <a:ext cx="411480" cy="41148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04B90D12-2C70-58C5-9D99-5E46BABC09A5}"/>
                  </a:ext>
                </a:extLst>
              </p:cNvPr>
              <p:cNvSpPr/>
              <p:nvPr userDrawn="1"/>
            </p:nvSpPr>
            <p:spPr>
              <a:xfrm>
                <a:off x="11382502" y="-6137"/>
                <a:ext cx="411480" cy="41148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7" name="Group 66"/>
            <p:cNvGrpSpPr/>
            <p:nvPr userDrawn="1"/>
          </p:nvGrpSpPr>
          <p:grpSpPr>
            <a:xfrm>
              <a:off x="10963402" y="2246"/>
              <a:ext cx="411480" cy="411481"/>
              <a:chOff x="10997692" y="-1564"/>
              <a:chExt cx="411480" cy="411481"/>
            </a:xfrm>
          </p:grpSpPr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54406F37-F68C-A4C0-E0EF-7C3C6F4796B1}"/>
                  </a:ext>
                </a:extLst>
              </p:cNvPr>
              <p:cNvSpPr/>
              <p:nvPr userDrawn="1"/>
            </p:nvSpPr>
            <p:spPr>
              <a:xfrm rot="10800000">
                <a:off x="10997692" y="-1563"/>
                <a:ext cx="411480" cy="41148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52350476-19B7-4C57-8D0B-4F30375646DF}"/>
                  </a:ext>
                </a:extLst>
              </p:cNvPr>
              <p:cNvSpPr/>
              <p:nvPr userDrawn="1"/>
            </p:nvSpPr>
            <p:spPr>
              <a:xfrm>
                <a:off x="10997692" y="-1564"/>
                <a:ext cx="411480" cy="41148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79" name="Group 78"/>
          <p:cNvGrpSpPr/>
          <p:nvPr userDrawn="1"/>
        </p:nvGrpSpPr>
        <p:grpSpPr>
          <a:xfrm>
            <a:off x="0" y="5223817"/>
            <a:ext cx="1645920" cy="1634359"/>
            <a:chOff x="0" y="5229913"/>
            <a:chExt cx="1645920" cy="1634359"/>
          </a:xfrm>
        </p:grpSpPr>
        <p:grpSp>
          <p:nvGrpSpPr>
            <p:cNvPr id="78" name="Group 77"/>
            <p:cNvGrpSpPr/>
            <p:nvPr userDrawn="1"/>
          </p:nvGrpSpPr>
          <p:grpSpPr>
            <a:xfrm>
              <a:off x="0" y="6453202"/>
              <a:ext cx="411480" cy="411070"/>
              <a:chOff x="0" y="6453202"/>
              <a:chExt cx="411480" cy="411070"/>
            </a:xfrm>
          </p:grpSpPr>
          <p:sp>
            <p:nvSpPr>
              <p:cNvPr id="58" name="Right Triangle 57">
                <a:extLst>
                  <a:ext uri="{FF2B5EF4-FFF2-40B4-BE49-F238E27FC236}">
                    <a16:creationId xmlns:a16="http://schemas.microsoft.com/office/drawing/2014/main" id="{7C6D5D3D-3662-A526-17C5-BFD0909E8140}"/>
                  </a:ext>
                </a:extLst>
              </p:cNvPr>
              <p:cNvSpPr/>
              <p:nvPr userDrawn="1"/>
            </p:nvSpPr>
            <p:spPr>
              <a:xfrm>
                <a:off x="0" y="6453202"/>
                <a:ext cx="411480" cy="41107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Right Triangle 58">
                <a:extLst>
                  <a:ext uri="{FF2B5EF4-FFF2-40B4-BE49-F238E27FC236}">
                    <a16:creationId xmlns:a16="http://schemas.microsoft.com/office/drawing/2014/main" id="{4B987422-BE46-3E2F-0AC8-24EBCC0299B0}"/>
                  </a:ext>
                </a:extLst>
              </p:cNvPr>
              <p:cNvSpPr/>
              <p:nvPr userDrawn="1"/>
            </p:nvSpPr>
            <p:spPr>
              <a:xfrm rot="10800000">
                <a:off x="0" y="6453202"/>
                <a:ext cx="411480" cy="41107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7" name="Group 76"/>
            <p:cNvGrpSpPr/>
            <p:nvPr userDrawn="1"/>
          </p:nvGrpSpPr>
          <p:grpSpPr>
            <a:xfrm>
              <a:off x="0" y="6047253"/>
              <a:ext cx="411480" cy="411070"/>
              <a:chOff x="0" y="6047253"/>
              <a:chExt cx="411480" cy="411070"/>
            </a:xfrm>
          </p:grpSpPr>
          <p:sp>
            <p:nvSpPr>
              <p:cNvPr id="56" name="Right Triangle 55">
                <a:extLst>
                  <a:ext uri="{FF2B5EF4-FFF2-40B4-BE49-F238E27FC236}">
                    <a16:creationId xmlns:a16="http://schemas.microsoft.com/office/drawing/2014/main" id="{C7394C07-0ADF-EEDA-30DD-D0A5219FD07E}"/>
                  </a:ext>
                </a:extLst>
              </p:cNvPr>
              <p:cNvSpPr/>
              <p:nvPr userDrawn="1"/>
            </p:nvSpPr>
            <p:spPr>
              <a:xfrm>
                <a:off x="0" y="6047253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Right Triangle 56">
                <a:extLst>
                  <a:ext uri="{FF2B5EF4-FFF2-40B4-BE49-F238E27FC236}">
                    <a16:creationId xmlns:a16="http://schemas.microsoft.com/office/drawing/2014/main" id="{4D6B85FB-6BC6-0DA1-393E-DDC30EFB0268}"/>
                  </a:ext>
                </a:extLst>
              </p:cNvPr>
              <p:cNvSpPr/>
              <p:nvPr userDrawn="1"/>
            </p:nvSpPr>
            <p:spPr>
              <a:xfrm rot="10800000">
                <a:off x="0" y="6047253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6" name="Group 75"/>
            <p:cNvGrpSpPr/>
            <p:nvPr userDrawn="1"/>
          </p:nvGrpSpPr>
          <p:grpSpPr>
            <a:xfrm>
              <a:off x="0" y="5638248"/>
              <a:ext cx="411480" cy="411070"/>
              <a:chOff x="0" y="5638248"/>
              <a:chExt cx="411480" cy="411070"/>
            </a:xfrm>
          </p:grpSpPr>
          <p:sp>
            <p:nvSpPr>
              <p:cNvPr id="54" name="Right Triangle 53">
                <a:extLst>
                  <a:ext uri="{FF2B5EF4-FFF2-40B4-BE49-F238E27FC236}">
                    <a16:creationId xmlns:a16="http://schemas.microsoft.com/office/drawing/2014/main" id="{64AB5756-BD28-6111-AFC2-C064394697AA}"/>
                  </a:ext>
                </a:extLst>
              </p:cNvPr>
              <p:cNvSpPr/>
              <p:nvPr userDrawn="1"/>
            </p:nvSpPr>
            <p:spPr>
              <a:xfrm>
                <a:off x="0" y="5638248"/>
                <a:ext cx="411480" cy="41107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Right Triangle 54">
                <a:extLst>
                  <a:ext uri="{FF2B5EF4-FFF2-40B4-BE49-F238E27FC236}">
                    <a16:creationId xmlns:a16="http://schemas.microsoft.com/office/drawing/2014/main" id="{CCF3BB32-E016-3C59-3296-4EA5666D2CA8}"/>
                  </a:ext>
                </a:extLst>
              </p:cNvPr>
              <p:cNvSpPr/>
              <p:nvPr userDrawn="1"/>
            </p:nvSpPr>
            <p:spPr>
              <a:xfrm rot="10800000">
                <a:off x="0" y="5638248"/>
                <a:ext cx="411480" cy="41107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5" name="Group 74"/>
            <p:cNvGrpSpPr/>
            <p:nvPr userDrawn="1"/>
          </p:nvGrpSpPr>
          <p:grpSpPr>
            <a:xfrm>
              <a:off x="411480" y="6047253"/>
              <a:ext cx="411480" cy="411070"/>
              <a:chOff x="411480" y="6047253"/>
              <a:chExt cx="411480" cy="411070"/>
            </a:xfrm>
          </p:grpSpPr>
          <p:sp>
            <p:nvSpPr>
              <p:cNvPr id="52" name="Right Triangle 51">
                <a:extLst>
                  <a:ext uri="{FF2B5EF4-FFF2-40B4-BE49-F238E27FC236}">
                    <a16:creationId xmlns:a16="http://schemas.microsoft.com/office/drawing/2014/main" id="{8C6B3CA5-8D03-6992-787E-9636C5AE54D9}"/>
                  </a:ext>
                </a:extLst>
              </p:cNvPr>
              <p:cNvSpPr/>
              <p:nvPr userDrawn="1"/>
            </p:nvSpPr>
            <p:spPr>
              <a:xfrm>
                <a:off x="411480" y="6047253"/>
                <a:ext cx="411480" cy="41107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Right Triangle 52">
                <a:extLst>
                  <a:ext uri="{FF2B5EF4-FFF2-40B4-BE49-F238E27FC236}">
                    <a16:creationId xmlns:a16="http://schemas.microsoft.com/office/drawing/2014/main" id="{01491534-CB37-A450-3A13-CF46EEAB6A5F}"/>
                  </a:ext>
                </a:extLst>
              </p:cNvPr>
              <p:cNvSpPr/>
              <p:nvPr userDrawn="1"/>
            </p:nvSpPr>
            <p:spPr>
              <a:xfrm rot="10800000">
                <a:off x="411480" y="6047253"/>
                <a:ext cx="411480" cy="41107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4" name="Group 73"/>
            <p:cNvGrpSpPr/>
            <p:nvPr userDrawn="1"/>
          </p:nvGrpSpPr>
          <p:grpSpPr>
            <a:xfrm>
              <a:off x="411480" y="6453202"/>
              <a:ext cx="411480" cy="411070"/>
              <a:chOff x="411480" y="6453202"/>
              <a:chExt cx="411480" cy="411070"/>
            </a:xfrm>
          </p:grpSpPr>
          <p:sp>
            <p:nvSpPr>
              <p:cNvPr id="50" name="Right Triangle 49">
                <a:extLst>
                  <a:ext uri="{FF2B5EF4-FFF2-40B4-BE49-F238E27FC236}">
                    <a16:creationId xmlns:a16="http://schemas.microsoft.com/office/drawing/2014/main" id="{032EDF53-67B9-900C-C2F0-BBC97BA72643}"/>
                  </a:ext>
                </a:extLst>
              </p:cNvPr>
              <p:cNvSpPr/>
              <p:nvPr userDrawn="1"/>
            </p:nvSpPr>
            <p:spPr>
              <a:xfrm>
                <a:off x="411480" y="6453202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Right Triangle 50">
                <a:extLst>
                  <a:ext uri="{FF2B5EF4-FFF2-40B4-BE49-F238E27FC236}">
                    <a16:creationId xmlns:a16="http://schemas.microsoft.com/office/drawing/2014/main" id="{4860B01E-AAAF-1DB6-003C-7E22ADC21D9A}"/>
                  </a:ext>
                </a:extLst>
              </p:cNvPr>
              <p:cNvSpPr/>
              <p:nvPr userDrawn="1"/>
            </p:nvSpPr>
            <p:spPr>
              <a:xfrm rot="10800000">
                <a:off x="411480" y="6453202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3" name="Group 72"/>
            <p:cNvGrpSpPr/>
            <p:nvPr userDrawn="1"/>
          </p:nvGrpSpPr>
          <p:grpSpPr>
            <a:xfrm>
              <a:off x="822960" y="6453202"/>
              <a:ext cx="411480" cy="411070"/>
              <a:chOff x="822960" y="6453202"/>
              <a:chExt cx="411480" cy="411070"/>
            </a:xfrm>
          </p:grpSpPr>
          <p:sp>
            <p:nvSpPr>
              <p:cNvPr id="48" name="Right Triangle 47">
                <a:extLst>
                  <a:ext uri="{FF2B5EF4-FFF2-40B4-BE49-F238E27FC236}">
                    <a16:creationId xmlns:a16="http://schemas.microsoft.com/office/drawing/2014/main" id="{51E62297-F581-4EDA-971E-CF6196E49344}"/>
                  </a:ext>
                </a:extLst>
              </p:cNvPr>
              <p:cNvSpPr/>
              <p:nvPr userDrawn="1"/>
            </p:nvSpPr>
            <p:spPr>
              <a:xfrm>
                <a:off x="822960" y="6453202"/>
                <a:ext cx="411480" cy="41107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9" name="Right Triangle 48">
                <a:extLst>
                  <a:ext uri="{FF2B5EF4-FFF2-40B4-BE49-F238E27FC236}">
                    <a16:creationId xmlns:a16="http://schemas.microsoft.com/office/drawing/2014/main" id="{037A4B95-4C76-3379-FE66-7604FC49E7DB}"/>
                  </a:ext>
                </a:extLst>
              </p:cNvPr>
              <p:cNvSpPr/>
              <p:nvPr userDrawn="1"/>
            </p:nvSpPr>
            <p:spPr>
              <a:xfrm rot="10800000">
                <a:off x="822960" y="6453202"/>
                <a:ext cx="411480" cy="41107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2" name="Group 71"/>
            <p:cNvGrpSpPr/>
            <p:nvPr userDrawn="1"/>
          </p:nvGrpSpPr>
          <p:grpSpPr>
            <a:xfrm>
              <a:off x="0" y="5229913"/>
              <a:ext cx="411480" cy="411070"/>
              <a:chOff x="0" y="5229913"/>
              <a:chExt cx="411480" cy="411070"/>
            </a:xfrm>
          </p:grpSpPr>
          <p:sp>
            <p:nvSpPr>
              <p:cNvPr id="46" name="Right Triangle 45">
                <a:extLst>
                  <a:ext uri="{FF2B5EF4-FFF2-40B4-BE49-F238E27FC236}">
                    <a16:creationId xmlns:a16="http://schemas.microsoft.com/office/drawing/2014/main" id="{DB35D46E-FCF1-09E4-645B-AE13B4E0622F}"/>
                  </a:ext>
                </a:extLst>
              </p:cNvPr>
              <p:cNvSpPr/>
              <p:nvPr userDrawn="1"/>
            </p:nvSpPr>
            <p:spPr>
              <a:xfrm>
                <a:off x="0" y="5229913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Right Triangle 46">
                <a:extLst>
                  <a:ext uri="{FF2B5EF4-FFF2-40B4-BE49-F238E27FC236}">
                    <a16:creationId xmlns:a16="http://schemas.microsoft.com/office/drawing/2014/main" id="{B49A6AD1-D826-C7CB-D1D8-20588CC9E0D1}"/>
                  </a:ext>
                </a:extLst>
              </p:cNvPr>
              <p:cNvSpPr/>
              <p:nvPr userDrawn="1"/>
            </p:nvSpPr>
            <p:spPr>
              <a:xfrm rot="10800000">
                <a:off x="0" y="5229913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1" name="Group 70"/>
            <p:cNvGrpSpPr/>
            <p:nvPr userDrawn="1"/>
          </p:nvGrpSpPr>
          <p:grpSpPr>
            <a:xfrm>
              <a:off x="411480" y="5640998"/>
              <a:ext cx="411480" cy="411070"/>
              <a:chOff x="411480" y="5640998"/>
              <a:chExt cx="411480" cy="411070"/>
            </a:xfrm>
          </p:grpSpPr>
          <p:sp>
            <p:nvSpPr>
              <p:cNvPr id="44" name="Right Triangle 43">
                <a:extLst>
                  <a:ext uri="{FF2B5EF4-FFF2-40B4-BE49-F238E27FC236}">
                    <a16:creationId xmlns:a16="http://schemas.microsoft.com/office/drawing/2014/main" id="{DFBD8121-710E-1D40-00C8-2B5565B6AD50}"/>
                  </a:ext>
                </a:extLst>
              </p:cNvPr>
              <p:cNvSpPr/>
              <p:nvPr userDrawn="1"/>
            </p:nvSpPr>
            <p:spPr>
              <a:xfrm>
                <a:off x="411480" y="5640998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1A9F5181-C41C-5F10-DD79-042329A130E6}"/>
                  </a:ext>
                </a:extLst>
              </p:cNvPr>
              <p:cNvSpPr/>
              <p:nvPr userDrawn="1"/>
            </p:nvSpPr>
            <p:spPr>
              <a:xfrm rot="10800000">
                <a:off x="411480" y="5640998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0" name="Group 69"/>
            <p:cNvGrpSpPr/>
            <p:nvPr userDrawn="1"/>
          </p:nvGrpSpPr>
          <p:grpSpPr>
            <a:xfrm>
              <a:off x="823898" y="6047253"/>
              <a:ext cx="411480" cy="411070"/>
              <a:chOff x="823898" y="6047253"/>
              <a:chExt cx="411480" cy="411070"/>
            </a:xfrm>
          </p:grpSpPr>
          <p:sp>
            <p:nvSpPr>
              <p:cNvPr id="42" name="Right Triangle 41">
                <a:extLst>
                  <a:ext uri="{FF2B5EF4-FFF2-40B4-BE49-F238E27FC236}">
                    <a16:creationId xmlns:a16="http://schemas.microsoft.com/office/drawing/2014/main" id="{6BE3AD03-0CF2-35C6-CC4D-76C769359E09}"/>
                  </a:ext>
                </a:extLst>
              </p:cNvPr>
              <p:cNvSpPr/>
              <p:nvPr userDrawn="1"/>
            </p:nvSpPr>
            <p:spPr>
              <a:xfrm>
                <a:off x="823898" y="6047253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Right Triangle 42">
                <a:extLst>
                  <a:ext uri="{FF2B5EF4-FFF2-40B4-BE49-F238E27FC236}">
                    <a16:creationId xmlns:a16="http://schemas.microsoft.com/office/drawing/2014/main" id="{E5C70DCE-2D30-1D7B-37FF-8E01E3974699}"/>
                  </a:ext>
                </a:extLst>
              </p:cNvPr>
              <p:cNvSpPr/>
              <p:nvPr userDrawn="1"/>
            </p:nvSpPr>
            <p:spPr>
              <a:xfrm rot="10800000">
                <a:off x="823898" y="6047253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9" name="Group 68"/>
            <p:cNvGrpSpPr/>
            <p:nvPr userDrawn="1"/>
          </p:nvGrpSpPr>
          <p:grpSpPr>
            <a:xfrm>
              <a:off x="1234440" y="6453202"/>
              <a:ext cx="411480" cy="411070"/>
              <a:chOff x="1234440" y="6453202"/>
              <a:chExt cx="411480" cy="411070"/>
            </a:xfrm>
          </p:grpSpPr>
          <p:sp>
            <p:nvSpPr>
              <p:cNvPr id="40" name="Right Triangle 39">
                <a:extLst>
                  <a:ext uri="{FF2B5EF4-FFF2-40B4-BE49-F238E27FC236}">
                    <a16:creationId xmlns:a16="http://schemas.microsoft.com/office/drawing/2014/main" id="{13D4CC00-97A2-F50D-DF0C-7CCE44AE3948}"/>
                  </a:ext>
                </a:extLst>
              </p:cNvPr>
              <p:cNvSpPr/>
              <p:nvPr userDrawn="1"/>
            </p:nvSpPr>
            <p:spPr>
              <a:xfrm>
                <a:off x="1234440" y="6453202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Right Triangle 40">
                <a:extLst>
                  <a:ext uri="{FF2B5EF4-FFF2-40B4-BE49-F238E27FC236}">
                    <a16:creationId xmlns:a16="http://schemas.microsoft.com/office/drawing/2014/main" id="{B251A9F0-2DBC-52AA-438D-2222805A9A96}"/>
                  </a:ext>
                </a:extLst>
              </p:cNvPr>
              <p:cNvSpPr/>
              <p:nvPr userDrawn="1"/>
            </p:nvSpPr>
            <p:spPr>
              <a:xfrm rot="10800000">
                <a:off x="1234440" y="6453202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F96A4DE9-D7F0-3ED7-4C5A-62CC32974557}"/>
              </a:ext>
            </a:extLst>
          </p:cNvPr>
          <p:cNvSpPr/>
          <p:nvPr userDrawn="1"/>
        </p:nvSpPr>
        <p:spPr>
          <a:xfrm>
            <a:off x="838199" y="773819"/>
            <a:ext cx="10515600" cy="7605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 rot="16200000">
            <a:off x="-2412378" y="2412376"/>
            <a:ext cx="5236237" cy="4114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/>
            <a:r>
              <a:rPr lang="en-US" sz="2600" b="1" dirty="0">
                <a:solidFill>
                  <a:schemeClr val="tx1"/>
                </a:solidFill>
              </a:rPr>
              <a:t>DIGITAL</a:t>
            </a:r>
            <a:r>
              <a:rPr lang="en-US" sz="2600" b="1" baseline="0" dirty="0">
                <a:solidFill>
                  <a:schemeClr val="tx1"/>
                </a:solidFill>
              </a:rPr>
              <a:t> CIRCUITS–DIC201</a:t>
            </a:r>
            <a:endParaRPr lang="en-US" sz="2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70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61F7E-FD57-456B-9E1D-D84D10372E3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011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5618-61FB-4D94-96B8-BAD5A8A7457A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974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F10F2-F3BF-4562-89DD-2B10CBD3EE05}" type="datetime1">
              <a:rPr lang="vi-VN" smtClean="0"/>
              <a:t>27/08/2025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088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AE0-EA4F-42A1-B148-AD9AC22A56DF}" type="datetime1">
              <a:rPr lang="vi-VN" smtClean="0"/>
              <a:t>27/08/2025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237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7A0B-B56F-4F52-BBCA-98B3D074167B}" type="datetime1">
              <a:rPr lang="vi-VN" smtClean="0"/>
              <a:t>27/08/2025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861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DE86-437B-42AF-8A10-BA5649300010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748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CE396-3CB5-4BA0-A842-49E646427416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7578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99CBF-0E0B-4833-8FCB-2A6D36E2DE7D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644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1296-5D61-485A-8F80-0E9D6FAC6189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662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85421"/>
            <a:ext cx="10515600" cy="519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245E8-9FF8-49CD-8CA9-21B3335B7E4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075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31127D-97D4-0200-8E17-A46606337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52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>
                <a:solidFill>
                  <a:schemeClr val="tx1"/>
                </a:solidFill>
              </a:rPr>
              <a:t>1</a:t>
            </a:fld>
            <a:endParaRPr lang="vi-VN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CF3735-88FE-51EE-7EA1-A930D1D9D4F9}"/>
              </a:ext>
            </a:extLst>
          </p:cNvPr>
          <p:cNvSpPr txBox="1">
            <a:spLocks/>
          </p:cNvSpPr>
          <p:nvPr/>
        </p:nvSpPr>
        <p:spPr>
          <a:xfrm>
            <a:off x="1292637" y="1786212"/>
            <a:ext cx="4498563" cy="2126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800" b="1" dirty="0">
                <a:solidFill>
                  <a:schemeClr val="bg1"/>
                </a:solidFill>
              </a:rPr>
              <a:t>Chapter 15:</a:t>
            </a:r>
            <a:br>
              <a:rPr lang="en-US" sz="4800" b="1" dirty="0">
                <a:solidFill>
                  <a:schemeClr val="bg1"/>
                </a:solidFill>
              </a:rPr>
            </a:br>
            <a:r>
              <a:rPr lang="en-US" sz="4800" b="1" dirty="0">
                <a:solidFill>
                  <a:schemeClr val="bg1"/>
                </a:solidFill>
              </a:rPr>
              <a:t>Integrated Circuit Technologies</a:t>
            </a:r>
            <a:br>
              <a:rPr lang="en-US" sz="4000" b="1" dirty="0">
                <a:solidFill>
                  <a:schemeClr val="bg1"/>
                </a:solidFill>
              </a:rPr>
            </a:br>
            <a:endParaRPr lang="vi-V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32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217305"/>
            <a:ext cx="766064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Objectives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1145259"/>
            <a:ext cx="10657167" cy="456748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</a:rPr>
              <a:t>After studying this chapter, students should be able to:</a:t>
            </a:r>
          </a:p>
          <a:p>
            <a:pPr marR="0"/>
            <a:r>
              <a:rPr lang="en-US" sz="2400" b="1" dirty="0"/>
              <a:t>Component Analysis: </a:t>
            </a:r>
            <a:r>
              <a:rPr lang="en-US" sz="2400" dirty="0"/>
              <a:t>Calculate noise margin, power dissipation, propagation delay, and performance.</a:t>
            </a:r>
          </a:p>
          <a:p>
            <a:pPr marR="0"/>
            <a:r>
              <a:rPr lang="en-US" sz="2400" b="1" dirty="0"/>
              <a:t>Using Datasheets: </a:t>
            </a:r>
            <a:r>
              <a:rPr lang="en-US" sz="2400" dirty="0"/>
              <a:t>Read technical specs, understand fan-out and TTL/CMOS gate operation.</a:t>
            </a:r>
          </a:p>
          <a:p>
            <a:pPr marR="0"/>
            <a:r>
              <a:rPr lang="en-US" sz="2400" b="1" dirty="0"/>
              <a:t>TTL vs CMOS Comparison: </a:t>
            </a:r>
            <a:r>
              <a:rPr lang="en-US" sz="2400" dirty="0"/>
              <a:t>Distinguish totem-pole vs open-collector outputs, compare performance.</a:t>
            </a:r>
          </a:p>
          <a:p>
            <a:pPr marR="0"/>
            <a:r>
              <a:rPr lang="en-US" sz="2400" b="1" dirty="0"/>
              <a:t>Circuit Connection Techniques: </a:t>
            </a:r>
            <a:r>
              <a:rPr lang="en-US" sz="2400" dirty="0"/>
              <a:t>Apply wired-AND, handle unused inputs, and understand tri-state logic.</a:t>
            </a:r>
          </a:p>
          <a:p>
            <a:pPr marR="0"/>
            <a:r>
              <a:rPr lang="en-US" sz="2400" b="1" dirty="0"/>
              <a:t>CMOS Protection: </a:t>
            </a:r>
            <a:r>
              <a:rPr lang="en-US" sz="2400" dirty="0"/>
              <a:t>Prevent damage from electrostatic discharge (ESD).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DAF8E-AF0A-A556-8FFA-586CA276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242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217305"/>
            <a:ext cx="770128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Contents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440" y="1254977"/>
            <a:ext cx="10119360" cy="449775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15.1.</a:t>
            </a:r>
            <a:r>
              <a:rPr lang="en-US" sz="2400" dirty="0"/>
              <a:t> Basic Operational Characteristics and Parameters</a:t>
            </a:r>
            <a:br>
              <a:rPr lang="en-US" sz="2400" dirty="0"/>
            </a:br>
            <a:r>
              <a:rPr lang="en-US" sz="2400" b="1" dirty="0"/>
              <a:t>15.2.</a:t>
            </a:r>
            <a:r>
              <a:rPr lang="en-US" sz="2400" dirty="0"/>
              <a:t> CMOS Circuits</a:t>
            </a:r>
            <a:br>
              <a:rPr lang="en-US" sz="2400" dirty="0"/>
            </a:br>
            <a:r>
              <a:rPr lang="en-US" sz="2400" b="1" dirty="0"/>
              <a:t>15.3.</a:t>
            </a:r>
            <a:r>
              <a:rPr lang="en-US" sz="2400" dirty="0"/>
              <a:t> TTL (Bipolar) Circuits</a:t>
            </a:r>
            <a:br>
              <a:rPr lang="en-US" sz="2400" dirty="0"/>
            </a:br>
            <a:r>
              <a:rPr lang="en-US" sz="2400" b="1" dirty="0"/>
              <a:t>15.4.</a:t>
            </a:r>
            <a:r>
              <a:rPr lang="en-US" sz="2400" dirty="0"/>
              <a:t> Practical Considerations in the Use of TTL</a:t>
            </a:r>
            <a:br>
              <a:rPr lang="en-US" sz="2400" dirty="0"/>
            </a:br>
            <a:r>
              <a:rPr lang="en-US" sz="2400" b="1" dirty="0"/>
              <a:t>15.5.</a:t>
            </a:r>
            <a:r>
              <a:rPr lang="en-US" sz="2400" dirty="0"/>
              <a:t> Comparison of CMOS and TTL Performance</a:t>
            </a:r>
            <a:br>
              <a:rPr lang="en-US" sz="2400" dirty="0"/>
            </a:br>
            <a:r>
              <a:rPr lang="en-US" sz="2400" b="1" dirty="0"/>
              <a:t>15.6.</a:t>
            </a:r>
            <a:r>
              <a:rPr lang="en-US" sz="2400" dirty="0"/>
              <a:t> Emitter-Coupled Logic (ECL) Circuits</a:t>
            </a:r>
            <a:br>
              <a:rPr lang="en-US" sz="2400" dirty="0"/>
            </a:br>
            <a:r>
              <a:rPr lang="en-US" sz="2400" b="1" dirty="0"/>
              <a:t>15.7.</a:t>
            </a:r>
            <a:r>
              <a:rPr lang="en-US" sz="2400" dirty="0"/>
              <a:t> PMOS, NMOS, and E²CMOS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95D3F3-2FA5-0262-798E-21155E4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1905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24502"/>
            <a:ext cx="9482759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15.1.</a:t>
            </a:r>
            <a:r>
              <a:rPr lang="en-US" sz="2800" dirty="0">
                <a:solidFill>
                  <a:srgbClr val="FF0000"/>
                </a:solidFill>
              </a:rPr>
              <a:t> Basic Operational Characteristics and Parameters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DC Supply Voltage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4</a:t>
            </a:fld>
            <a:endParaRPr lang="vi-V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03C240-DCBD-4F13-A86E-1E213E8F2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275" y="1507013"/>
            <a:ext cx="5879739" cy="41371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961DA5-2B82-4A38-A83C-2767DC168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105" y="6172795"/>
            <a:ext cx="9202434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2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24502"/>
            <a:ext cx="9482759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15.1.</a:t>
            </a:r>
            <a:r>
              <a:rPr lang="en-US" sz="2800" dirty="0">
                <a:solidFill>
                  <a:srgbClr val="FF0000"/>
                </a:solidFill>
              </a:rPr>
              <a:t> Basic Operational Characteristics and Parameters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CMOS Logic Levels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CMOS gates operate reliably </a:t>
            </a:r>
            <a:r>
              <a:rPr lang="en-US" b="1" dirty="0"/>
              <a:t>only when input voltages are within valid logic level ranges.</a:t>
            </a: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5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B3C039-6846-42C7-8EB2-9ACC05A7E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70" y="2574196"/>
            <a:ext cx="5382736" cy="30542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DC95AC-9C4F-47B2-BA4C-962FCAEE8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696" y="2514581"/>
            <a:ext cx="5260003" cy="3133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1B1ED7-CA4E-4EB0-AE5B-27B267E1C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903" y="6125164"/>
            <a:ext cx="4324954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52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24502"/>
            <a:ext cx="9482759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15.1.</a:t>
            </a:r>
            <a:r>
              <a:rPr lang="en-US" sz="2800" dirty="0">
                <a:solidFill>
                  <a:srgbClr val="FF0000"/>
                </a:solidFill>
              </a:rPr>
              <a:t> Basic Operational Characteristics and Parameters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Noise Immunity in Digital Circuits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The circuit's ability to tolerate a certain amount of unwanted voltage without malfunction.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/>
              <a:t>Key to ensuring stable HIGH (1) and LOW (0) logic levels.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6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2C49EB-B382-426D-BA25-3BEB941C4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29" y="2270846"/>
            <a:ext cx="6858089" cy="2316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52FFA4-C2C9-46AF-9B31-733DAFDD0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122" y="4759430"/>
            <a:ext cx="6555861" cy="2098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3C6674-F440-4341-94E3-C1356F877602}"/>
              </a:ext>
            </a:extLst>
          </p:cNvPr>
          <p:cNvSpPr txBox="1"/>
          <p:nvPr/>
        </p:nvSpPr>
        <p:spPr>
          <a:xfrm>
            <a:off x="1234050" y="5471597"/>
            <a:ext cx="35638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0097AD"/>
                </a:solidFill>
                <a:effectLst/>
                <a:latin typeface="Helvetica-Black"/>
              </a:rPr>
              <a:t>FIGURE 15–4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Helvetica" panose="020B0604020202020204" pitchFamily="34" charset="0"/>
              </a:rPr>
              <a:t>Illustration of the effects of input noise on gate operation.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443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24502"/>
            <a:ext cx="9482759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15.1.</a:t>
            </a:r>
            <a:r>
              <a:rPr lang="en-US" sz="2800" dirty="0">
                <a:solidFill>
                  <a:srgbClr val="FF0000"/>
                </a:solidFill>
              </a:rPr>
              <a:t> Basic Operational Characteristics and Parameters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Noise Margin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7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6543D9-204C-4794-99C1-DD9BA9419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139" y="1118506"/>
            <a:ext cx="3267531" cy="857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38B21D-DF71-45D9-A1C6-92D6EC56F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520" y="2259587"/>
            <a:ext cx="8668960" cy="3620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E7CD90-8A49-4E75-8030-0D8AB7DF6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048" y="6156054"/>
            <a:ext cx="8019432" cy="62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787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24502"/>
            <a:ext cx="9482759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15.1.</a:t>
            </a:r>
            <a:r>
              <a:rPr lang="en-US" sz="2800" dirty="0">
                <a:solidFill>
                  <a:srgbClr val="FF0000"/>
                </a:solidFill>
              </a:rPr>
              <a:t> Basic Operational Characteristics and Parameters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Power Dissipation </a:t>
            </a:r>
            <a:br>
              <a:rPr lang="en-US" sz="2000" dirty="0"/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8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21B74C-B834-4CBE-9A32-578724FD4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842" y="2239756"/>
            <a:ext cx="6375082" cy="24665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466119-56E8-4438-AB2F-62EB424A9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008" y="5063485"/>
            <a:ext cx="6905317" cy="485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539C12-F4DA-416F-AE9A-7447C613B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919" y="1213696"/>
            <a:ext cx="4791744" cy="543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2201C0-36C0-45E2-8B6B-09EF2B24F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396" y="6021256"/>
            <a:ext cx="2600688" cy="7906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C93262-CB7E-4531-B8FD-E0B418B455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494" y="6101771"/>
            <a:ext cx="2019582" cy="676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A6D75B-CF2A-49B4-A67B-2CD50883EB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3663" y="2563776"/>
            <a:ext cx="2787475" cy="327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23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24502"/>
            <a:ext cx="9482759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15.1.</a:t>
            </a:r>
            <a:r>
              <a:rPr lang="en-US" sz="2800" dirty="0">
                <a:solidFill>
                  <a:srgbClr val="FF0000"/>
                </a:solidFill>
              </a:rPr>
              <a:t> Basic Operational Characteristics and Parameters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CMOS Loading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TTL Loading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9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5F515D-55D0-428B-9D52-FBE271838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798" y="1338830"/>
            <a:ext cx="8012263" cy="2409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A8E500-9FC8-4812-BD42-0A907376B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780" y="3944545"/>
            <a:ext cx="9296297" cy="2409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9DD9E7-88BA-4988-9BB3-05B6BF4D2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193" y="6430017"/>
            <a:ext cx="6989469" cy="39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85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24502"/>
            <a:ext cx="9482759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15.2.</a:t>
            </a:r>
            <a:r>
              <a:rPr lang="en-US" sz="2800" dirty="0">
                <a:solidFill>
                  <a:srgbClr val="FF0000"/>
                </a:solidFill>
              </a:rPr>
              <a:t> CMOS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MOSFET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A MOSFET is a type of field-effect transistor used as an active switch in CMOS circuits.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/>
              <a:t>It acts like an open or closed switch, depending on the input voltage.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/>
              <a:t>Replaces bipolar transistors (used in TTL circuits) in most modern digital systems.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10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5CEF7-61EB-4938-845E-9FB994ABD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873" y="6040351"/>
            <a:ext cx="5676817" cy="351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E3F1DD-CC09-4CBB-B497-FC80DD4AF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56" y="3706939"/>
            <a:ext cx="2597426" cy="17534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24EC98-7C9B-437D-9960-244A1EBB4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0873" y="3218587"/>
            <a:ext cx="4277634" cy="21883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76C16F-276B-4043-9EBB-4F8FB8DDB9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733" y="3234609"/>
            <a:ext cx="4278982" cy="222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708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24502"/>
            <a:ext cx="9482759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15.2.</a:t>
            </a:r>
            <a:r>
              <a:rPr lang="en-US" sz="2800" dirty="0">
                <a:solidFill>
                  <a:srgbClr val="FF0000"/>
                </a:solidFill>
              </a:rPr>
              <a:t> CMOS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87" y="978408"/>
            <a:ext cx="10965279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CMOS Inverter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Complementary MOS (CMOS) logic uses the MOSFET in complementary pairs as its basic element.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11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214AF6-B546-4E6D-81C0-0C5A04B68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54" y="2180903"/>
            <a:ext cx="5315692" cy="39724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7BAFC7-B415-4116-91DE-5FD465E2B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419" y="6441095"/>
            <a:ext cx="3817685" cy="37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33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24502"/>
            <a:ext cx="9482759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15.2.</a:t>
            </a:r>
            <a:r>
              <a:rPr lang="en-US" sz="2800" dirty="0">
                <a:solidFill>
                  <a:srgbClr val="FF0000"/>
                </a:solidFill>
              </a:rPr>
              <a:t> CMOS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87" y="978408"/>
            <a:ext cx="10965279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CMOS Inverter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Complementary MOS (CMOS) logic uses the MOSFET in complementary pairs as its basic element.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12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74FBEA-ABA3-4F53-9029-CAC375E14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295" y="2097187"/>
            <a:ext cx="8268932" cy="40800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BD3041-425F-43CD-AB83-EBCB8EFEA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796" y="6375345"/>
            <a:ext cx="4527786" cy="45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19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2" y="24502"/>
            <a:ext cx="9111698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15.2.</a:t>
            </a:r>
            <a:r>
              <a:rPr lang="en-US" sz="2800" dirty="0">
                <a:solidFill>
                  <a:srgbClr val="FF0000"/>
                </a:solidFill>
              </a:rPr>
              <a:t> CMOS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CMOS NAND Gate </a:t>
            </a:r>
            <a:br>
              <a:rPr lang="en-US" sz="2000" dirty="0"/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13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8F9262-DB44-44BA-91C5-93FD7B471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513" y="1599717"/>
            <a:ext cx="7902087" cy="4279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472F74-790F-4C0F-96ED-ACCA5A7A4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737" y="6298907"/>
            <a:ext cx="3667637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91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15.2.</a:t>
            </a:r>
            <a:r>
              <a:rPr lang="en-US" sz="2800" dirty="0">
                <a:solidFill>
                  <a:srgbClr val="FF0000"/>
                </a:solidFill>
              </a:rPr>
              <a:t> CMOS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CMOS NOR Gate </a:t>
            </a:r>
            <a:br>
              <a:rPr lang="en-US" sz="2000" dirty="0"/>
            </a:br>
            <a:br>
              <a:rPr lang="en-US" sz="2000" dirty="0"/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14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023282-C279-47C5-982F-C80714C0B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68" y="1548396"/>
            <a:ext cx="8209252" cy="40440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66B8B9-62D6-48E0-B366-AC081ECE9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880" y="6048963"/>
            <a:ext cx="3724795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3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15.2.</a:t>
            </a:r>
            <a:r>
              <a:rPr lang="en-US" sz="2800" dirty="0">
                <a:solidFill>
                  <a:srgbClr val="FF0000"/>
                </a:solidFill>
              </a:rPr>
              <a:t> CMOS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510" y="1032732"/>
            <a:ext cx="11230323" cy="5413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Open-Drain Gates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In CMOS, </a:t>
            </a:r>
            <a:r>
              <a:rPr lang="en-US" b="1" dirty="0"/>
              <a:t>open-drain</a:t>
            </a:r>
            <a:r>
              <a:rPr lang="en-US" dirty="0"/>
              <a:t> means the </a:t>
            </a:r>
            <a:r>
              <a:rPr lang="en-US" b="1" dirty="0"/>
              <a:t>drain terminal</a:t>
            </a:r>
            <a:r>
              <a:rPr lang="en-US" dirty="0"/>
              <a:t> of the output transistor is </a:t>
            </a:r>
            <a:r>
              <a:rPr lang="en-US" b="1" dirty="0"/>
              <a:t>left unconnected</a:t>
            </a:r>
            <a:r>
              <a:rPr lang="en-US" dirty="0"/>
              <a:t> internally. It </a:t>
            </a:r>
            <a:r>
              <a:rPr lang="en-US" b="1" dirty="0"/>
              <a:t>requires an external connection</a:t>
            </a:r>
            <a:r>
              <a:rPr lang="en-US" dirty="0"/>
              <a:t> to </a:t>
            </a:r>
            <a:r>
              <a:rPr lang="en-US" b="1" dirty="0"/>
              <a:t>VDD </a:t>
            </a:r>
            <a:r>
              <a:rPr lang="en-US" dirty="0"/>
              <a:t>through a </a:t>
            </a:r>
            <a:r>
              <a:rPr lang="en-US" b="1" dirty="0"/>
              <a:t>load</a:t>
            </a:r>
            <a:r>
              <a:rPr lang="en-US" dirty="0"/>
              <a:t> (typically a pull-up resistor).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15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E591A-4CE7-4795-86D7-3E91A5D7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11" y="2616290"/>
            <a:ext cx="6830378" cy="3467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45D050-93FE-4E99-9C6B-A31530CE4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452" y="6335666"/>
            <a:ext cx="4095096" cy="31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54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15.2.</a:t>
            </a:r>
            <a:r>
              <a:rPr lang="en-US" sz="2800" dirty="0">
                <a:solidFill>
                  <a:srgbClr val="FF0000"/>
                </a:solidFill>
              </a:rPr>
              <a:t> CMOS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Tri-state CMOS Gates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Useful for </a:t>
            </a:r>
            <a:r>
              <a:rPr lang="en-US" b="1" dirty="0"/>
              <a:t>bus systems</a:t>
            </a:r>
            <a:r>
              <a:rPr lang="en-US" dirty="0"/>
              <a:t> where multiple devices share a common line, but only one drives the signal at a time.</a:t>
            </a:r>
            <a:br>
              <a:rPr lang="en-US" sz="2000" dirty="0"/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16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641D05-A80C-443D-A108-2E45E43E7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88" y="2775864"/>
            <a:ext cx="10101423" cy="26782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3BE6EF-12B7-4FE6-92C6-0B8F8D78A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891" y="6328844"/>
            <a:ext cx="4899961" cy="33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368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15.2.</a:t>
            </a:r>
            <a:r>
              <a:rPr lang="en-US" sz="2800" dirty="0">
                <a:solidFill>
                  <a:srgbClr val="FF0000"/>
                </a:solidFill>
              </a:rPr>
              <a:t> CMOS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Precautions for Handling CMOS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All CMOS devices are subject to damage from electrostatic discharge (ESD). Therefore, they must be handled with special care. </a:t>
            </a:r>
            <a:br>
              <a:rPr lang="en-US" dirty="0"/>
            </a:br>
            <a:br>
              <a:rPr lang="en-US" dirty="0"/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17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B05CF5-65DD-4E04-AFF2-1A2A4DB3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669" y="2664958"/>
            <a:ext cx="6918022" cy="3726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AA726D-651C-4E2B-A911-89022712A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29" y="6391921"/>
            <a:ext cx="3870901" cy="38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5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15.3.</a:t>
            </a:r>
            <a:r>
              <a:rPr lang="en-US" sz="2800" dirty="0">
                <a:solidFill>
                  <a:srgbClr val="FF0000"/>
                </a:solidFill>
              </a:rPr>
              <a:t> TTL (Bipolar)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Bipolar Junction Transistor </a:t>
            </a:r>
            <a:br>
              <a:rPr lang="en-US" sz="2000" dirty="0"/>
            </a:br>
            <a:r>
              <a:rPr lang="en-US" dirty="0"/>
              <a:t>The bipolar junction transistor (BJT) is the active switching element used in all TTL circuits. </a:t>
            </a:r>
            <a:br>
              <a:rPr lang="en-US" dirty="0"/>
            </a:br>
            <a:br>
              <a:rPr lang="en-US" dirty="0"/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18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A58C36-BF18-4F32-B454-06608B165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66217"/>
            <a:ext cx="2223477" cy="1959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37CE26-1590-4632-9361-5F4382ED2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540" y="1951954"/>
            <a:ext cx="6699848" cy="3770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14C5AC-377B-4770-B4A6-77445E54D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652" y="6115638"/>
            <a:ext cx="7571736" cy="5929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52A1FB-1C61-47AB-8BDF-D79A195E0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737484"/>
            <a:ext cx="3037634" cy="51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20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15.3.</a:t>
            </a:r>
            <a:r>
              <a:rPr lang="en-US" sz="2800" dirty="0">
                <a:solidFill>
                  <a:srgbClr val="FF0000"/>
                </a:solidFill>
              </a:rPr>
              <a:t> TTL (Bipolar)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TTL Inverter </a:t>
            </a:r>
            <a:br>
              <a:rPr lang="en-US" sz="2000" dirty="0"/>
            </a:br>
            <a:r>
              <a:rPr lang="en-US" dirty="0"/>
              <a:t>The logic function of an inverter or any type of gate is always the same, regardless of the type of circuit technology that is used </a:t>
            </a:r>
            <a:br>
              <a:rPr lang="en-US" sz="1600" dirty="0"/>
            </a:br>
            <a:br>
              <a:rPr lang="en-US" sz="2000" dirty="0"/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19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EDE078-61AF-42AB-AFB3-1D155687C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336" y="2088757"/>
            <a:ext cx="5755594" cy="4303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73F87B-8040-4934-83DB-31DD14E54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182" y="6423605"/>
            <a:ext cx="5029902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42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15.3.</a:t>
            </a:r>
            <a:r>
              <a:rPr lang="en-US" sz="2800" dirty="0">
                <a:solidFill>
                  <a:srgbClr val="FF0000"/>
                </a:solidFill>
              </a:rPr>
              <a:t> TTL (Bipolar)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TTL Inverter </a:t>
            </a:r>
            <a:br>
              <a:rPr lang="en-US" sz="2000" dirty="0"/>
            </a:br>
            <a:r>
              <a:rPr lang="en-US" dirty="0"/>
              <a:t>Operation of a TTL inverter </a:t>
            </a:r>
            <a:br>
              <a:rPr lang="en-US" dirty="0"/>
            </a:br>
            <a:br>
              <a:rPr lang="en-US" sz="1600" dirty="0"/>
            </a:br>
            <a:br>
              <a:rPr lang="en-US" sz="2000" dirty="0"/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20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E57C30-3CF2-40AE-BF87-98129AE22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84" y="1833378"/>
            <a:ext cx="11298831" cy="3703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74BCA2-39F4-439D-8D9A-5CF283AD2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667" y="6002487"/>
            <a:ext cx="4841425" cy="52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85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15.3.</a:t>
            </a:r>
            <a:r>
              <a:rPr lang="en-US" sz="2800" dirty="0">
                <a:solidFill>
                  <a:srgbClr val="FF0000"/>
                </a:solidFill>
              </a:rPr>
              <a:t> TTL (Bipolar)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TTL NAND Gate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21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2DDCE1-5895-4698-AA48-721A595A4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82" y="1723632"/>
            <a:ext cx="6296723" cy="37803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58A5A-C27B-4D84-83B2-04EEE2EFC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557" y="1353972"/>
            <a:ext cx="2291651" cy="20750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B75EA0-402A-4AED-9E7E-A1F3ABC47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536" y="3429000"/>
            <a:ext cx="3925728" cy="20750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2A5B6D-2C0D-420A-BC1B-D62A413F4A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894" y="5454697"/>
            <a:ext cx="4110640" cy="4932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F2E278-515F-4A96-B3D5-4C95A01D0B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8910" y="6115887"/>
            <a:ext cx="6218968" cy="35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80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15.3.</a:t>
            </a:r>
            <a:r>
              <a:rPr lang="en-US" sz="2800" dirty="0">
                <a:solidFill>
                  <a:srgbClr val="FF0000"/>
                </a:solidFill>
              </a:rPr>
              <a:t> TTL (Bipolar)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Open-Collector Gates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22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DFAEEE-0619-45E2-8DC3-62546DA0C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67" y="1470991"/>
            <a:ext cx="11340382" cy="3829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0D9E26-AC13-42A9-B885-7325691EA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681" y="5863590"/>
            <a:ext cx="5755323" cy="53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00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15.3.</a:t>
            </a:r>
            <a:r>
              <a:rPr lang="en-US" sz="2800" dirty="0">
                <a:solidFill>
                  <a:srgbClr val="FF0000"/>
                </a:solidFill>
              </a:rPr>
              <a:t> TTL (Bipolar)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Tri-state TTL Gates </a:t>
            </a: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23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1E8E8C-6FE4-47E5-8DDF-27BA24ECB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552" y="1518069"/>
            <a:ext cx="9011300" cy="495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997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15.3.</a:t>
            </a:r>
            <a:r>
              <a:rPr lang="en-US" sz="2800" dirty="0">
                <a:solidFill>
                  <a:srgbClr val="FF0000"/>
                </a:solidFill>
              </a:rPr>
              <a:t> TTL (Bipolar)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Schottky TTL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Most TTL logic is some form of Schottky TTL, which provides a faster switching time by incorporating Schottky diodes to prevent the transistors from going into saturation, thereby decreasing the time for a transistor to turn on or off. </a:t>
            </a:r>
            <a:br>
              <a:rPr lang="en-US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24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37B6B3-B1CB-4FE4-A21C-1EA4F1BCB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054" y="2349355"/>
            <a:ext cx="5273859" cy="40425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F5C2D9-5822-410D-BF66-209C2F7C3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320" y="6391921"/>
            <a:ext cx="3983359" cy="33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16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15.4.</a:t>
            </a:r>
            <a:r>
              <a:rPr lang="en-US" sz="2800" dirty="0">
                <a:solidFill>
                  <a:srgbClr val="FF0000"/>
                </a:solidFill>
              </a:rPr>
              <a:t> Practical Considerations in the Use of TTL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Current Sinking and Current Sourcing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Current sinking and sourcing action in TTL </a:t>
            </a: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25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34501A-9C75-4783-B6FA-77200DD6E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575" y="5838106"/>
            <a:ext cx="6774276" cy="5361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F2EA30-2EB7-4C49-AACF-BF7BCAA04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79" y="2233350"/>
            <a:ext cx="5420481" cy="2448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F47F4D-78B8-4269-8728-947B12F36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441" y="2233350"/>
            <a:ext cx="5468113" cy="24577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5E263E-1A9A-4B8D-8E32-25A858B39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66" y="5047400"/>
            <a:ext cx="3805218" cy="3721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24853C-FD4E-4FEA-9F99-DF067C0D04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818" y="5057579"/>
            <a:ext cx="3686689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16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15.4.</a:t>
            </a:r>
            <a:r>
              <a:rPr lang="en-US" sz="2800" dirty="0">
                <a:solidFill>
                  <a:srgbClr val="FF0000"/>
                </a:solidFill>
              </a:rPr>
              <a:t> Practical Considerations in the Use of TTL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54158"/>
            <a:ext cx="10530840" cy="543776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Using Open-Collector Gates for Wired-AND Operation </a:t>
            </a:r>
            <a:br>
              <a:rPr lang="en-US" sz="2000" dirty="0"/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26</a:t>
            </a:fld>
            <a:endParaRPr lang="vi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51CC37-616E-48AF-B853-5E56FDE3B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78" y="1981211"/>
            <a:ext cx="3486637" cy="4486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122E6E-C562-403B-B2CA-F967C5866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90" y="1562053"/>
            <a:ext cx="1524213" cy="4191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1BDB20-5E5C-41CC-B213-2BC724D07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897" y="1383948"/>
            <a:ext cx="6267901" cy="49141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E90D4F-8E6B-4BB7-9929-4E4E1DF38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615" y="6391921"/>
            <a:ext cx="7216467" cy="43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23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15.4.</a:t>
            </a:r>
            <a:r>
              <a:rPr lang="en-US" sz="2800" dirty="0">
                <a:solidFill>
                  <a:srgbClr val="FF0000"/>
                </a:solidFill>
              </a:rPr>
              <a:t> Practical Considerations in the Use of TTL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Open-Collector Buffer/Drivers </a:t>
            </a:r>
            <a:br>
              <a:rPr lang="en-US" sz="2000" dirty="0"/>
            </a:br>
            <a:r>
              <a:rPr lang="en-US" dirty="0"/>
              <a:t>A TTL circuit with a totem-pole output is limited in the amount of current that it can sink in the LOW state (IOL(max)) to 16 mA for standard TTL and 8 mA for LS TTL </a:t>
            </a: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27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EF2220-677C-444C-AC95-C9621E135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721" y="2144512"/>
            <a:ext cx="7677629" cy="432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11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15.4.</a:t>
            </a:r>
            <a:r>
              <a:rPr lang="en-US" sz="2800" dirty="0">
                <a:solidFill>
                  <a:srgbClr val="FF0000"/>
                </a:solidFill>
              </a:rPr>
              <a:t> Practical Considerations in the Use of TTL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809420"/>
            <a:ext cx="10530840" cy="558250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Open-Collector Buffer/Drivers </a:t>
            </a:r>
            <a:br>
              <a:rPr lang="en-US" sz="2000" dirty="0"/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With an open-collector TTL gate, the collector of the output transistor is connected to an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LED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or incandescent lamp, as illustrated in Figure 15–42. In part (a) the limiting resistor, </a:t>
            </a:r>
            <a:r>
              <a:rPr lang="en-US" b="0" i="1" dirty="0">
                <a:solidFill>
                  <a:srgbClr val="242021"/>
                </a:solidFill>
                <a:effectLst/>
                <a:latin typeface="Aptos (Body)"/>
              </a:rPr>
              <a:t>RL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, is used to keep the current below maximum LED current. </a:t>
            </a:r>
            <a:br>
              <a:rPr lang="en-US" sz="1600" dirty="0"/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28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A32D9-D2DC-4EEC-B879-F072E7285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48" y="2373865"/>
            <a:ext cx="6371063" cy="4018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6AE844-5182-495E-8263-A89AD9608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224" y="6485238"/>
            <a:ext cx="6056376" cy="33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94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15.4.</a:t>
            </a:r>
            <a:r>
              <a:rPr lang="en-US" sz="2800" dirty="0">
                <a:solidFill>
                  <a:srgbClr val="FF0000"/>
                </a:solidFill>
              </a:rPr>
              <a:t> Practical Considerations in the Use of TTL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Unused TTL Inputs </a:t>
            </a:r>
            <a:br>
              <a:rPr lang="en-US" sz="2000" dirty="0"/>
            </a:br>
            <a:r>
              <a:rPr lang="en-US" dirty="0"/>
              <a:t>An unconnected input on a TTL gate acts as a HIGH because an open input results in a </a:t>
            </a:r>
            <a:r>
              <a:rPr lang="en-US" dirty="0" err="1"/>
              <a:t>reversebiased</a:t>
            </a:r>
            <a:r>
              <a:rPr lang="en-US" dirty="0"/>
              <a:t> emitter junction on the input transistor, just as a HIGH level does </a:t>
            </a: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29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173956-C8D2-49C9-97A1-A9EE1EB84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06" y="2716650"/>
            <a:ext cx="8508766" cy="2949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8BA9C1-BA21-4B38-9115-AA8F05359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553" y="6134701"/>
            <a:ext cx="7773485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027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15.4.</a:t>
            </a:r>
            <a:r>
              <a:rPr lang="en-US" sz="2800" dirty="0">
                <a:solidFill>
                  <a:srgbClr val="FF0000"/>
                </a:solidFill>
              </a:rPr>
              <a:t> Practical Considerations in the Use of TTL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Unused TTL Inputs </a:t>
            </a:r>
            <a:br>
              <a:rPr lang="en-US" sz="2000" dirty="0"/>
            </a:br>
            <a:r>
              <a:rPr lang="en-US" b="1" i="1" dirty="0" err="1"/>
              <a:t>Inputs</a:t>
            </a:r>
            <a:r>
              <a:rPr lang="en-US" b="1" i="1" dirty="0"/>
              <a:t> to </a:t>
            </a:r>
            <a:r>
              <a:rPr lang="en-US" b="1" i="1" dirty="0" err="1"/>
              <a:t>Vcc</a:t>
            </a:r>
            <a:r>
              <a:rPr lang="en-US" b="1" i="1" dirty="0"/>
              <a:t> or Ground: </a:t>
            </a:r>
            <a:r>
              <a:rPr lang="en-US" dirty="0"/>
              <a:t>Unused inputs of AND </a:t>
            </a:r>
            <a:r>
              <a:rPr lang="en-US" dirty="0" err="1"/>
              <a:t>and</a:t>
            </a:r>
            <a:r>
              <a:rPr lang="en-US" dirty="0"/>
              <a:t> NAND gates can be connected to </a:t>
            </a:r>
            <a:r>
              <a:rPr lang="en-US" dirty="0" err="1"/>
              <a:t>Vcc</a:t>
            </a:r>
            <a:r>
              <a:rPr lang="en-US" dirty="0"/>
              <a:t> through a 1.0 k resistor. This connection pulls the unused inputs to a HIGH level. Unused inputs of OR and NOR gates can be connected to ground. </a:t>
            </a:r>
            <a:br>
              <a:rPr lang="en-US" dirty="0"/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30</a:t>
            </a:fld>
            <a:endParaRPr lang="vi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958B8F-1CF2-4E35-AA92-1830547E3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91" y="4084282"/>
            <a:ext cx="3240158" cy="20289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5C22C1-2828-428E-A3BF-41082D276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848" y="4084282"/>
            <a:ext cx="5188008" cy="20373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2B26A7-2971-40CC-BFAB-F17E6724D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482" y="6532702"/>
            <a:ext cx="4807345" cy="2359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8EFA70-39FF-4065-9EA2-C0640905A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7612" y="2414509"/>
            <a:ext cx="5440454" cy="2028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74E254-24C1-4D87-8502-0E99BC944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0693" y="4493185"/>
            <a:ext cx="2057687" cy="3429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6D0A47-F7A1-421A-A672-3B269F03EF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666" y="6098146"/>
            <a:ext cx="2381582" cy="5525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BE3585-C197-44AB-8444-3C751ED3E7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8038" y="5950153"/>
            <a:ext cx="2276793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5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15.5.</a:t>
            </a:r>
            <a:r>
              <a:rPr lang="en-US" sz="2800" dirty="0">
                <a:solidFill>
                  <a:srgbClr val="FF0000"/>
                </a:solidFill>
              </a:rPr>
              <a:t> Comparison of CMOS and TTL Performance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/>
              <a:t>One family of IC logic devices</a:t>
            </a:r>
            <a:r>
              <a:rPr lang="en-US" dirty="0"/>
              <a:t>, </a:t>
            </a:r>
            <a:r>
              <a:rPr lang="en-US" dirty="0" err="1"/>
              <a:t>BiCMOS</a:t>
            </a:r>
            <a:r>
              <a:rPr lang="en-US" dirty="0"/>
              <a:t>, combines CMOS logic with TTL output circuitry in an effort to combine the advantages of both.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31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01210E-30CC-4C54-8982-969C13D76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9" y="1648803"/>
            <a:ext cx="11286293" cy="521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20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15.6.</a:t>
            </a:r>
            <a:r>
              <a:rPr lang="en-US" sz="2800" dirty="0">
                <a:solidFill>
                  <a:srgbClr val="FF0000"/>
                </a:solidFill>
              </a:rPr>
              <a:t> Emitter-Coupled Logic (ECL)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580" y="887897"/>
            <a:ext cx="10530840" cy="558021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An ECL OR/NOR gate </a:t>
            </a:r>
            <a:br>
              <a:rPr lang="en-US" sz="2000" dirty="0"/>
            </a:br>
            <a:r>
              <a:rPr lang="en-US" dirty="0"/>
              <a:t>The emitter-follower outputs provide the OR logic function and its NOR complement </a:t>
            </a: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32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F180BA-9119-40A3-9946-9231445B2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406" y="1753381"/>
            <a:ext cx="8765341" cy="4836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3E3EA2-CE5C-494C-9771-2412D8870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905" y="6373148"/>
            <a:ext cx="4172997" cy="43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13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15.6.</a:t>
            </a:r>
            <a:r>
              <a:rPr lang="en-US" sz="2800" dirty="0">
                <a:solidFill>
                  <a:srgbClr val="FF0000"/>
                </a:solidFill>
              </a:rPr>
              <a:t> Emitter-Coupled Logic (ECL) Circuits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Comparison of ECL with TTL and CMOS </a:t>
            </a: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33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2E55F-819F-466E-BF54-915EC7BCA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387" y="1704735"/>
            <a:ext cx="7476466" cy="432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757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15.7.</a:t>
            </a:r>
            <a:r>
              <a:rPr lang="en-US" sz="2800" dirty="0">
                <a:solidFill>
                  <a:srgbClr val="FF0000"/>
                </a:solidFill>
              </a:rPr>
              <a:t> PMOS, NMOS, and E²CMOS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PMOS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One of the first high-density MOS circuit technologies to be produced was PMOS. It utilizes enhancement mode p-channel MOS transistors to form the basic gate building blocks. </a:t>
            </a:r>
            <a:br>
              <a:rPr lang="en-US" sz="2000" dirty="0"/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34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71482D-4783-4FD2-AA09-0F9C3CFFC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349" y="2107435"/>
            <a:ext cx="4528591" cy="4623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D530F7-A1E0-4983-9D44-01F466007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429" y="6311652"/>
            <a:ext cx="2972215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479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15.7.</a:t>
            </a:r>
            <a:r>
              <a:rPr lang="en-US" sz="2800" dirty="0">
                <a:solidFill>
                  <a:srgbClr val="FF0000"/>
                </a:solidFill>
              </a:rPr>
              <a:t> PMOS, NMOS, and E²CMOS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NMOS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The NMOS devices were developed as processing technology improved. The n-channel MOS transistor is used in NMOS circuits.</a:t>
            </a:r>
            <a:br>
              <a:rPr lang="en-US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35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CC45D-28B4-43CD-907A-E6EDC3A1E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06" y="2154248"/>
            <a:ext cx="6538786" cy="41482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14DA8D-5E46-4591-816C-810596766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465" y="6481599"/>
            <a:ext cx="2810267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615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502"/>
            <a:ext cx="9216390" cy="742077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15.7.</a:t>
            </a:r>
            <a:r>
              <a:rPr lang="en-US" sz="2800" dirty="0">
                <a:solidFill>
                  <a:srgbClr val="FF0000"/>
                </a:solidFill>
              </a:rPr>
              <a:t> PMOS, NMOS, and E²CMOS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</a:rPr>
              <a:t>E²CMOS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E2CMOS (electrically erasable CMOS) technology is based on a combination of CMOS and NMOS technologies and is used in programmable devices such as PROMs and CPLDs. </a:t>
            </a: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36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36A2BF-2039-4606-A06B-AFCC30454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390" y="2166253"/>
            <a:ext cx="5672313" cy="40080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42643A-6151-4160-9112-D3DA69478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33" y="6395026"/>
            <a:ext cx="3772426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6020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SUMMARY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4975" y="1669774"/>
            <a:ext cx="10323442" cy="3843130"/>
          </a:xfrm>
        </p:spPr>
        <p:txBody>
          <a:bodyPr>
            <a:noAutofit/>
          </a:bodyPr>
          <a:lstStyle/>
          <a:p>
            <a:pPr marL="0" marR="0"/>
            <a:r>
              <a:rPr lang="en-US" dirty="0"/>
              <a:t>Bb Totem-pole outputs of TTL cannot be connected together.</a:t>
            </a:r>
          </a:p>
          <a:p>
            <a:pPr marL="0" marR="0"/>
            <a:r>
              <a:rPr lang="en-US" dirty="0"/>
              <a:t>Open-collector and open-drain outputs can be connected for wired-AND.</a:t>
            </a:r>
          </a:p>
          <a:p>
            <a:pPr marL="0" marR="0"/>
            <a:r>
              <a:rPr lang="en-US" dirty="0"/>
              <a:t>CMOS devices offer lower power dissipation than any of the TTL series.</a:t>
            </a:r>
          </a:p>
          <a:p>
            <a:pPr marL="0" marR="0"/>
            <a:r>
              <a:rPr lang="en-US" dirty="0"/>
              <a:t>A TTL device is not as vulnerable to electrostatic discharge (ESD) as is a CMOS device.</a:t>
            </a:r>
          </a:p>
          <a:p>
            <a:pPr marL="0" marR="0"/>
            <a:r>
              <a:rPr lang="en-US" dirty="0"/>
              <a:t>Because of ESD, CMOS devices must be handled with great care.</a:t>
            </a:r>
          </a:p>
          <a:p>
            <a:pPr marL="0" marR="0"/>
            <a:r>
              <a:rPr lang="en-US" dirty="0"/>
              <a:t>ECL is the fastest type of logic circuit.</a:t>
            </a:r>
          </a:p>
          <a:p>
            <a:pPr marL="0" marR="0"/>
            <a:r>
              <a:rPr lang="en-US" dirty="0"/>
              <a:t>E²CMOS is used in PROMs and other PLDs.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br>
              <a:rPr lang="en-US" dirty="0"/>
            </a:br>
            <a:br>
              <a:rPr lang="en-US" dirty="0"/>
            </a:br>
            <a:br>
              <a:rPr lang="en-US" b="1" i="1" dirty="0">
                <a:solidFill>
                  <a:srgbClr val="00B0F0"/>
                </a:solidFill>
                <a:latin typeface="Aptos Display (Headings)"/>
              </a:rPr>
            </a:br>
            <a:endParaRPr lang="en-US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37</a:t>
            </a:fld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A7B579-B374-4407-8EB1-CBF8DB15545C}"/>
              </a:ext>
            </a:extLst>
          </p:cNvPr>
          <p:cNvSpPr txBox="1"/>
          <p:nvPr/>
        </p:nvSpPr>
        <p:spPr>
          <a:xfrm>
            <a:off x="1138713" y="1022827"/>
            <a:ext cx="8584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Aptos (Body)"/>
                <a:cs typeface="Times New Roman" panose="02020603050405020304" pitchFamily="18" charset="0"/>
              </a:rPr>
              <a:t>Chapter 15: Integrated Circuit Technologies</a:t>
            </a:r>
          </a:p>
        </p:txBody>
      </p:sp>
    </p:spTree>
    <p:extLst>
      <p:ext uri="{BB962C8B-B14F-4D97-AF65-F5344CB8AC3E}">
        <p14:creationId xmlns:p14="http://schemas.microsoft.com/office/powerpoint/2010/main" val="2802960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C23C-E04A-4EDE-A572-3C9C5AF0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MULTIPLE-CHOICE TEST AND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1463-7E92-4307-A413-68226604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82" y="2621884"/>
            <a:ext cx="10515600" cy="1976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070C0"/>
                </a:solidFill>
              </a:rPr>
              <a:t>Complete the true/false questions, multiple-choice questions, and end-of-chapter exercises in the primary textbook.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A8595-C7DB-4A6B-833E-76AEA3A0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0472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6698</TotalTime>
  <Words>1336</Words>
  <Application>Microsoft Office PowerPoint</Application>
  <PresentationFormat>Widescreen</PresentationFormat>
  <Paragraphs>138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Aptos</vt:lpstr>
      <vt:lpstr>Aptos (Body)</vt:lpstr>
      <vt:lpstr>Aptos Display</vt:lpstr>
      <vt:lpstr>Aptos Display (Headings)</vt:lpstr>
      <vt:lpstr>Arial</vt:lpstr>
      <vt:lpstr>Calibri</vt:lpstr>
      <vt:lpstr>Helvetica</vt:lpstr>
      <vt:lpstr>Helvetica-Black</vt:lpstr>
      <vt:lpstr>Times New Roman</vt:lpstr>
      <vt:lpstr>Office Theme</vt:lpstr>
      <vt:lpstr>PowerPoint Presentation</vt:lpstr>
      <vt:lpstr>Objectives</vt:lpstr>
      <vt:lpstr>Contents</vt:lpstr>
      <vt:lpstr>15.1. Basic Operational Characteristics and Parameters</vt:lpstr>
      <vt:lpstr>15.1. Basic Operational Characteristics and Parameters</vt:lpstr>
      <vt:lpstr>15.1. Basic Operational Characteristics and Parameters</vt:lpstr>
      <vt:lpstr>15.1. Basic Operational Characteristics and Parameters</vt:lpstr>
      <vt:lpstr>15.1. Basic Operational Characteristics and Parameters</vt:lpstr>
      <vt:lpstr>15.1. Basic Operational Characteristics and Parameters</vt:lpstr>
      <vt:lpstr>15.2. CMOS Circuits</vt:lpstr>
      <vt:lpstr>15.2. CMOS Circuits</vt:lpstr>
      <vt:lpstr>15.2. CMOS Circuits</vt:lpstr>
      <vt:lpstr>15.2. CMOS Circuits</vt:lpstr>
      <vt:lpstr>15.2. CMOS Circuits</vt:lpstr>
      <vt:lpstr>15.2. CMOS Circuits</vt:lpstr>
      <vt:lpstr>15.2. CMOS Circuits</vt:lpstr>
      <vt:lpstr>15.2. CMOS Circuits</vt:lpstr>
      <vt:lpstr>15.3. TTL (Bipolar) Circuits</vt:lpstr>
      <vt:lpstr>15.3. TTL (Bipolar) Circuits</vt:lpstr>
      <vt:lpstr>15.3. TTL (Bipolar) Circuits</vt:lpstr>
      <vt:lpstr>15.3. TTL (Bipolar) Circuits</vt:lpstr>
      <vt:lpstr>15.3. TTL (Bipolar) Circuits</vt:lpstr>
      <vt:lpstr>15.3. TTL (Bipolar) Circuits</vt:lpstr>
      <vt:lpstr>15.3. TTL (Bipolar) Circuits</vt:lpstr>
      <vt:lpstr>15.4. Practical Considerations in the Use of TTL</vt:lpstr>
      <vt:lpstr>15.4. Practical Considerations in the Use of TTL</vt:lpstr>
      <vt:lpstr>15.4. Practical Considerations in the Use of TTL</vt:lpstr>
      <vt:lpstr>15.4. Practical Considerations in the Use of TTL</vt:lpstr>
      <vt:lpstr>15.4. Practical Considerations in the Use of TTL</vt:lpstr>
      <vt:lpstr>15.4. Practical Considerations in the Use of TTL</vt:lpstr>
      <vt:lpstr>15.5. Comparison of CMOS and TTL Performance</vt:lpstr>
      <vt:lpstr>15.6. Emitter-Coupled Logic (ECL) Circuits</vt:lpstr>
      <vt:lpstr>15.6. Emitter-Coupled Logic (ECL) Circuits</vt:lpstr>
      <vt:lpstr>15.7. PMOS, NMOS, and E²CMOS</vt:lpstr>
      <vt:lpstr>15.7. PMOS, NMOS, and E²CMOS</vt:lpstr>
      <vt:lpstr>15.7. PMOS, NMOS, and E²CMOS</vt:lpstr>
      <vt:lpstr>SUMMARY</vt:lpstr>
      <vt:lpstr>MULTIPLE-CHOICE TEST AND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Chapter 1: Electrical fundamentals 1.1. Fundamentals units (SI) 1.2. Conductors, insulators, voltage and resistance 1.3. Ohm’s Law 1.4. Electric fields 1.5. Magnetic fields 1.6. Circuit diagrams 1.7. Practical investigation &amp; Problems</dc:title>
  <dc:creator>MaiCV2</dc:creator>
  <cp:keywords>ICI101</cp:keywords>
  <cp:lastModifiedBy>Đặng Văn Hiếu</cp:lastModifiedBy>
  <cp:revision>274</cp:revision>
  <dcterms:created xsi:type="dcterms:W3CDTF">2024-04-08T01:59:57Z</dcterms:created>
  <dcterms:modified xsi:type="dcterms:W3CDTF">2025-08-27T03:47:10Z</dcterms:modified>
</cp:coreProperties>
</file>