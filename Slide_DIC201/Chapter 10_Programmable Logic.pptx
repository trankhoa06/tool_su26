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7"/>
  </p:notesMasterIdLst>
  <p:sldIdLst>
    <p:sldId id="258" r:id="rId2"/>
    <p:sldId id="327" r:id="rId3"/>
    <p:sldId id="296" r:id="rId4"/>
    <p:sldId id="375" r:id="rId5"/>
    <p:sldId id="376" r:id="rId6"/>
    <p:sldId id="377" r:id="rId7"/>
    <p:sldId id="378" r:id="rId8"/>
    <p:sldId id="379" r:id="rId9"/>
    <p:sldId id="380" r:id="rId10"/>
    <p:sldId id="382" r:id="rId11"/>
    <p:sldId id="381" r:id="rId12"/>
    <p:sldId id="383" r:id="rId13"/>
    <p:sldId id="384" r:id="rId14"/>
    <p:sldId id="386" r:id="rId15"/>
    <p:sldId id="385" r:id="rId16"/>
    <p:sldId id="387" r:id="rId17"/>
    <p:sldId id="389" r:id="rId18"/>
    <p:sldId id="388" r:id="rId19"/>
    <p:sldId id="390" r:id="rId20"/>
    <p:sldId id="391" r:id="rId21"/>
    <p:sldId id="392" r:id="rId22"/>
    <p:sldId id="395" r:id="rId23"/>
    <p:sldId id="393" r:id="rId24"/>
    <p:sldId id="394" r:id="rId25"/>
    <p:sldId id="397" r:id="rId26"/>
    <p:sldId id="396" r:id="rId27"/>
    <p:sldId id="398" r:id="rId28"/>
    <p:sldId id="400" r:id="rId29"/>
    <p:sldId id="402" r:id="rId30"/>
    <p:sldId id="399" r:id="rId31"/>
    <p:sldId id="401" r:id="rId32"/>
    <p:sldId id="403" r:id="rId33"/>
    <p:sldId id="404" r:id="rId34"/>
    <p:sldId id="368" r:id="rId35"/>
    <p:sldId id="367" r:id="rId3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112020-9413-486F-BA5D-75CDAEC9B132}" v="33" dt="2024-04-17T15:14:20.5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015" autoAdjust="0"/>
    <p:restoredTop sz="94249" autoAdjust="0"/>
  </p:normalViewPr>
  <p:slideViewPr>
    <p:cSldViewPr snapToGrid="0">
      <p:cViewPr varScale="1">
        <p:scale>
          <a:sx n="72" d="100"/>
          <a:sy n="72" d="100"/>
        </p:scale>
        <p:origin x="330" y="6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5" d="100"/>
          <a:sy n="55" d="100"/>
        </p:scale>
        <p:origin x="2880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i Cao Van" userId="f7949ac2-728d-41dd-ad7e-3544eb396517" providerId="ADAL" clId="{9A112020-9413-486F-BA5D-75CDAEC9B132}"/>
    <pc:docChg chg="undo custSel addSld delSld modSld">
      <pc:chgData name="Mai Cao Van" userId="f7949ac2-728d-41dd-ad7e-3544eb396517" providerId="ADAL" clId="{9A112020-9413-486F-BA5D-75CDAEC9B132}" dt="2024-04-17T15:14:29.613" v="118" actId="14100"/>
      <pc:docMkLst>
        <pc:docMk/>
      </pc:docMkLst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2414208525" sldId="256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3626776459" sldId="257"/>
        </pc:sldMkLst>
      </pc:sldChg>
      <pc:sldChg chg="modSp mod modClrScheme chgLayout">
        <pc:chgData name="Mai Cao Van" userId="f7949ac2-728d-41dd-ad7e-3544eb396517" providerId="ADAL" clId="{9A112020-9413-486F-BA5D-75CDAEC9B132}" dt="2024-04-17T14:20:18.691" v="9" actId="207"/>
        <pc:sldMkLst>
          <pc:docMk/>
          <pc:sldMk cId="3190321118" sldId="258"/>
        </pc:sldMkLst>
        <pc:spChg chg="mod ord">
          <ac:chgData name="Mai Cao Van" userId="f7949ac2-728d-41dd-ad7e-3544eb396517" providerId="ADAL" clId="{9A112020-9413-486F-BA5D-75CDAEC9B132}" dt="2024-04-17T14:20:18.691" v="9" actId="207"/>
          <ac:spMkLst>
            <pc:docMk/>
            <pc:sldMk cId="3190321118" sldId="258"/>
            <ac:spMk id="2" creationId="{07CF3735-88FE-51EE-7EA1-A930D1D9D4F9}"/>
          </ac:spMkLst>
        </pc:spChg>
        <pc:spChg chg="mod ord">
          <ac:chgData name="Mai Cao Van" userId="f7949ac2-728d-41dd-ad7e-3544eb396517" providerId="ADAL" clId="{9A112020-9413-486F-BA5D-75CDAEC9B132}" dt="2024-04-17T14:20:02.053" v="5" actId="120"/>
          <ac:spMkLst>
            <pc:docMk/>
            <pc:sldMk cId="3190321118" sldId="258"/>
            <ac:spMk id="9" creationId="{F0932675-FEE9-806C-4C5C-4E45D1CBCBF5}"/>
          </ac:spMkLst>
        </pc:spChg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671320278" sldId="259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997350594" sldId="260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206777267" sldId="261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75489809" sldId="262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491464535" sldId="263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936108424" sldId="264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553395001" sldId="265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089765472" sldId="266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160731846" sldId="267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336286143" sldId="268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031732853" sldId="269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2643067150" sldId="271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100890814" sldId="272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3352985877" sldId="273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3218896443" sldId="274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531915942" sldId="275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2952181570" sldId="276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579499132" sldId="277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3058281605" sldId="278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3443217586" sldId="279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101532945" sldId="280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1617769310" sldId="281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880446481" sldId="282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3670850264" sldId="283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3727363365" sldId="284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2346282213" sldId="285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1909053363" sldId="286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194563085" sldId="287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2926019977" sldId="288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477283182" sldId="289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152004715" sldId="290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1932815543" sldId="291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1532717068" sldId="292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2474586941" sldId="293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986597189" sldId="294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4170217672" sldId="295"/>
        </pc:sldMkLst>
      </pc:sldChg>
      <pc:sldChg chg="addSp delSp modSp mod chgLayout">
        <pc:chgData name="Mai Cao Van" userId="f7949ac2-728d-41dd-ad7e-3544eb396517" providerId="ADAL" clId="{9A112020-9413-486F-BA5D-75CDAEC9B132}" dt="2024-04-17T15:07:47.436" v="76" actId="113"/>
        <pc:sldMkLst>
          <pc:docMk/>
          <pc:sldMk cId="1501905343" sldId="296"/>
        </pc:sldMkLst>
        <pc:spChg chg="mod ord">
          <ac:chgData name="Mai Cao Van" userId="f7949ac2-728d-41dd-ad7e-3544eb396517" providerId="ADAL" clId="{9A112020-9413-486F-BA5D-75CDAEC9B132}" dt="2024-04-17T15:02:08.447" v="30" actId="6264"/>
          <ac:spMkLst>
            <pc:docMk/>
            <pc:sldMk cId="1501905343" sldId="296"/>
            <ac:spMk id="2" creationId="{8C430AE8-0EBE-B0C5-28F2-79A2A6992611}"/>
          </ac:spMkLst>
        </pc:spChg>
        <pc:spChg chg="mod ord">
          <ac:chgData name="Mai Cao Van" userId="f7949ac2-728d-41dd-ad7e-3544eb396517" providerId="ADAL" clId="{9A112020-9413-486F-BA5D-75CDAEC9B132}" dt="2024-04-17T15:03:37.451" v="47" actId="123"/>
          <ac:spMkLst>
            <pc:docMk/>
            <pc:sldMk cId="1501905343" sldId="296"/>
            <ac:spMk id="4" creationId="{BE7F8D9A-9F36-3F42-5DDB-B214C4EAC8A6}"/>
          </ac:spMkLst>
        </pc:spChg>
        <pc:spChg chg="add del mod">
          <ac:chgData name="Mai Cao Van" userId="f7949ac2-728d-41dd-ad7e-3544eb396517" providerId="ADAL" clId="{9A112020-9413-486F-BA5D-75CDAEC9B132}" dt="2024-04-17T14:58:01.765" v="16" actId="6264"/>
          <ac:spMkLst>
            <pc:docMk/>
            <pc:sldMk cId="1501905343" sldId="296"/>
            <ac:spMk id="6" creationId="{4E16FE9D-6910-3544-261B-84B87D8CEB42}"/>
          </ac:spMkLst>
        </pc:spChg>
        <pc:spChg chg="add del mod">
          <ac:chgData name="Mai Cao Van" userId="f7949ac2-728d-41dd-ad7e-3544eb396517" providerId="ADAL" clId="{9A112020-9413-486F-BA5D-75CDAEC9B132}" dt="2024-04-17T14:58:01.765" v="16" actId="6264"/>
          <ac:spMkLst>
            <pc:docMk/>
            <pc:sldMk cId="1501905343" sldId="296"/>
            <ac:spMk id="7" creationId="{7F0A6817-88FB-7DF1-0253-7A09FF946583}"/>
          </ac:spMkLst>
        </pc:spChg>
        <pc:spChg chg="add del mod">
          <ac:chgData name="Mai Cao Van" userId="f7949ac2-728d-41dd-ad7e-3544eb396517" providerId="ADAL" clId="{9A112020-9413-486F-BA5D-75CDAEC9B132}" dt="2024-04-17T15:02:08.447" v="30" actId="6264"/>
          <ac:spMkLst>
            <pc:docMk/>
            <pc:sldMk cId="1501905343" sldId="296"/>
            <ac:spMk id="8" creationId="{4C016DF6-0FEB-F18C-BF4A-135819304B30}"/>
          </ac:spMkLst>
        </pc:spChg>
        <pc:spChg chg="add del mod">
          <ac:chgData name="Mai Cao Van" userId="f7949ac2-728d-41dd-ad7e-3544eb396517" providerId="ADAL" clId="{9A112020-9413-486F-BA5D-75CDAEC9B132}" dt="2024-04-17T15:02:08.447" v="30" actId="6264"/>
          <ac:spMkLst>
            <pc:docMk/>
            <pc:sldMk cId="1501905343" sldId="296"/>
            <ac:spMk id="9" creationId="{F07948B4-DBBE-2601-1A16-1F3D99DFC0B4}"/>
          </ac:spMkLst>
        </pc:spChg>
        <pc:spChg chg="add mod">
          <ac:chgData name="Mai Cao Van" userId="f7949ac2-728d-41dd-ad7e-3544eb396517" providerId="ADAL" clId="{9A112020-9413-486F-BA5D-75CDAEC9B132}" dt="2024-04-17T15:07:47.436" v="76" actId="113"/>
          <ac:spMkLst>
            <pc:docMk/>
            <pc:sldMk cId="1501905343" sldId="296"/>
            <ac:spMk id="13" creationId="{C0DE56BB-D25E-8028-4B39-613B82E2F666}"/>
          </ac:spMkLst>
        </pc:spChg>
        <pc:picChg chg="add del mod">
          <ac:chgData name="Mai Cao Van" userId="f7949ac2-728d-41dd-ad7e-3544eb396517" providerId="ADAL" clId="{9A112020-9413-486F-BA5D-75CDAEC9B132}" dt="2024-04-17T14:58:25.778" v="17" actId="478"/>
          <ac:picMkLst>
            <pc:docMk/>
            <pc:sldMk cId="1501905343" sldId="296"/>
            <ac:picMk id="5" creationId="{DAFB7174-EBC2-F8A4-63D1-02D5BDF15D48}"/>
          </ac:picMkLst>
        </pc:picChg>
        <pc:picChg chg="add mod">
          <ac:chgData name="Mai Cao Van" userId="f7949ac2-728d-41dd-ad7e-3544eb396517" providerId="ADAL" clId="{9A112020-9413-486F-BA5D-75CDAEC9B132}" dt="2024-04-17T15:03:32.009" v="46" actId="1035"/>
          <ac:picMkLst>
            <pc:docMk/>
            <pc:sldMk cId="1501905343" sldId="296"/>
            <ac:picMk id="11" creationId="{3060298A-DE97-347C-64A7-3756612B109F}"/>
          </ac:picMkLst>
        </pc:picChg>
      </pc:sldChg>
      <pc:sldChg chg="addSp delSp modSp add mod chgLayout">
        <pc:chgData name="Mai Cao Van" userId="f7949ac2-728d-41dd-ad7e-3544eb396517" providerId="ADAL" clId="{9A112020-9413-486F-BA5D-75CDAEC9B132}" dt="2024-04-17T15:07:40.195" v="75" actId="113"/>
        <pc:sldMkLst>
          <pc:docMk/>
          <pc:sldMk cId="2933662193" sldId="301"/>
        </pc:sldMkLst>
        <pc:spChg chg="mod ord">
          <ac:chgData name="Mai Cao Van" userId="f7949ac2-728d-41dd-ad7e-3544eb396517" providerId="ADAL" clId="{9A112020-9413-486F-BA5D-75CDAEC9B132}" dt="2024-04-17T15:05:44.895" v="59" actId="6264"/>
          <ac:spMkLst>
            <pc:docMk/>
            <pc:sldMk cId="2933662193" sldId="301"/>
            <ac:spMk id="2" creationId="{8C430AE8-0EBE-B0C5-28F2-79A2A6992611}"/>
          </ac:spMkLst>
        </pc:spChg>
        <pc:spChg chg="add del mod">
          <ac:chgData name="Mai Cao Van" userId="f7949ac2-728d-41dd-ad7e-3544eb396517" providerId="ADAL" clId="{9A112020-9413-486F-BA5D-75CDAEC9B132}" dt="2024-04-17T15:05:44.895" v="59" actId="6264"/>
          <ac:spMkLst>
            <pc:docMk/>
            <pc:sldMk cId="2933662193" sldId="301"/>
            <ac:spMk id="3" creationId="{70A34787-31ED-7DDC-549A-161AF8900A2B}"/>
          </ac:spMkLst>
        </pc:spChg>
        <pc:spChg chg="mod ord">
          <ac:chgData name="Mai Cao Van" userId="f7949ac2-728d-41dd-ad7e-3544eb396517" providerId="ADAL" clId="{9A112020-9413-486F-BA5D-75CDAEC9B132}" dt="2024-04-17T15:06:11.303" v="68" actId="27636"/>
          <ac:spMkLst>
            <pc:docMk/>
            <pc:sldMk cId="2933662193" sldId="301"/>
            <ac:spMk id="4" creationId="{BE7F8D9A-9F36-3F42-5DDB-B214C4EAC8A6}"/>
          </ac:spMkLst>
        </pc:spChg>
        <pc:spChg chg="add del mod">
          <ac:chgData name="Mai Cao Van" userId="f7949ac2-728d-41dd-ad7e-3544eb396517" providerId="ADAL" clId="{9A112020-9413-486F-BA5D-75CDAEC9B132}" dt="2024-04-17T15:05:44.895" v="59" actId="6264"/>
          <ac:spMkLst>
            <pc:docMk/>
            <pc:sldMk cId="2933662193" sldId="301"/>
            <ac:spMk id="5" creationId="{2AB4403E-1207-5BEB-0BA0-55A57680AB16}"/>
          </ac:spMkLst>
        </pc:spChg>
        <pc:spChg chg="mod">
          <ac:chgData name="Mai Cao Van" userId="f7949ac2-728d-41dd-ad7e-3544eb396517" providerId="ADAL" clId="{9A112020-9413-486F-BA5D-75CDAEC9B132}" dt="2024-04-17T15:07:40.195" v="75" actId="113"/>
          <ac:spMkLst>
            <pc:docMk/>
            <pc:sldMk cId="2933662193" sldId="301"/>
            <ac:spMk id="13" creationId="{C0DE56BB-D25E-8028-4B39-613B82E2F666}"/>
          </ac:spMkLst>
        </pc:spChg>
        <pc:picChg chg="add mod">
          <ac:chgData name="Mai Cao Van" userId="f7949ac2-728d-41dd-ad7e-3544eb396517" providerId="ADAL" clId="{9A112020-9413-486F-BA5D-75CDAEC9B132}" dt="2024-04-17T15:07:11.801" v="72" actId="14100"/>
          <ac:picMkLst>
            <pc:docMk/>
            <pc:sldMk cId="2933662193" sldId="301"/>
            <ac:picMk id="7" creationId="{BACB1871-71F6-5AFF-51A8-84E978A82971}"/>
          </ac:picMkLst>
        </pc:picChg>
        <pc:picChg chg="del">
          <ac:chgData name="Mai Cao Van" userId="f7949ac2-728d-41dd-ad7e-3544eb396517" providerId="ADAL" clId="{9A112020-9413-486F-BA5D-75CDAEC9B132}" dt="2024-04-17T15:05:56.729" v="63" actId="478"/>
          <ac:picMkLst>
            <pc:docMk/>
            <pc:sldMk cId="2933662193" sldId="301"/>
            <ac:picMk id="11" creationId="{3060298A-DE97-347C-64A7-3756612B109F}"/>
          </ac:picMkLst>
        </pc:picChg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461348225" sldId="301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23320354" sldId="302"/>
        </pc:sldMkLst>
      </pc:sldChg>
      <pc:sldChg chg="modSp add mod">
        <pc:chgData name="Mai Cao Van" userId="f7949ac2-728d-41dd-ad7e-3544eb396517" providerId="ADAL" clId="{9A112020-9413-486F-BA5D-75CDAEC9B132}" dt="2024-04-17T15:14:29.613" v="118" actId="14100"/>
        <pc:sldMkLst>
          <pc:docMk/>
          <pc:sldMk cId="2652356429" sldId="302"/>
        </pc:sldMkLst>
        <pc:spChg chg="mod">
          <ac:chgData name="Mai Cao Van" userId="f7949ac2-728d-41dd-ad7e-3544eb396517" providerId="ADAL" clId="{9A112020-9413-486F-BA5D-75CDAEC9B132}" dt="2024-04-17T15:14:29.613" v="118" actId="14100"/>
          <ac:spMkLst>
            <pc:docMk/>
            <pc:sldMk cId="2652356429" sldId="302"/>
            <ac:spMk id="4" creationId="{BE7F8D9A-9F36-3F42-5DDB-B214C4EAC8A6}"/>
          </ac:spMkLst>
        </pc:spChg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982246672" sldId="303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093158920" sldId="304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454021612" sldId="305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980960752" sldId="306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949476003" sldId="307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081069589" sldId="308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4162619783" sldId="309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064759149" sldId="310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821748694" sldId="311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948051221" sldId="312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743469992" sldId="313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715820225" sldId="314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4031213231" sldId="315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172900586" sldId="317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4020231526" sldId="319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183509001" sldId="320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884775449" sldId="321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271388492" sldId="322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487759009" sldId="323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567845728" sldId="324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10621169" sldId="325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953342677" sldId="326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935125376" sldId="327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187807566" sldId="328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307945801" sldId="329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4278991458" sldId="330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042944599" sldId="331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447322492" sldId="332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740702777" sldId="333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090726604" sldId="335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934312387" sldId="336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662530898" sldId="337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510533634" sldId="338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024928923" sldId="339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28002459" sldId="340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890179627" sldId="341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163368077" sldId="342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809250700" sldId="343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450418921" sldId="344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057694825" sldId="345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405595158" sldId="346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973060477" sldId="347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459707268" sldId="349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3848758112" sldId="350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4036275847" sldId="351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2181531778" sldId="352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2659275954" sldId="353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3209173124" sldId="354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4247538530" sldId="355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1006905501" sldId="356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116005775" sldId="357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1055634875" sldId="358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4183660468" sldId="361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722368251" sldId="362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691358665" sldId="398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487308099" sldId="399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240247633" sldId="401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602376594" sldId="402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873410731" sldId="403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470051078" sldId="404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584010954" sldId="405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894740067" sldId="406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019231035" sldId="407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385599415" sldId="408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364253548" sldId="409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121512525" sldId="410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45239884" sldId="411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939551571" sldId="412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177181734" sldId="413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464186032" sldId="414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237174173" sldId="415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897491730" sldId="416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494990954" sldId="417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999368100" sldId="418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915897664" sldId="419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916007585" sldId="420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662009085" sldId="422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4202492514" sldId="423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745303601" sldId="424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4072253741" sldId="425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033780426" sldId="426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32503861" sldId="427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778228032" sldId="428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621868727" sldId="429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674550136" sldId="430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578328790" sldId="431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077041457" sldId="432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721886896" sldId="433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000060120" sldId="434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69364085" sldId="435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562749593" sldId="436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893443945" sldId="437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935142140" sldId="438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746830420" sldId="439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158526831" sldId="440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86389077" sldId="441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628909499" sldId="442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4255187822" sldId="443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896909249" sldId="444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057333704" sldId="445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404045078" sldId="44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EAD9A4-3449-456F-BCB1-B37D2B162820}" type="datetimeFigureOut">
              <a:rPr lang="vi-VN" smtClean="0"/>
              <a:t>27/08/2025</a:t>
            </a:fld>
            <a:endParaRPr lang="vi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54DB88-6E80-499D-ABB8-38FBF3AE1A25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84432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871CC-0A5A-4983-867F-F63CAC6B553F}" type="datetime1">
              <a:rPr lang="vi-VN" smtClean="0"/>
              <a:t>27/08/2025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‹#›</a:t>
            </a:fld>
            <a:endParaRPr lang="vi-V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1B0B5C0-74F0-4EC6-A51D-11457A899F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1093"/>
            <a:ext cx="12192000" cy="6907648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91E02220-0385-4125-BDB5-59B8FEFF76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8932" y="3278144"/>
            <a:ext cx="10515600" cy="54927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Chapter 1: </a:t>
            </a:r>
          </a:p>
        </p:txBody>
      </p:sp>
    </p:spTree>
    <p:extLst>
      <p:ext uri="{BB962C8B-B14F-4D97-AF65-F5344CB8AC3E}">
        <p14:creationId xmlns:p14="http://schemas.microsoft.com/office/powerpoint/2010/main" val="1343306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17305"/>
            <a:ext cx="10515600" cy="549274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64303"/>
            <a:ext cx="10515600" cy="5312661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A99EF-8D3C-452B-935C-C3A0B15262A2}" type="datetime1">
              <a:rPr lang="vi-VN" smtClean="0"/>
              <a:t>27/08/2025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‹#›</a:t>
            </a:fld>
            <a:endParaRPr lang="vi-VN"/>
          </a:p>
        </p:txBody>
      </p:sp>
      <p:pic>
        <p:nvPicPr>
          <p:cNvPr id="9" name="Picture 8" descr="A black background with text&#10;&#10;Description automatically generated">
            <a:extLst>
              <a:ext uri="{FF2B5EF4-FFF2-40B4-BE49-F238E27FC236}">
                <a16:creationId xmlns:a16="http://schemas.microsoft.com/office/drawing/2014/main" id="{6BF17E32-750A-6C62-EA62-509EF6C9FA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601" y="177123"/>
            <a:ext cx="2387692" cy="556277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7E78CCE1-A7DE-F222-F3C0-FAB53CC3E40F}"/>
              </a:ext>
            </a:extLst>
          </p:cNvPr>
          <p:cNvGrpSpPr/>
          <p:nvPr userDrawn="1"/>
        </p:nvGrpSpPr>
        <p:grpSpPr>
          <a:xfrm>
            <a:off x="10566400" y="-5737"/>
            <a:ext cx="1625600" cy="1213792"/>
            <a:chOff x="7924800" y="-5737"/>
            <a:chExt cx="1219200" cy="1213792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F9A6EB5-51CE-4781-B164-2A67653CBBD5}"/>
                </a:ext>
              </a:extLst>
            </p:cNvPr>
            <p:cNvGrpSpPr/>
            <p:nvPr userDrawn="1"/>
          </p:nvGrpSpPr>
          <p:grpSpPr>
            <a:xfrm rot="10800000">
              <a:off x="8737600" y="-5737"/>
              <a:ext cx="406400" cy="406400"/>
              <a:chOff x="4388744" y="4805680"/>
              <a:chExt cx="406400" cy="406400"/>
            </a:xfrm>
          </p:grpSpPr>
          <p:sp>
            <p:nvSpPr>
              <p:cNvPr id="27" name="Right Triangle 26">
                <a:extLst>
                  <a:ext uri="{FF2B5EF4-FFF2-40B4-BE49-F238E27FC236}">
                    <a16:creationId xmlns:a16="http://schemas.microsoft.com/office/drawing/2014/main" id="{104E3744-FC6E-D772-CB2C-94156FE16F5E}"/>
                  </a:ext>
                </a:extLst>
              </p:cNvPr>
              <p:cNvSpPr/>
              <p:nvPr userDrawn="1"/>
            </p:nvSpPr>
            <p:spPr>
              <a:xfrm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0DB04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28" name="Right Triangle 27">
                <a:extLst>
                  <a:ext uri="{FF2B5EF4-FFF2-40B4-BE49-F238E27FC236}">
                    <a16:creationId xmlns:a16="http://schemas.microsoft.com/office/drawing/2014/main" id="{8E526613-AFFA-0BE7-1031-5FE07BE21465}"/>
                  </a:ext>
                </a:extLst>
              </p:cNvPr>
              <p:cNvSpPr/>
              <p:nvPr userDrawn="1"/>
            </p:nvSpPr>
            <p:spPr>
              <a:xfrm rot="10800000"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0DB04B">
                  <a:alpha val="48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FEF925B-CCED-3ED6-A724-D231382E7FAE}"/>
                </a:ext>
              </a:extLst>
            </p:cNvPr>
            <p:cNvGrpSpPr/>
            <p:nvPr userDrawn="1"/>
          </p:nvGrpSpPr>
          <p:grpSpPr>
            <a:xfrm rot="10800000">
              <a:off x="8737600" y="395255"/>
              <a:ext cx="406400" cy="406400"/>
              <a:chOff x="4388744" y="4805680"/>
              <a:chExt cx="406400" cy="406400"/>
            </a:xfrm>
          </p:grpSpPr>
          <p:sp>
            <p:nvSpPr>
              <p:cNvPr id="25" name="Right Triangle 24">
                <a:extLst>
                  <a:ext uri="{FF2B5EF4-FFF2-40B4-BE49-F238E27FC236}">
                    <a16:creationId xmlns:a16="http://schemas.microsoft.com/office/drawing/2014/main" id="{85BC3172-424A-A4E4-CB48-10AEBF5908B8}"/>
                  </a:ext>
                </a:extLst>
              </p:cNvPr>
              <p:cNvSpPr/>
              <p:nvPr userDrawn="1"/>
            </p:nvSpPr>
            <p:spPr>
              <a:xfrm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F26F2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26" name="Right Triangle 25">
                <a:extLst>
                  <a:ext uri="{FF2B5EF4-FFF2-40B4-BE49-F238E27FC236}">
                    <a16:creationId xmlns:a16="http://schemas.microsoft.com/office/drawing/2014/main" id="{314298E0-6DBD-FD83-9BE9-9C0888F45A6F}"/>
                  </a:ext>
                </a:extLst>
              </p:cNvPr>
              <p:cNvSpPr/>
              <p:nvPr userDrawn="1"/>
            </p:nvSpPr>
            <p:spPr>
              <a:xfrm rot="10800000"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F26F21">
                  <a:alpha val="44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246E5D2-3503-0CA5-5F0A-EB3B0DF62742}"/>
                </a:ext>
              </a:extLst>
            </p:cNvPr>
            <p:cNvGrpSpPr/>
            <p:nvPr userDrawn="1"/>
          </p:nvGrpSpPr>
          <p:grpSpPr>
            <a:xfrm rot="10800000">
              <a:off x="8737600" y="801655"/>
              <a:ext cx="406400" cy="406400"/>
              <a:chOff x="4388744" y="4805680"/>
              <a:chExt cx="406400" cy="406400"/>
            </a:xfrm>
          </p:grpSpPr>
          <p:sp>
            <p:nvSpPr>
              <p:cNvPr id="23" name="Right Triangle 22">
                <a:extLst>
                  <a:ext uri="{FF2B5EF4-FFF2-40B4-BE49-F238E27FC236}">
                    <a16:creationId xmlns:a16="http://schemas.microsoft.com/office/drawing/2014/main" id="{91C97430-586C-1852-7B7E-CC8BD43C1F34}"/>
                  </a:ext>
                </a:extLst>
              </p:cNvPr>
              <p:cNvSpPr/>
              <p:nvPr userDrawn="1"/>
            </p:nvSpPr>
            <p:spPr>
              <a:xfrm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0066B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24" name="Right Triangle 23">
                <a:extLst>
                  <a:ext uri="{FF2B5EF4-FFF2-40B4-BE49-F238E27FC236}">
                    <a16:creationId xmlns:a16="http://schemas.microsoft.com/office/drawing/2014/main" id="{DE6DCA86-3931-B1AC-3F66-88107D63265F}"/>
                  </a:ext>
                </a:extLst>
              </p:cNvPr>
              <p:cNvSpPr/>
              <p:nvPr userDrawn="1"/>
            </p:nvSpPr>
            <p:spPr>
              <a:xfrm rot="10800000"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0066B2">
                  <a:alpha val="68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20317D3-6B3D-2DF1-0986-9A0970332111}"/>
                </a:ext>
              </a:extLst>
            </p:cNvPr>
            <p:cNvGrpSpPr/>
            <p:nvPr userDrawn="1"/>
          </p:nvGrpSpPr>
          <p:grpSpPr>
            <a:xfrm rot="10800000">
              <a:off x="8331200" y="399790"/>
              <a:ext cx="406400" cy="406400"/>
              <a:chOff x="4388744" y="4805680"/>
              <a:chExt cx="406400" cy="406400"/>
            </a:xfrm>
          </p:grpSpPr>
          <p:sp>
            <p:nvSpPr>
              <p:cNvPr id="21" name="Right Triangle 20">
                <a:extLst>
                  <a:ext uri="{FF2B5EF4-FFF2-40B4-BE49-F238E27FC236}">
                    <a16:creationId xmlns:a16="http://schemas.microsoft.com/office/drawing/2014/main" id="{D7B18993-7C91-F71E-F1EB-8E1AD63B2C42}"/>
                  </a:ext>
                </a:extLst>
              </p:cNvPr>
              <p:cNvSpPr/>
              <p:nvPr userDrawn="1"/>
            </p:nvSpPr>
            <p:spPr>
              <a:xfrm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0DB04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22" name="Right Triangle 21">
                <a:extLst>
                  <a:ext uri="{FF2B5EF4-FFF2-40B4-BE49-F238E27FC236}">
                    <a16:creationId xmlns:a16="http://schemas.microsoft.com/office/drawing/2014/main" id="{A1832769-9077-3069-4A71-C6696C21BC5F}"/>
                  </a:ext>
                </a:extLst>
              </p:cNvPr>
              <p:cNvSpPr/>
              <p:nvPr userDrawn="1"/>
            </p:nvSpPr>
            <p:spPr>
              <a:xfrm rot="10800000"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0DB04B">
                  <a:alpha val="48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BFDE1C15-F987-A9D6-90C9-FCC16E16565E}"/>
                </a:ext>
              </a:extLst>
            </p:cNvPr>
            <p:cNvGrpSpPr/>
            <p:nvPr userDrawn="1"/>
          </p:nvGrpSpPr>
          <p:grpSpPr>
            <a:xfrm rot="10800000">
              <a:off x="8331200" y="-5737"/>
              <a:ext cx="406400" cy="406400"/>
              <a:chOff x="4388744" y="4805680"/>
              <a:chExt cx="406400" cy="406400"/>
            </a:xfrm>
          </p:grpSpPr>
          <p:sp>
            <p:nvSpPr>
              <p:cNvPr id="19" name="Right Triangle 18">
                <a:extLst>
                  <a:ext uri="{FF2B5EF4-FFF2-40B4-BE49-F238E27FC236}">
                    <a16:creationId xmlns:a16="http://schemas.microsoft.com/office/drawing/2014/main" id="{B3697819-6C2D-176B-5402-026EE5B6ADE0}"/>
                  </a:ext>
                </a:extLst>
              </p:cNvPr>
              <p:cNvSpPr/>
              <p:nvPr userDrawn="1"/>
            </p:nvSpPr>
            <p:spPr>
              <a:xfrm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F26F2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20" name="Right Triangle 19">
                <a:extLst>
                  <a:ext uri="{FF2B5EF4-FFF2-40B4-BE49-F238E27FC236}">
                    <a16:creationId xmlns:a16="http://schemas.microsoft.com/office/drawing/2014/main" id="{04B90D12-2C70-58C5-9D99-5E46BABC09A5}"/>
                  </a:ext>
                </a:extLst>
              </p:cNvPr>
              <p:cNvSpPr/>
              <p:nvPr userDrawn="1"/>
            </p:nvSpPr>
            <p:spPr>
              <a:xfrm rot="10800000"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F26F21">
                  <a:alpha val="44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46205393-F4AA-F4B4-AD11-0C74DE379B3D}"/>
                </a:ext>
              </a:extLst>
            </p:cNvPr>
            <p:cNvGrpSpPr/>
            <p:nvPr userDrawn="1"/>
          </p:nvGrpSpPr>
          <p:grpSpPr>
            <a:xfrm rot="10800000">
              <a:off x="7924800" y="0"/>
              <a:ext cx="406400" cy="406400"/>
              <a:chOff x="4388744" y="4805680"/>
              <a:chExt cx="406400" cy="406400"/>
            </a:xfrm>
          </p:grpSpPr>
          <p:sp>
            <p:nvSpPr>
              <p:cNvPr id="17" name="Right Triangle 16">
                <a:extLst>
                  <a:ext uri="{FF2B5EF4-FFF2-40B4-BE49-F238E27FC236}">
                    <a16:creationId xmlns:a16="http://schemas.microsoft.com/office/drawing/2014/main" id="{54406F37-F68C-A4C0-E0EF-7C3C6F4796B1}"/>
                  </a:ext>
                </a:extLst>
              </p:cNvPr>
              <p:cNvSpPr/>
              <p:nvPr userDrawn="1"/>
            </p:nvSpPr>
            <p:spPr>
              <a:xfrm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0066B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:a16="http://schemas.microsoft.com/office/drawing/2014/main" id="{52350476-19B7-4C57-8D0B-4F30375646DF}"/>
                  </a:ext>
                </a:extLst>
              </p:cNvPr>
              <p:cNvSpPr/>
              <p:nvPr userDrawn="1"/>
            </p:nvSpPr>
            <p:spPr>
              <a:xfrm rot="10800000"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0066B2">
                  <a:alpha val="68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A4D367E-E1F8-341D-D917-08BD1F010572}"/>
              </a:ext>
            </a:extLst>
          </p:cNvPr>
          <p:cNvGrpSpPr/>
          <p:nvPr userDrawn="1"/>
        </p:nvGrpSpPr>
        <p:grpSpPr>
          <a:xfrm>
            <a:off x="0" y="5223817"/>
            <a:ext cx="2167467" cy="1627220"/>
            <a:chOff x="0" y="5223817"/>
            <a:chExt cx="1625600" cy="1627220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6C158FEA-DEF2-99FD-0979-F462D61695E2}"/>
                </a:ext>
              </a:extLst>
            </p:cNvPr>
            <p:cNvGrpSpPr/>
            <p:nvPr userDrawn="1"/>
          </p:nvGrpSpPr>
          <p:grpSpPr>
            <a:xfrm>
              <a:off x="0" y="6444637"/>
              <a:ext cx="406400" cy="406400"/>
              <a:chOff x="4388744" y="4805680"/>
              <a:chExt cx="406400" cy="406400"/>
            </a:xfrm>
          </p:grpSpPr>
          <p:sp>
            <p:nvSpPr>
              <p:cNvPr id="58" name="Right Triangle 57">
                <a:extLst>
                  <a:ext uri="{FF2B5EF4-FFF2-40B4-BE49-F238E27FC236}">
                    <a16:creationId xmlns:a16="http://schemas.microsoft.com/office/drawing/2014/main" id="{7C6D5D3D-3662-A526-17C5-BFD0909E8140}"/>
                  </a:ext>
                </a:extLst>
              </p:cNvPr>
              <p:cNvSpPr/>
              <p:nvPr userDrawn="1"/>
            </p:nvSpPr>
            <p:spPr>
              <a:xfrm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0DB04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59" name="Right Triangle 58">
                <a:extLst>
                  <a:ext uri="{FF2B5EF4-FFF2-40B4-BE49-F238E27FC236}">
                    <a16:creationId xmlns:a16="http://schemas.microsoft.com/office/drawing/2014/main" id="{4B987422-BE46-3E2F-0AC8-24EBCC0299B0}"/>
                  </a:ext>
                </a:extLst>
              </p:cNvPr>
              <p:cNvSpPr/>
              <p:nvPr userDrawn="1"/>
            </p:nvSpPr>
            <p:spPr>
              <a:xfrm rot="10800000"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0DB04B">
                  <a:alpha val="48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06989AF4-E961-10A8-F915-9DFEC26E085C}"/>
                </a:ext>
              </a:extLst>
            </p:cNvPr>
            <p:cNvGrpSpPr/>
            <p:nvPr userDrawn="1"/>
          </p:nvGrpSpPr>
          <p:grpSpPr>
            <a:xfrm>
              <a:off x="0" y="6036687"/>
              <a:ext cx="406400" cy="406400"/>
              <a:chOff x="4388744" y="4805680"/>
              <a:chExt cx="406400" cy="406400"/>
            </a:xfrm>
          </p:grpSpPr>
          <p:sp>
            <p:nvSpPr>
              <p:cNvPr id="56" name="Right Triangle 55">
                <a:extLst>
                  <a:ext uri="{FF2B5EF4-FFF2-40B4-BE49-F238E27FC236}">
                    <a16:creationId xmlns:a16="http://schemas.microsoft.com/office/drawing/2014/main" id="{C7394C07-0ADF-EEDA-30DD-D0A5219FD07E}"/>
                  </a:ext>
                </a:extLst>
              </p:cNvPr>
              <p:cNvSpPr/>
              <p:nvPr userDrawn="1"/>
            </p:nvSpPr>
            <p:spPr>
              <a:xfrm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F26F2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57" name="Right Triangle 56">
                <a:extLst>
                  <a:ext uri="{FF2B5EF4-FFF2-40B4-BE49-F238E27FC236}">
                    <a16:creationId xmlns:a16="http://schemas.microsoft.com/office/drawing/2014/main" id="{4D6B85FB-6BC6-0DA1-393E-DDC30EFB0268}"/>
                  </a:ext>
                </a:extLst>
              </p:cNvPr>
              <p:cNvSpPr/>
              <p:nvPr userDrawn="1"/>
            </p:nvSpPr>
            <p:spPr>
              <a:xfrm rot="10800000"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F26F21">
                  <a:alpha val="44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3246BD03-559E-886D-81AC-DBFB87CADBF9}"/>
                </a:ext>
              </a:extLst>
            </p:cNvPr>
            <p:cNvGrpSpPr/>
            <p:nvPr userDrawn="1"/>
          </p:nvGrpSpPr>
          <p:grpSpPr>
            <a:xfrm>
              <a:off x="0" y="5627513"/>
              <a:ext cx="406400" cy="406400"/>
              <a:chOff x="4388744" y="4805680"/>
              <a:chExt cx="406400" cy="406400"/>
            </a:xfrm>
          </p:grpSpPr>
          <p:sp>
            <p:nvSpPr>
              <p:cNvPr id="54" name="Right Triangle 53">
                <a:extLst>
                  <a:ext uri="{FF2B5EF4-FFF2-40B4-BE49-F238E27FC236}">
                    <a16:creationId xmlns:a16="http://schemas.microsoft.com/office/drawing/2014/main" id="{64AB5756-BD28-6111-AFC2-C064394697AA}"/>
                  </a:ext>
                </a:extLst>
              </p:cNvPr>
              <p:cNvSpPr/>
              <p:nvPr userDrawn="1"/>
            </p:nvSpPr>
            <p:spPr>
              <a:xfrm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0066B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55" name="Right Triangle 54">
                <a:extLst>
                  <a:ext uri="{FF2B5EF4-FFF2-40B4-BE49-F238E27FC236}">
                    <a16:creationId xmlns:a16="http://schemas.microsoft.com/office/drawing/2014/main" id="{CCF3BB32-E016-3C59-3296-4EA5666D2CA8}"/>
                  </a:ext>
                </a:extLst>
              </p:cNvPr>
              <p:cNvSpPr/>
              <p:nvPr userDrawn="1"/>
            </p:nvSpPr>
            <p:spPr>
              <a:xfrm rot="10800000"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0066B2">
                  <a:alpha val="68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128B65E6-9A0C-F7BE-BC2D-BDD3DD7B8218}"/>
                </a:ext>
              </a:extLst>
            </p:cNvPr>
            <p:cNvGrpSpPr/>
            <p:nvPr userDrawn="1"/>
          </p:nvGrpSpPr>
          <p:grpSpPr>
            <a:xfrm>
              <a:off x="406400" y="6039110"/>
              <a:ext cx="406400" cy="406400"/>
              <a:chOff x="4388744" y="4805680"/>
              <a:chExt cx="406400" cy="406400"/>
            </a:xfrm>
          </p:grpSpPr>
          <p:sp>
            <p:nvSpPr>
              <p:cNvPr id="52" name="Right Triangle 51">
                <a:extLst>
                  <a:ext uri="{FF2B5EF4-FFF2-40B4-BE49-F238E27FC236}">
                    <a16:creationId xmlns:a16="http://schemas.microsoft.com/office/drawing/2014/main" id="{8C6B3CA5-8D03-6992-787E-9636C5AE54D9}"/>
                  </a:ext>
                </a:extLst>
              </p:cNvPr>
              <p:cNvSpPr/>
              <p:nvPr userDrawn="1"/>
            </p:nvSpPr>
            <p:spPr>
              <a:xfrm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0DB04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53" name="Right Triangle 52">
                <a:extLst>
                  <a:ext uri="{FF2B5EF4-FFF2-40B4-BE49-F238E27FC236}">
                    <a16:creationId xmlns:a16="http://schemas.microsoft.com/office/drawing/2014/main" id="{01491534-CB37-A450-3A13-CF46EEAB6A5F}"/>
                  </a:ext>
                </a:extLst>
              </p:cNvPr>
              <p:cNvSpPr/>
              <p:nvPr userDrawn="1"/>
            </p:nvSpPr>
            <p:spPr>
              <a:xfrm rot="10800000"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0DB04B">
                  <a:alpha val="48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6116C4A8-5AE4-E1A8-6E48-4A1C5234432D}"/>
                </a:ext>
              </a:extLst>
            </p:cNvPr>
            <p:cNvGrpSpPr/>
            <p:nvPr userDrawn="1"/>
          </p:nvGrpSpPr>
          <p:grpSpPr>
            <a:xfrm>
              <a:off x="406400" y="6444637"/>
              <a:ext cx="406400" cy="406400"/>
              <a:chOff x="4388744" y="4805680"/>
              <a:chExt cx="406400" cy="406400"/>
            </a:xfrm>
          </p:grpSpPr>
          <p:sp>
            <p:nvSpPr>
              <p:cNvPr id="50" name="Right Triangle 49">
                <a:extLst>
                  <a:ext uri="{FF2B5EF4-FFF2-40B4-BE49-F238E27FC236}">
                    <a16:creationId xmlns:a16="http://schemas.microsoft.com/office/drawing/2014/main" id="{032EDF53-67B9-900C-C2F0-BBC97BA72643}"/>
                  </a:ext>
                </a:extLst>
              </p:cNvPr>
              <p:cNvSpPr/>
              <p:nvPr userDrawn="1"/>
            </p:nvSpPr>
            <p:spPr>
              <a:xfrm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F26F2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51" name="Right Triangle 50">
                <a:extLst>
                  <a:ext uri="{FF2B5EF4-FFF2-40B4-BE49-F238E27FC236}">
                    <a16:creationId xmlns:a16="http://schemas.microsoft.com/office/drawing/2014/main" id="{4860B01E-AAAF-1DB6-003C-7E22ADC21D9A}"/>
                  </a:ext>
                </a:extLst>
              </p:cNvPr>
              <p:cNvSpPr/>
              <p:nvPr userDrawn="1"/>
            </p:nvSpPr>
            <p:spPr>
              <a:xfrm rot="10800000"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F26F21">
                  <a:alpha val="44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E337ABB6-45A0-FED1-0AAC-59A550733ECA}"/>
                </a:ext>
              </a:extLst>
            </p:cNvPr>
            <p:cNvGrpSpPr/>
            <p:nvPr userDrawn="1"/>
          </p:nvGrpSpPr>
          <p:grpSpPr>
            <a:xfrm>
              <a:off x="812800" y="6438900"/>
              <a:ext cx="406400" cy="406400"/>
              <a:chOff x="4388744" y="4805680"/>
              <a:chExt cx="406400" cy="406400"/>
            </a:xfrm>
          </p:grpSpPr>
          <p:sp>
            <p:nvSpPr>
              <p:cNvPr id="48" name="Right Triangle 47">
                <a:extLst>
                  <a:ext uri="{FF2B5EF4-FFF2-40B4-BE49-F238E27FC236}">
                    <a16:creationId xmlns:a16="http://schemas.microsoft.com/office/drawing/2014/main" id="{51E62297-F581-4EDA-971E-CF6196E49344}"/>
                  </a:ext>
                </a:extLst>
              </p:cNvPr>
              <p:cNvSpPr/>
              <p:nvPr userDrawn="1"/>
            </p:nvSpPr>
            <p:spPr>
              <a:xfrm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0066B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49" name="Right Triangle 48">
                <a:extLst>
                  <a:ext uri="{FF2B5EF4-FFF2-40B4-BE49-F238E27FC236}">
                    <a16:creationId xmlns:a16="http://schemas.microsoft.com/office/drawing/2014/main" id="{037A4B95-4C76-3379-FE66-7604FC49E7DB}"/>
                  </a:ext>
                </a:extLst>
              </p:cNvPr>
              <p:cNvSpPr/>
              <p:nvPr userDrawn="1"/>
            </p:nvSpPr>
            <p:spPr>
              <a:xfrm rot="10800000"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0066B2">
                  <a:alpha val="68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EB20C747-7466-D5D7-568D-2A3BFAFCDBFB}"/>
                </a:ext>
              </a:extLst>
            </p:cNvPr>
            <p:cNvGrpSpPr/>
            <p:nvPr userDrawn="1"/>
          </p:nvGrpSpPr>
          <p:grpSpPr>
            <a:xfrm>
              <a:off x="0" y="5223817"/>
              <a:ext cx="406400" cy="406400"/>
              <a:chOff x="4388744" y="4805680"/>
              <a:chExt cx="406400" cy="406400"/>
            </a:xfrm>
          </p:grpSpPr>
          <p:sp>
            <p:nvSpPr>
              <p:cNvPr id="46" name="Right Triangle 45">
                <a:extLst>
                  <a:ext uri="{FF2B5EF4-FFF2-40B4-BE49-F238E27FC236}">
                    <a16:creationId xmlns:a16="http://schemas.microsoft.com/office/drawing/2014/main" id="{DB35D46E-FCF1-09E4-645B-AE13B4E0622F}"/>
                  </a:ext>
                </a:extLst>
              </p:cNvPr>
              <p:cNvSpPr/>
              <p:nvPr userDrawn="1"/>
            </p:nvSpPr>
            <p:spPr>
              <a:xfrm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F26F2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47" name="Right Triangle 46">
                <a:extLst>
                  <a:ext uri="{FF2B5EF4-FFF2-40B4-BE49-F238E27FC236}">
                    <a16:creationId xmlns:a16="http://schemas.microsoft.com/office/drawing/2014/main" id="{B49A6AD1-D826-C7CB-D1D8-20588CC9E0D1}"/>
                  </a:ext>
                </a:extLst>
              </p:cNvPr>
              <p:cNvSpPr/>
              <p:nvPr userDrawn="1"/>
            </p:nvSpPr>
            <p:spPr>
              <a:xfrm rot="10800000"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F26F21">
                  <a:alpha val="44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5D65BDAA-B74A-ED26-EBA5-74251871D610}"/>
                </a:ext>
              </a:extLst>
            </p:cNvPr>
            <p:cNvGrpSpPr/>
            <p:nvPr userDrawn="1"/>
          </p:nvGrpSpPr>
          <p:grpSpPr>
            <a:xfrm>
              <a:off x="406400" y="5634752"/>
              <a:ext cx="406400" cy="406400"/>
              <a:chOff x="4388744" y="4805680"/>
              <a:chExt cx="406400" cy="406400"/>
            </a:xfrm>
          </p:grpSpPr>
          <p:sp>
            <p:nvSpPr>
              <p:cNvPr id="44" name="Right Triangle 43">
                <a:extLst>
                  <a:ext uri="{FF2B5EF4-FFF2-40B4-BE49-F238E27FC236}">
                    <a16:creationId xmlns:a16="http://schemas.microsoft.com/office/drawing/2014/main" id="{DFBD8121-710E-1D40-00C8-2B5565B6AD50}"/>
                  </a:ext>
                </a:extLst>
              </p:cNvPr>
              <p:cNvSpPr/>
              <p:nvPr userDrawn="1"/>
            </p:nvSpPr>
            <p:spPr>
              <a:xfrm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F26F2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45" name="Right Triangle 44">
                <a:extLst>
                  <a:ext uri="{FF2B5EF4-FFF2-40B4-BE49-F238E27FC236}">
                    <a16:creationId xmlns:a16="http://schemas.microsoft.com/office/drawing/2014/main" id="{1A9F5181-C41C-5F10-DD79-042329A130E6}"/>
                  </a:ext>
                </a:extLst>
              </p:cNvPr>
              <p:cNvSpPr/>
              <p:nvPr userDrawn="1"/>
            </p:nvSpPr>
            <p:spPr>
              <a:xfrm rot="10800000"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F26F21">
                  <a:alpha val="44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DB5BA187-B815-DCCA-A175-F6AB12C44120}"/>
                </a:ext>
              </a:extLst>
            </p:cNvPr>
            <p:cNvGrpSpPr/>
            <p:nvPr userDrawn="1"/>
          </p:nvGrpSpPr>
          <p:grpSpPr>
            <a:xfrm>
              <a:off x="795664" y="6038237"/>
              <a:ext cx="406400" cy="406400"/>
              <a:chOff x="4388744" y="4805680"/>
              <a:chExt cx="406400" cy="406400"/>
            </a:xfrm>
          </p:grpSpPr>
          <p:sp>
            <p:nvSpPr>
              <p:cNvPr id="42" name="Right Triangle 41">
                <a:extLst>
                  <a:ext uri="{FF2B5EF4-FFF2-40B4-BE49-F238E27FC236}">
                    <a16:creationId xmlns:a16="http://schemas.microsoft.com/office/drawing/2014/main" id="{6BE3AD03-0CF2-35C6-CC4D-76C769359E09}"/>
                  </a:ext>
                </a:extLst>
              </p:cNvPr>
              <p:cNvSpPr/>
              <p:nvPr userDrawn="1"/>
            </p:nvSpPr>
            <p:spPr>
              <a:xfrm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F26F2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43" name="Right Triangle 42">
                <a:extLst>
                  <a:ext uri="{FF2B5EF4-FFF2-40B4-BE49-F238E27FC236}">
                    <a16:creationId xmlns:a16="http://schemas.microsoft.com/office/drawing/2014/main" id="{E5C70DCE-2D30-1D7B-37FF-8E01E3974699}"/>
                  </a:ext>
                </a:extLst>
              </p:cNvPr>
              <p:cNvSpPr/>
              <p:nvPr userDrawn="1"/>
            </p:nvSpPr>
            <p:spPr>
              <a:xfrm rot="10800000"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F26F21">
                  <a:alpha val="44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89EC07A9-39B6-2A62-45F8-D31E81902E36}"/>
                </a:ext>
              </a:extLst>
            </p:cNvPr>
            <p:cNvGrpSpPr/>
            <p:nvPr userDrawn="1"/>
          </p:nvGrpSpPr>
          <p:grpSpPr>
            <a:xfrm>
              <a:off x="1219200" y="6433833"/>
              <a:ext cx="406400" cy="406400"/>
              <a:chOff x="4388744" y="4805680"/>
              <a:chExt cx="406400" cy="406400"/>
            </a:xfrm>
          </p:grpSpPr>
          <p:sp>
            <p:nvSpPr>
              <p:cNvPr id="40" name="Right Triangle 39">
                <a:extLst>
                  <a:ext uri="{FF2B5EF4-FFF2-40B4-BE49-F238E27FC236}">
                    <a16:creationId xmlns:a16="http://schemas.microsoft.com/office/drawing/2014/main" id="{13D4CC00-97A2-F50D-DF0C-7CCE44AE3948}"/>
                  </a:ext>
                </a:extLst>
              </p:cNvPr>
              <p:cNvSpPr/>
              <p:nvPr userDrawn="1"/>
            </p:nvSpPr>
            <p:spPr>
              <a:xfrm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F26F2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41" name="Right Triangle 40">
                <a:extLst>
                  <a:ext uri="{FF2B5EF4-FFF2-40B4-BE49-F238E27FC236}">
                    <a16:creationId xmlns:a16="http://schemas.microsoft.com/office/drawing/2014/main" id="{B251A9F0-2DBC-52AA-438D-2222805A9A96}"/>
                  </a:ext>
                </a:extLst>
              </p:cNvPr>
              <p:cNvSpPr/>
              <p:nvPr userDrawn="1"/>
            </p:nvSpPr>
            <p:spPr>
              <a:xfrm rot="10800000"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F26F21">
                  <a:alpha val="44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</p:grpSp>
      <p:sp>
        <p:nvSpPr>
          <p:cNvPr id="60" name="Rectangle 59">
            <a:extLst>
              <a:ext uri="{FF2B5EF4-FFF2-40B4-BE49-F238E27FC236}">
                <a16:creationId xmlns:a16="http://schemas.microsoft.com/office/drawing/2014/main" id="{F96A4DE9-D7F0-3ED7-4C5A-62CC32974557}"/>
              </a:ext>
            </a:extLst>
          </p:cNvPr>
          <p:cNvSpPr/>
          <p:nvPr userDrawn="1"/>
        </p:nvSpPr>
        <p:spPr>
          <a:xfrm>
            <a:off x="838200" y="773819"/>
            <a:ext cx="10244667" cy="76054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40000"/>
                  <a:lumOff val="60000"/>
                </a:schemeClr>
              </a:gs>
              <a:gs pos="100000">
                <a:schemeClr val="accent3">
                  <a:lumMod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1D40F12B-C8B7-47FD-9A66-8C604B484DC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16200000">
            <a:off x="-2349455" y="2334255"/>
            <a:ext cx="5240782" cy="541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705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61F7E-FD57-456B-9E1D-D84D10372E3A}" type="datetime1">
              <a:rPr lang="vi-VN" smtClean="0"/>
              <a:t>27/08/2025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801174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75618-61FB-4D94-96B8-BAD5A8A7457A}" type="datetime1">
              <a:rPr lang="vi-VN" smtClean="0"/>
              <a:t>27/08/2025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99743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F10F2-F3BF-4562-89DD-2B10CBD3EE05}" type="datetime1">
              <a:rPr lang="vi-VN" smtClean="0"/>
              <a:t>27/08/2025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20883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FDAE0-EA4F-42A1-B148-AD9AC22A56DF}" type="datetime1">
              <a:rPr lang="vi-VN" smtClean="0"/>
              <a:t>27/08/2025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692377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67A0B-B56F-4F52-BBCA-98B3D074167B}" type="datetime1">
              <a:rPr lang="vi-VN" smtClean="0"/>
              <a:t>27/08/2025</a:t>
            </a:fld>
            <a:endParaRPr lang="vi-V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098613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3DE86-437B-42AF-8A10-BA5649300010}" type="datetime1">
              <a:rPr lang="vi-VN" smtClean="0"/>
              <a:t>27/08/2025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097486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CE396-3CB5-4BA0-A842-49E646427416}" type="datetime1">
              <a:rPr lang="vi-VN" smtClean="0"/>
              <a:t>27/08/2025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475789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99CBF-0E0B-4833-8FCB-2A6D36E2DE7D}" type="datetime1">
              <a:rPr lang="vi-VN" smtClean="0"/>
              <a:t>27/08/2025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26444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81296-5D61-485A-8F80-0E9D6FAC6189}" type="datetime1">
              <a:rPr lang="vi-VN" smtClean="0"/>
              <a:t>27/08/2025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46623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5492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985421"/>
            <a:ext cx="10515600" cy="51915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2245E8-9FF8-49CD-8CA9-21B3335B7E4A}" type="datetime1">
              <a:rPr lang="vi-VN" smtClean="0"/>
              <a:t>27/08/2025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4A9409-5B7A-4A68-9AEC-D1099439147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50758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F3735-88FE-51EE-7EA1-A930D1D9D4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9687" y="2040835"/>
            <a:ext cx="4956313" cy="323353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Chapter 10: Programmable Logic </a:t>
            </a:r>
            <a:br>
              <a:rPr lang="en-US" dirty="0"/>
            </a:br>
            <a:r>
              <a:rPr lang="en-US" b="1" dirty="0"/>
              <a:t> </a:t>
            </a:r>
            <a:br>
              <a:rPr lang="en-US" b="1" dirty="0"/>
            </a:br>
            <a:br>
              <a:rPr lang="en-US" b="1" dirty="0"/>
            </a:br>
            <a:br>
              <a:rPr lang="en-US" b="1" dirty="0"/>
            </a:br>
            <a:endParaRPr lang="vi-VN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D31127D-97D4-0200-8E17-A46606337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1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90321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30AE8-0EBE-B0C5-28F2-79A2A6992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7305"/>
            <a:ext cx="9201150" cy="549274"/>
          </a:xfrm>
        </p:spPr>
        <p:txBody>
          <a:bodyPr/>
          <a:lstStyle/>
          <a:p>
            <a:pPr lvl="0"/>
            <a:r>
              <a:rPr lang="en-US" dirty="0">
                <a:solidFill>
                  <a:srgbClr val="FF0000"/>
                </a:solidFill>
              </a:rPr>
              <a:t>Chapter Objectives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E559ED8-6E89-4441-A9DB-262BE34597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3706" y="887104"/>
            <a:ext cx="10846015" cy="565181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30000"/>
              </a:lnSpc>
              <a:spcBef>
                <a:spcPts val="0"/>
              </a:spcBef>
              <a:buNone/>
            </a:pPr>
            <a:r>
              <a:rPr lang="en-US" sz="2400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After studying this chapter, students should be able to:</a:t>
            </a:r>
          </a:p>
          <a:p>
            <a:pPr marL="0" marR="0">
              <a:lnSpc>
                <a:spcPct val="130000"/>
              </a:lnSpc>
              <a:spcBef>
                <a:spcPts val="0"/>
              </a:spcBef>
            </a:pPr>
            <a:r>
              <a:rPr lang="en-US" b="1" dirty="0"/>
              <a:t>Learn about types of programmable logic (SPLDs, CPLDs, FPGAs) </a:t>
            </a:r>
            <a:r>
              <a:rPr lang="en-US" dirty="0"/>
              <a:t>and distinguish their basic structures.</a:t>
            </a:r>
          </a:p>
          <a:p>
            <a:pPr marL="0" marR="0">
              <a:lnSpc>
                <a:spcPct val="130000"/>
              </a:lnSpc>
              <a:spcBef>
                <a:spcPts val="0"/>
              </a:spcBef>
            </a:pPr>
            <a:r>
              <a:rPr lang="en-US" b="1" dirty="0"/>
              <a:t>Describe the architecture and operation </a:t>
            </a:r>
            <a:r>
              <a:rPr lang="en-US" dirty="0"/>
              <a:t>of components such as PAL, GAL, PLA, </a:t>
            </a:r>
            <a:r>
              <a:rPr lang="en-US" dirty="0" err="1"/>
              <a:t>macrocells</a:t>
            </a:r>
            <a:r>
              <a:rPr lang="en-US" dirty="0"/>
              <a:t>, and LUTs.</a:t>
            </a:r>
          </a:p>
          <a:p>
            <a:pPr marL="0" marR="0">
              <a:lnSpc>
                <a:spcPct val="130000"/>
              </a:lnSpc>
              <a:spcBef>
                <a:spcPts val="0"/>
              </a:spcBef>
            </a:pPr>
            <a:r>
              <a:rPr lang="en-US" b="1" dirty="0"/>
              <a:t>Understand the concepts of intellectual property and platform FPGA</a:t>
            </a:r>
            <a:r>
              <a:rPr lang="en-US" dirty="0"/>
              <a:t>, along with embedded functions in design.</a:t>
            </a:r>
          </a:p>
          <a:p>
            <a:pPr marL="0" marR="0">
              <a:lnSpc>
                <a:spcPct val="130000"/>
              </a:lnSpc>
              <a:spcBef>
                <a:spcPts val="0"/>
              </a:spcBef>
            </a:pPr>
            <a:r>
              <a:rPr lang="en-US" b="1" dirty="0"/>
              <a:t>Present the software design flow for programmable devices</a:t>
            </a:r>
            <a:r>
              <a:rPr lang="en-US" dirty="0"/>
              <a:t>: design entry, simulation, synthesis, implementation, and downloading.</a:t>
            </a:r>
          </a:p>
          <a:p>
            <a:pPr marL="0" marR="0">
              <a:lnSpc>
                <a:spcPct val="130000"/>
              </a:lnSpc>
              <a:spcBef>
                <a:spcPts val="0"/>
              </a:spcBef>
            </a:pPr>
            <a:r>
              <a:rPr lang="en-US" b="1" dirty="0"/>
              <a:t>Discuss various testing methods for programmable logic devices</a:t>
            </a:r>
            <a:r>
              <a:rPr lang="en-US" dirty="0"/>
              <a:t>, including boundary scan logic.</a:t>
            </a:r>
          </a:p>
          <a:p>
            <a:pPr marL="0" marR="0" indent="0">
              <a:lnSpc>
                <a:spcPct val="130000"/>
              </a:lnSpc>
              <a:spcBef>
                <a:spcPts val="0"/>
              </a:spcBef>
              <a:buNone/>
            </a:pPr>
            <a:endParaRPr lang="en-US" sz="2100" dirty="0">
              <a:effectLst/>
              <a:latin typeface="Aptos (Body)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endParaRPr lang="en-US" sz="2100" dirty="0">
              <a:solidFill>
                <a:srgbClr val="0D0D0D"/>
              </a:solidFill>
              <a:latin typeface="Aptos (Body)"/>
            </a:endParaRP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7B9C3314-EA8F-4264-A427-B52B4ED40BA8}"/>
              </a:ext>
            </a:extLst>
          </p:cNvPr>
          <p:cNvSpPr txBox="1">
            <a:spLocks/>
          </p:cNvSpPr>
          <p:nvPr/>
        </p:nvSpPr>
        <p:spPr>
          <a:xfrm>
            <a:off x="2152650" y="3941529"/>
            <a:ext cx="6858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BBDAF8E-AF0A-A556-8FFA-586CA276C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2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42424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30AE8-0EBE-B0C5-28F2-79A2A6992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878" y="217305"/>
            <a:ext cx="9257472" cy="549274"/>
          </a:xfrm>
        </p:spPr>
        <p:txBody>
          <a:bodyPr/>
          <a:lstStyle/>
          <a:p>
            <a:pPr lvl="0"/>
            <a:r>
              <a:rPr lang="en-US" dirty="0">
                <a:solidFill>
                  <a:srgbClr val="FF0000"/>
                </a:solidFill>
              </a:rPr>
              <a:t>Chapter Outline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E559ED8-6E89-4441-A9DB-262BE34597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8471" y="1009934"/>
            <a:ext cx="10217424" cy="5510137"/>
          </a:xfrm>
        </p:spPr>
        <p:txBody>
          <a:bodyPr>
            <a:noAutofit/>
          </a:bodyPr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b="1" dirty="0"/>
              <a:t>10.1.</a:t>
            </a:r>
            <a:r>
              <a:rPr lang="en-US" dirty="0"/>
              <a:t> Simple Programmable Logic Devices (SPLDs)</a:t>
            </a:r>
            <a:br>
              <a:rPr lang="en-US" dirty="0"/>
            </a:br>
            <a:r>
              <a:rPr lang="en-US" b="1" dirty="0"/>
              <a:t>10.2.</a:t>
            </a:r>
            <a:r>
              <a:rPr lang="en-US" dirty="0"/>
              <a:t> Complex Programmable Logic Devices (CPLDs)</a:t>
            </a:r>
            <a:br>
              <a:rPr lang="en-US" dirty="0"/>
            </a:br>
            <a:r>
              <a:rPr lang="en-US" b="1" dirty="0"/>
              <a:t>10.3.</a:t>
            </a:r>
            <a:r>
              <a:rPr lang="en-US" dirty="0"/>
              <a:t> </a:t>
            </a:r>
            <a:r>
              <a:rPr lang="en-US" dirty="0" err="1"/>
              <a:t>Macrocell</a:t>
            </a:r>
            <a:r>
              <a:rPr lang="en-US" dirty="0"/>
              <a:t> Modes</a:t>
            </a:r>
            <a:br>
              <a:rPr lang="en-US" dirty="0"/>
            </a:br>
            <a:r>
              <a:rPr lang="en-US" b="1" dirty="0"/>
              <a:t>10.4.</a:t>
            </a:r>
            <a:r>
              <a:rPr lang="en-US" dirty="0"/>
              <a:t> Field-Programmable Gate Arrays (FPGAs)</a:t>
            </a:r>
            <a:br>
              <a:rPr lang="en-US" dirty="0"/>
            </a:br>
            <a:r>
              <a:rPr lang="en-US" b="1" dirty="0"/>
              <a:t>10.5.</a:t>
            </a:r>
            <a:r>
              <a:rPr lang="en-US" dirty="0"/>
              <a:t> Programmable Logic Software</a:t>
            </a:r>
            <a:br>
              <a:rPr lang="en-US" dirty="0"/>
            </a:br>
            <a:r>
              <a:rPr lang="en-US" b="1" dirty="0"/>
              <a:t>10.6.</a:t>
            </a:r>
            <a:r>
              <a:rPr lang="en-US" dirty="0"/>
              <a:t> Boundary Scan Logic</a:t>
            </a:r>
          </a:p>
          <a:p>
            <a:pPr marL="0" marR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  <a:latin typeface="Aptos (Body)"/>
              </a:rPr>
              <a:t>Multiple-choice test and Problems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895D3F3-2FA5-0262-798E-21155E410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3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019053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644" y="217305"/>
            <a:ext cx="9164706" cy="549274"/>
          </a:xfrm>
        </p:spPr>
        <p:txBody>
          <a:bodyPr/>
          <a:lstStyle/>
          <a:p>
            <a:pPr lvl="0"/>
            <a:r>
              <a:rPr lang="en-US" b="1" dirty="0">
                <a:solidFill>
                  <a:srgbClr val="FF0000"/>
                </a:solidFill>
              </a:rPr>
              <a:t>10.1. </a:t>
            </a:r>
            <a:r>
              <a:rPr lang="en-US" dirty="0">
                <a:solidFill>
                  <a:srgbClr val="FF0000"/>
                </a:solidFill>
              </a:rPr>
              <a:t>Simple Programmable Logic Devices (SPLDs)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7409" y="954157"/>
            <a:ext cx="10972799" cy="590384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SPLD: The PAL </a:t>
            </a:r>
          </a:p>
          <a:p>
            <a:pPr marL="0" marR="0"/>
            <a:r>
              <a:rPr lang="en-US" sz="2200" dirty="0"/>
              <a:t>A PAL consists of a programmable array of AND gates connected to a fixed array of OR gates.</a:t>
            </a:r>
          </a:p>
          <a:p>
            <a:pPr marL="0" marR="0"/>
            <a:r>
              <a:rPr lang="en-US" sz="2200" dirty="0"/>
              <a:t>Typically implemented using fuse technology → One-Time Programmable (OTP).</a:t>
            </a:r>
          </a:p>
          <a:p>
            <a:pPr marL="0" indent="0">
              <a:lnSpc>
                <a:spcPct val="100000"/>
              </a:lnSpc>
              <a:buNone/>
            </a:pPr>
            <a:endParaRPr lang="en-US" dirty="0">
              <a:latin typeface="Aptos (Body)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endParaRPr lang="en-US" sz="2100" b="1" i="1" dirty="0">
              <a:solidFill>
                <a:schemeClr val="tx2">
                  <a:lumMod val="50000"/>
                  <a:lumOff val="50000"/>
                </a:schemeClr>
              </a:solidFill>
              <a:latin typeface="Aptos (Body)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100" dirty="0"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7008" y="6511101"/>
            <a:ext cx="2743200" cy="365125"/>
          </a:xfrm>
        </p:spPr>
        <p:txBody>
          <a:bodyPr/>
          <a:lstStyle/>
          <a:p>
            <a:fld id="{644A9409-5B7A-4A68-9AEC-D10994391474}" type="slidenum">
              <a:rPr lang="vi-VN" smtClean="0"/>
              <a:t>4</a:t>
            </a:fld>
            <a:endParaRPr lang="vi-V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CDDC77-92D3-4BA2-A483-AFD164D6FC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998" y="2280034"/>
            <a:ext cx="6859166" cy="38751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2C220F4-7C1E-4675-84E7-B6CED93B47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5194" y="6248983"/>
            <a:ext cx="4646168" cy="524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505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644" y="217305"/>
            <a:ext cx="9164706" cy="549274"/>
          </a:xfrm>
        </p:spPr>
        <p:txBody>
          <a:bodyPr/>
          <a:lstStyle/>
          <a:p>
            <a:pPr lvl="0"/>
            <a:r>
              <a:rPr lang="en-US" b="1" dirty="0">
                <a:solidFill>
                  <a:srgbClr val="FF0000"/>
                </a:solidFill>
              </a:rPr>
              <a:t>10.1. </a:t>
            </a:r>
            <a:r>
              <a:rPr lang="en-US" dirty="0">
                <a:solidFill>
                  <a:srgbClr val="FF0000"/>
                </a:solidFill>
              </a:rPr>
              <a:t>Simple Programmable Logic Devices (SPLDs)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930" y="1099930"/>
            <a:ext cx="10840278" cy="575807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Implementing a Sum-of-Products Expression </a:t>
            </a:r>
            <a:b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r>
              <a:rPr lang="en-US" sz="2200" dirty="0"/>
              <a:t>Use a PAL to implement the SOP expression:</a:t>
            </a:r>
          </a:p>
          <a:p>
            <a:pPr marL="0" indent="0">
              <a:buNone/>
            </a:pPr>
            <a:r>
              <a:rPr lang="en-US" sz="1200" dirty="0"/>
              <a:t>		</a:t>
            </a:r>
            <a:endParaRPr lang="en-US" sz="2100" dirty="0"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7008" y="6511101"/>
            <a:ext cx="2743200" cy="365125"/>
          </a:xfrm>
        </p:spPr>
        <p:txBody>
          <a:bodyPr/>
          <a:lstStyle/>
          <a:p>
            <a:fld id="{644A9409-5B7A-4A68-9AEC-D10994391474}" type="slidenum">
              <a:rPr lang="vi-VN" smtClean="0"/>
              <a:t>5</a:t>
            </a:fld>
            <a:endParaRPr lang="vi-V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6C488B-32F3-4262-A65E-47AFD1C355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8520" y="1966644"/>
            <a:ext cx="2662791" cy="47175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B2B27B3-CB10-4325-BB39-CE523DEAC8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9912" y="2531165"/>
            <a:ext cx="7469680" cy="34869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D78EC13-9FBB-4F3D-9ACA-C59D965A93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9912" y="6181731"/>
            <a:ext cx="7259063" cy="609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292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644" y="217305"/>
            <a:ext cx="9164706" cy="549274"/>
          </a:xfrm>
        </p:spPr>
        <p:txBody>
          <a:bodyPr/>
          <a:lstStyle/>
          <a:p>
            <a:pPr lvl="0"/>
            <a:r>
              <a:rPr lang="en-US" b="1" dirty="0">
                <a:solidFill>
                  <a:srgbClr val="FF0000"/>
                </a:solidFill>
              </a:rPr>
              <a:t>10.1. </a:t>
            </a:r>
            <a:r>
              <a:rPr lang="en-US" dirty="0">
                <a:solidFill>
                  <a:srgbClr val="FF0000"/>
                </a:solidFill>
              </a:rPr>
              <a:t>Simple Programmable Logic Devices (SPLDs)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930" y="942960"/>
            <a:ext cx="10840278" cy="5915040"/>
          </a:xfrm>
        </p:spPr>
        <p:txBody>
          <a:bodyPr>
            <a:normAutofit/>
          </a:bodyPr>
          <a:lstStyle/>
          <a:p>
            <a:pPr marL="0" marR="0"/>
            <a: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SPLD: The GAL </a:t>
            </a:r>
            <a:br>
              <a:rPr lang="en-US" dirty="0"/>
            </a:br>
            <a:r>
              <a:rPr lang="en-US" sz="2200" dirty="0" err="1">
                <a:effectLst/>
                <a:latin typeface="Aptos (Body)"/>
                <a:ea typeface="Times New Roman" panose="02020603050405020304" pitchFamily="18" charset="0"/>
              </a:rPr>
              <a:t>GAL</a:t>
            </a:r>
            <a:r>
              <a:rPr lang="en-US" sz="2200" dirty="0">
                <a:effectLst/>
                <a:latin typeface="Aptos (Body)"/>
                <a:ea typeface="Times New Roman" panose="02020603050405020304" pitchFamily="18" charset="0"/>
              </a:rPr>
              <a:t> is a </a:t>
            </a:r>
            <a:r>
              <a:rPr lang="en-US" sz="2200" b="1" dirty="0">
                <a:effectLst/>
                <a:latin typeface="Aptos (Body)"/>
                <a:ea typeface="Times New Roman" panose="02020603050405020304" pitchFamily="18" charset="0"/>
              </a:rPr>
              <a:t>reprogrammable</a:t>
            </a:r>
            <a:r>
              <a:rPr lang="en-US" sz="2200" dirty="0">
                <a:effectLst/>
                <a:latin typeface="Aptos (Body)"/>
                <a:ea typeface="Times New Roman" panose="02020603050405020304" pitchFamily="18" charset="0"/>
              </a:rPr>
              <a:t> version of PAL.</a:t>
            </a:r>
          </a:p>
          <a:p>
            <a:pPr marL="0" marR="0" indent="0">
              <a:buNone/>
            </a:pPr>
            <a:r>
              <a:rPr lang="en-US" sz="2200" dirty="0">
                <a:effectLst/>
                <a:latin typeface="Aptos (Body)"/>
                <a:ea typeface="Times New Roman" panose="02020603050405020304" pitchFamily="18" charset="0"/>
              </a:rPr>
              <a:t>Uses the same </a:t>
            </a:r>
            <a:r>
              <a:rPr lang="en-US" sz="2200" b="1" dirty="0">
                <a:effectLst/>
                <a:latin typeface="Aptos (Body)"/>
                <a:ea typeface="Times New Roman" panose="02020603050405020304" pitchFamily="18" charset="0"/>
              </a:rPr>
              <a:t>AND/OR logic structure</a:t>
            </a:r>
            <a:r>
              <a:rPr lang="en-US" sz="2200" dirty="0">
                <a:effectLst/>
                <a:latin typeface="Aptos (Body)"/>
                <a:ea typeface="Times New Roman" panose="02020603050405020304" pitchFamily="18" charset="0"/>
              </a:rPr>
              <a:t> as PAL.</a:t>
            </a:r>
          </a:p>
          <a:p>
            <a:pPr marL="0" indent="0">
              <a:lnSpc>
                <a:spcPct val="100000"/>
              </a:lnSpc>
              <a:buNone/>
            </a:pPr>
            <a:endParaRPr lang="en-US" dirty="0">
              <a:latin typeface="Aptos (Body)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endParaRPr lang="en-US" sz="2100" b="1" i="1" dirty="0">
              <a:solidFill>
                <a:schemeClr val="tx2">
                  <a:lumMod val="50000"/>
                  <a:lumOff val="50000"/>
                </a:schemeClr>
              </a:solidFill>
              <a:latin typeface="Aptos (Body)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100" dirty="0"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7008" y="6511101"/>
            <a:ext cx="2743200" cy="365125"/>
          </a:xfrm>
        </p:spPr>
        <p:txBody>
          <a:bodyPr/>
          <a:lstStyle/>
          <a:p>
            <a:fld id="{644A9409-5B7A-4A68-9AEC-D10994391474}" type="slidenum">
              <a:rPr lang="vi-VN" smtClean="0"/>
              <a:t>6</a:t>
            </a:fld>
            <a:endParaRPr lang="vi-V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FE1DAE-E8B5-47B2-B3DB-F810FEDB89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6761" y="2177002"/>
            <a:ext cx="6418478" cy="41577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7BDBAE1-9C5A-4376-AC37-5D637983CC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7503" y="6137121"/>
            <a:ext cx="4096994" cy="720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6484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644" y="217305"/>
            <a:ext cx="9164706" cy="549274"/>
          </a:xfrm>
        </p:spPr>
        <p:txBody>
          <a:bodyPr/>
          <a:lstStyle/>
          <a:p>
            <a:pPr lvl="0"/>
            <a:r>
              <a:rPr lang="en-US" b="1" dirty="0">
                <a:solidFill>
                  <a:srgbClr val="FF0000"/>
                </a:solidFill>
              </a:rPr>
              <a:t>10.1. </a:t>
            </a:r>
            <a:r>
              <a:rPr lang="en-US" dirty="0">
                <a:solidFill>
                  <a:srgbClr val="FF0000"/>
                </a:solidFill>
              </a:rPr>
              <a:t>Simple Programmable Logic Devices (SPLDs)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930" y="1099930"/>
            <a:ext cx="10840278" cy="575807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Simplified Notation for PAL/GAL Diagrams </a:t>
            </a:r>
            <a:b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endParaRPr lang="en-US" b="1" i="1" dirty="0">
              <a:solidFill>
                <a:schemeClr val="tx2">
                  <a:lumMod val="50000"/>
                  <a:lumOff val="50000"/>
                </a:schemeClr>
              </a:solidFill>
              <a:latin typeface="Aptos (Body)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endParaRPr lang="en-US" sz="2100" b="1" i="1" dirty="0">
              <a:solidFill>
                <a:schemeClr val="tx2">
                  <a:lumMod val="50000"/>
                  <a:lumOff val="50000"/>
                </a:schemeClr>
              </a:solidFill>
              <a:latin typeface="Aptos (Body)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100" dirty="0"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7008" y="6511101"/>
            <a:ext cx="2743200" cy="365125"/>
          </a:xfrm>
        </p:spPr>
        <p:txBody>
          <a:bodyPr/>
          <a:lstStyle/>
          <a:p>
            <a:fld id="{644A9409-5B7A-4A68-9AEC-D10994391474}" type="slidenum">
              <a:rPr lang="vi-VN" smtClean="0"/>
              <a:t>7</a:t>
            </a:fld>
            <a:endParaRPr lang="vi-V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6435D9-0900-466C-84F5-E8C0A26421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8763" y="1627725"/>
            <a:ext cx="7322611" cy="5012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6899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644" y="217305"/>
            <a:ext cx="9164706" cy="549274"/>
          </a:xfrm>
        </p:spPr>
        <p:txBody>
          <a:bodyPr/>
          <a:lstStyle/>
          <a:p>
            <a:pPr lvl="0"/>
            <a:r>
              <a:rPr lang="en-US" b="1" dirty="0">
                <a:solidFill>
                  <a:srgbClr val="FF0000"/>
                </a:solidFill>
              </a:rPr>
              <a:t>10.1. </a:t>
            </a:r>
            <a:r>
              <a:rPr lang="en-US" dirty="0">
                <a:solidFill>
                  <a:srgbClr val="FF0000"/>
                </a:solidFill>
              </a:rPr>
              <a:t>Simple Programmable Logic Devices (SPLDs)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930" y="1099930"/>
            <a:ext cx="10840278" cy="575807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PAL/GAL General Block Diagram </a:t>
            </a:r>
            <a:br>
              <a:rPr lang="en-US" dirty="0"/>
            </a:br>
            <a:b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endParaRPr lang="en-US" b="1" i="1" dirty="0">
              <a:solidFill>
                <a:schemeClr val="tx2">
                  <a:lumMod val="50000"/>
                  <a:lumOff val="50000"/>
                </a:schemeClr>
              </a:solidFill>
              <a:latin typeface="Aptos (Body)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endParaRPr lang="en-US" sz="2100" b="1" i="1" dirty="0">
              <a:solidFill>
                <a:schemeClr val="tx2">
                  <a:lumMod val="50000"/>
                  <a:lumOff val="50000"/>
                </a:schemeClr>
              </a:solidFill>
              <a:latin typeface="Aptos (Body)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100" dirty="0"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7008" y="6511101"/>
            <a:ext cx="2743200" cy="365125"/>
          </a:xfrm>
        </p:spPr>
        <p:txBody>
          <a:bodyPr/>
          <a:lstStyle/>
          <a:p>
            <a:fld id="{644A9409-5B7A-4A68-9AEC-D10994391474}" type="slidenum">
              <a:rPr lang="vi-VN" smtClean="0"/>
              <a:t>8</a:t>
            </a:fld>
            <a:endParaRPr lang="vi-V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8C0351-8BDE-4358-ADE8-0263ADF04E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2920" y="1594534"/>
            <a:ext cx="5664088" cy="44219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8C2F791-8CE4-4BA5-B004-474DF95B41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4722" y="6155272"/>
            <a:ext cx="5790693" cy="538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6175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644" y="217305"/>
            <a:ext cx="9164706" cy="549274"/>
          </a:xfrm>
        </p:spPr>
        <p:txBody>
          <a:bodyPr/>
          <a:lstStyle/>
          <a:p>
            <a:pPr lvl="0"/>
            <a:r>
              <a:rPr lang="en-US" b="1" dirty="0">
                <a:solidFill>
                  <a:srgbClr val="FF0000"/>
                </a:solidFill>
              </a:rPr>
              <a:t>10.1. </a:t>
            </a:r>
            <a:r>
              <a:rPr lang="en-US" dirty="0">
                <a:solidFill>
                  <a:srgbClr val="FF0000"/>
                </a:solidFill>
              </a:rPr>
              <a:t>Simple Programmable Logic Devices (SPLDs)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930" y="927652"/>
            <a:ext cx="10840278" cy="593034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b="1" i="1" dirty="0" err="1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Macrocells</a:t>
            </a:r>
            <a: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 </a:t>
            </a:r>
            <a:b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br>
              <a:rPr lang="en-US" dirty="0"/>
            </a:br>
            <a:b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endParaRPr lang="en-US" b="1" i="1" dirty="0">
              <a:solidFill>
                <a:schemeClr val="tx2">
                  <a:lumMod val="50000"/>
                  <a:lumOff val="50000"/>
                </a:schemeClr>
              </a:solidFill>
              <a:latin typeface="Aptos (Body)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endParaRPr lang="en-US" sz="2100" b="1" i="1" dirty="0">
              <a:solidFill>
                <a:schemeClr val="tx2">
                  <a:lumMod val="50000"/>
                  <a:lumOff val="50000"/>
                </a:schemeClr>
              </a:solidFill>
              <a:latin typeface="Aptos (Body)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100" dirty="0"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7008" y="6511101"/>
            <a:ext cx="2743200" cy="365125"/>
          </a:xfrm>
        </p:spPr>
        <p:txBody>
          <a:bodyPr/>
          <a:lstStyle/>
          <a:p>
            <a:fld id="{644A9409-5B7A-4A68-9AEC-D10994391474}" type="slidenum">
              <a:rPr lang="vi-VN" smtClean="0"/>
              <a:t>9</a:t>
            </a:fld>
            <a:endParaRPr lang="vi-V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0F3F870-FBB2-4CC9-93F6-1926DB9A0A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0521" y="1347504"/>
            <a:ext cx="8850488" cy="5378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0376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2365" y="217305"/>
            <a:ext cx="9336985" cy="549274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10.2.</a:t>
            </a:r>
            <a:r>
              <a:rPr lang="vi-VN" b="1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Complex Programmable Logic Devices (CPLDs)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8139" y="927652"/>
            <a:ext cx="11343861" cy="593034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The CPLD </a:t>
            </a:r>
            <a:b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r>
              <a:rPr lang="en-US" sz="2200" b="1" dirty="0" err="1"/>
              <a:t>CPLD</a:t>
            </a:r>
            <a:r>
              <a:rPr lang="en-US" sz="2200" b="1" dirty="0"/>
              <a:t> (Complex Programmable Logic Device)</a:t>
            </a:r>
            <a:r>
              <a:rPr lang="en-US" sz="2200" dirty="0"/>
              <a:t> is made up of multiple SPLDs connected through programmable interconnections. The internal structure may vary depending on the manufacturer.</a:t>
            </a:r>
            <a:br>
              <a:rPr lang="en-US" dirty="0"/>
            </a:br>
            <a:b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endParaRPr lang="en-US" b="1" i="1" dirty="0">
              <a:solidFill>
                <a:schemeClr val="tx2">
                  <a:lumMod val="50000"/>
                  <a:lumOff val="50000"/>
                </a:schemeClr>
              </a:solidFill>
              <a:latin typeface="Aptos (Body)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endParaRPr lang="en-US" sz="2100" b="1" i="1" dirty="0">
              <a:solidFill>
                <a:schemeClr val="tx2">
                  <a:lumMod val="50000"/>
                  <a:lumOff val="50000"/>
                </a:schemeClr>
              </a:solidFill>
              <a:latin typeface="Aptos (Body)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100" dirty="0"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7008" y="6511101"/>
            <a:ext cx="2743200" cy="365125"/>
          </a:xfrm>
        </p:spPr>
        <p:txBody>
          <a:bodyPr/>
          <a:lstStyle/>
          <a:p>
            <a:fld id="{644A9409-5B7A-4A68-9AEC-D10994391474}" type="slidenum">
              <a:rPr lang="vi-VN" smtClean="0"/>
              <a:t>10</a:t>
            </a:fld>
            <a:endParaRPr lang="vi-V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F4357D7-B867-44DF-A7A9-5A83361A51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9217" y="2052060"/>
            <a:ext cx="5533899" cy="47917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FCAE064-452D-445B-B418-EAEE28F87ED4}"/>
              </a:ext>
            </a:extLst>
          </p:cNvPr>
          <p:cNvSpPr txBox="1"/>
          <p:nvPr/>
        </p:nvSpPr>
        <p:spPr>
          <a:xfrm>
            <a:off x="8389454" y="6179030"/>
            <a:ext cx="329979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i="0" dirty="0">
                <a:solidFill>
                  <a:srgbClr val="0097AD"/>
                </a:solidFill>
                <a:effectLst/>
                <a:latin typeface="Helvetica-Black"/>
              </a:rPr>
              <a:t>FIGURE 10–8</a:t>
            </a:r>
            <a:r>
              <a:rPr lang="en-US" sz="1600" b="0" i="0" dirty="0">
                <a:solidFill>
                  <a:srgbClr val="0097AD"/>
                </a:solidFill>
                <a:effectLst/>
                <a:latin typeface="Helvetica-Black"/>
              </a:rPr>
              <a:t> 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Helvetica" panose="020B0604020202020204" pitchFamily="34" charset="0"/>
              </a:rPr>
              <a:t>Basic block diagram of a generic CPLD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20783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617" y="217305"/>
            <a:ext cx="9323733" cy="549274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10.2.</a:t>
            </a:r>
            <a:r>
              <a:rPr lang="vi-VN" b="1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Complex Programmable Logic Devices (CPLDs)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930" y="927652"/>
            <a:ext cx="10840278" cy="593034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Classic CPLD Architecture </a:t>
            </a:r>
            <a:b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b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b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b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endParaRPr lang="en-US" b="1" i="1" dirty="0">
              <a:solidFill>
                <a:schemeClr val="tx2">
                  <a:lumMod val="50000"/>
                  <a:lumOff val="50000"/>
                </a:schemeClr>
              </a:solidFill>
              <a:latin typeface="Aptos (Body)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endParaRPr lang="en-US" sz="2100" b="1" i="1" dirty="0">
              <a:solidFill>
                <a:schemeClr val="tx2">
                  <a:lumMod val="50000"/>
                  <a:lumOff val="50000"/>
                </a:schemeClr>
              </a:solidFill>
              <a:latin typeface="Aptos (Body)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100" dirty="0"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7008" y="6511101"/>
            <a:ext cx="2743200" cy="365125"/>
          </a:xfrm>
        </p:spPr>
        <p:txBody>
          <a:bodyPr/>
          <a:lstStyle/>
          <a:p>
            <a:fld id="{644A9409-5B7A-4A68-9AEC-D10994391474}" type="slidenum">
              <a:rPr lang="vi-VN" smtClean="0"/>
              <a:t>11</a:t>
            </a:fld>
            <a:endParaRPr lang="vi-V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A4DA578-27D9-4EFF-B441-C22E2008F3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0578" y="1367757"/>
            <a:ext cx="6849770" cy="541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5337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617" y="217305"/>
            <a:ext cx="9323733" cy="549274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10.2.</a:t>
            </a:r>
            <a:r>
              <a:rPr lang="vi-VN" b="1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Complex Programmable Logic Devices (CPLDs)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930" y="927652"/>
            <a:ext cx="10840278" cy="593034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Simplified diagram of a </a:t>
            </a:r>
            <a:r>
              <a:rPr lang="en-US" b="1" i="1" dirty="0" err="1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macrocell</a:t>
            </a:r>
            <a: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 in a typical CPLD </a:t>
            </a:r>
            <a:b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 </a:t>
            </a:r>
            <a:b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b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b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endParaRPr lang="en-US" b="1" i="1" dirty="0">
              <a:solidFill>
                <a:schemeClr val="tx2">
                  <a:lumMod val="50000"/>
                  <a:lumOff val="50000"/>
                </a:schemeClr>
              </a:solidFill>
              <a:latin typeface="Aptos (Body)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endParaRPr lang="en-US" sz="2100" b="1" i="1" dirty="0">
              <a:solidFill>
                <a:schemeClr val="tx2">
                  <a:lumMod val="50000"/>
                  <a:lumOff val="50000"/>
                </a:schemeClr>
              </a:solidFill>
              <a:latin typeface="Aptos (Body)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100" dirty="0"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7008" y="6511101"/>
            <a:ext cx="2743200" cy="365125"/>
          </a:xfrm>
        </p:spPr>
        <p:txBody>
          <a:bodyPr/>
          <a:lstStyle/>
          <a:p>
            <a:fld id="{644A9409-5B7A-4A68-9AEC-D10994391474}" type="slidenum">
              <a:rPr lang="vi-VN" smtClean="0"/>
              <a:t>12</a:t>
            </a:fld>
            <a:endParaRPr lang="vi-V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092413-81D4-4D4C-BDFD-C06C7D94BE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9778" y="1330088"/>
            <a:ext cx="8076188" cy="5363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1543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617" y="217305"/>
            <a:ext cx="9323733" cy="549274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10.2.</a:t>
            </a:r>
            <a:r>
              <a:rPr lang="vi-VN" b="1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Complex Programmable Logic Devices (CPLDs)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930" y="927652"/>
            <a:ext cx="10840278" cy="593034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Parallel Expanders </a:t>
            </a:r>
            <a:br>
              <a:rPr lang="en-US" dirty="0"/>
            </a:br>
            <a:r>
              <a:rPr lang="en-US" sz="2200" dirty="0"/>
              <a:t>Used to </a:t>
            </a:r>
            <a:r>
              <a:rPr lang="en-US" sz="2200" b="1" dirty="0"/>
              <a:t>increase the number of product terms</a:t>
            </a:r>
            <a:r>
              <a:rPr lang="en-US" sz="2200" dirty="0"/>
              <a:t> available to a </a:t>
            </a:r>
            <a:r>
              <a:rPr lang="en-US" sz="2200" dirty="0" err="1"/>
              <a:t>macrocell</a:t>
            </a:r>
            <a:r>
              <a:rPr lang="en-US" sz="2200" dirty="0"/>
              <a:t>.</a:t>
            </a:r>
            <a:endParaRPr lang="vi-VN" sz="2200" dirty="0"/>
          </a:p>
          <a:p>
            <a:pPr marL="0" indent="0">
              <a:buNone/>
            </a:pPr>
            <a:r>
              <a:rPr lang="en-US" sz="2200" b="1" dirty="0"/>
              <a:t>Example</a:t>
            </a:r>
            <a:r>
              <a:rPr lang="vi-VN" sz="2200" b="1" dirty="0"/>
              <a:t>: </a:t>
            </a:r>
            <a:r>
              <a:rPr lang="en-US" sz="2200" dirty="0"/>
              <a:t>A </a:t>
            </a:r>
            <a:r>
              <a:rPr lang="en-US" sz="2200" dirty="0" err="1"/>
              <a:t>macrocell</a:t>
            </a:r>
            <a:r>
              <a:rPr lang="en-US" sz="2200" dirty="0"/>
              <a:t> with 2 product terms borrows </a:t>
            </a:r>
            <a:r>
              <a:rPr lang="en-US" sz="2200" b="1" dirty="0"/>
              <a:t>3 additional terms</a:t>
            </a:r>
            <a:r>
              <a:rPr lang="en-US" sz="2200" dirty="0"/>
              <a:t> via a parallel expander.</a:t>
            </a:r>
          </a:p>
          <a:p>
            <a:pPr marL="0" indent="0">
              <a:lnSpc>
                <a:spcPct val="100000"/>
              </a:lnSpc>
              <a:buNone/>
            </a:pPr>
            <a:b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 </a:t>
            </a:r>
            <a:b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b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b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endParaRPr lang="en-US" b="1" i="1" dirty="0">
              <a:solidFill>
                <a:schemeClr val="tx2">
                  <a:lumMod val="50000"/>
                  <a:lumOff val="50000"/>
                </a:schemeClr>
              </a:solidFill>
              <a:latin typeface="Aptos (Body)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endParaRPr lang="en-US" sz="2100" b="1" i="1" dirty="0">
              <a:solidFill>
                <a:schemeClr val="tx2">
                  <a:lumMod val="50000"/>
                  <a:lumOff val="50000"/>
                </a:schemeClr>
              </a:solidFill>
              <a:latin typeface="Aptos (Body)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100" dirty="0"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7008" y="6511101"/>
            <a:ext cx="2743200" cy="365125"/>
          </a:xfrm>
        </p:spPr>
        <p:txBody>
          <a:bodyPr/>
          <a:lstStyle/>
          <a:p>
            <a:fld id="{644A9409-5B7A-4A68-9AEC-D10994391474}" type="slidenum">
              <a:rPr lang="vi-VN" smtClean="0"/>
              <a:t>13</a:t>
            </a:fld>
            <a:endParaRPr lang="vi-V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CA2B781-4848-4392-80A5-EDAA673ACA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4793" y="2451832"/>
            <a:ext cx="5086151" cy="45039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C11D423-CC4F-4A77-8BF3-5CDC9B6428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1460" y="2975109"/>
            <a:ext cx="7778731" cy="297468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E6768CD-9A9C-444E-A1B5-804FC6A7DB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9539" y="6073726"/>
            <a:ext cx="5675227" cy="528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7563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617" y="217305"/>
            <a:ext cx="9323733" cy="549274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10.2.</a:t>
            </a:r>
            <a:r>
              <a:rPr lang="vi-VN" b="1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Complex Programmable Logic Devices (CPLDs)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930" y="1272209"/>
            <a:ext cx="3802685" cy="5238892"/>
          </a:xfrm>
        </p:spPr>
        <p:txBody>
          <a:bodyPr>
            <a:normAutofit/>
          </a:bodyPr>
          <a:lstStyle/>
          <a:p>
            <a:pPr marL="0" marR="0" indent="0">
              <a:lnSpc>
                <a:spcPct val="130000"/>
              </a:lnSpc>
              <a:buNone/>
            </a:pPr>
            <a: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LUT CPLD Architecture </a:t>
            </a:r>
            <a:b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r>
              <a:rPr lang="en-US" sz="2200" dirty="0">
                <a:effectLst/>
                <a:latin typeface="Aptos (Body)"/>
                <a:ea typeface="Times New Roman" panose="02020603050405020304" pitchFamily="18" charset="0"/>
              </a:rPr>
              <a:t>Uses </a:t>
            </a:r>
            <a:r>
              <a:rPr lang="en-US" sz="2200" b="1" dirty="0">
                <a:effectLst/>
                <a:latin typeface="Aptos (Body)"/>
                <a:ea typeface="Times New Roman" panose="02020603050405020304" pitchFamily="18" charset="0"/>
              </a:rPr>
              <a:t>Logic Elements (LEs)</a:t>
            </a:r>
            <a:r>
              <a:rPr lang="en-US" sz="2200" dirty="0">
                <a:effectLst/>
                <a:latin typeface="Aptos (Body)"/>
                <a:ea typeface="Times New Roman" panose="02020603050405020304" pitchFamily="18" charset="0"/>
              </a:rPr>
              <a:t> inside </a:t>
            </a:r>
            <a:r>
              <a:rPr lang="en-US" sz="2200" b="1" dirty="0">
                <a:effectLst/>
                <a:latin typeface="Aptos (Body)"/>
                <a:ea typeface="Times New Roman" panose="02020603050405020304" pitchFamily="18" charset="0"/>
              </a:rPr>
              <a:t>logic array blocks (LABs)</a:t>
            </a:r>
            <a:r>
              <a:rPr lang="en-US" sz="2200" dirty="0">
                <a:effectLst/>
                <a:latin typeface="Aptos (Body)"/>
                <a:ea typeface="Times New Roman" panose="02020603050405020304" pitchFamily="18" charset="0"/>
              </a:rPr>
              <a:t>, similar to FPGAs.</a:t>
            </a:r>
            <a:r>
              <a:rPr lang="vi-VN" sz="2200" dirty="0">
                <a:effectLst/>
                <a:latin typeface="Aptos (Body)"/>
                <a:ea typeface="Times New Roman" panose="02020603050405020304" pitchFamily="18" charset="0"/>
              </a:rPr>
              <a:t> </a:t>
            </a:r>
            <a:r>
              <a:rPr lang="en-US" sz="2200" dirty="0">
                <a:effectLst/>
                <a:latin typeface="Aptos (Body)"/>
                <a:ea typeface="Times New Roman" panose="02020603050405020304" pitchFamily="18" charset="0"/>
              </a:rPr>
              <a:t>Interconnections are arranged in a </a:t>
            </a:r>
            <a:r>
              <a:rPr lang="en-US" sz="2200" b="1" dirty="0">
                <a:effectLst/>
                <a:latin typeface="Aptos (Body)"/>
                <a:ea typeface="Times New Roman" panose="02020603050405020304" pitchFamily="18" charset="0"/>
              </a:rPr>
              <a:t>row/column structure</a:t>
            </a:r>
            <a:r>
              <a:rPr lang="en-US" sz="2200" dirty="0">
                <a:effectLst/>
                <a:latin typeface="Aptos (Body)"/>
                <a:ea typeface="Times New Roman" panose="02020603050405020304" pitchFamily="18" charset="0"/>
              </a:rPr>
              <a:t> between LABs.</a:t>
            </a:r>
            <a:r>
              <a:rPr lang="vi-VN" sz="2200" dirty="0">
                <a:effectLst/>
                <a:latin typeface="Aptos (Body)"/>
                <a:ea typeface="Times New Roman" panose="02020603050405020304" pitchFamily="18" charset="0"/>
              </a:rPr>
              <a:t> </a:t>
            </a:r>
            <a:r>
              <a:rPr lang="en-US" sz="2200" b="1" dirty="0">
                <a:effectLst/>
                <a:latin typeface="Aptos (Body)"/>
                <a:ea typeface="Times New Roman" panose="02020603050405020304" pitchFamily="18" charset="0"/>
              </a:rPr>
              <a:t>Inputs/outputs (IOEs)</a:t>
            </a:r>
            <a:r>
              <a:rPr lang="en-US" sz="2200" dirty="0">
                <a:effectLst/>
                <a:latin typeface="Aptos (Body)"/>
                <a:ea typeface="Times New Roman" panose="02020603050405020304" pitchFamily="18" charset="0"/>
              </a:rPr>
              <a:t> are around the edges.</a:t>
            </a:r>
          </a:p>
          <a:p>
            <a:pPr marL="0" indent="0">
              <a:lnSpc>
                <a:spcPct val="100000"/>
              </a:lnSpc>
              <a:buNone/>
            </a:pPr>
            <a:endParaRPr lang="en-US" b="1" i="1" dirty="0">
              <a:solidFill>
                <a:schemeClr val="tx2">
                  <a:lumMod val="50000"/>
                  <a:lumOff val="50000"/>
                </a:schemeClr>
              </a:solidFill>
              <a:latin typeface="Aptos (Body)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endParaRPr lang="en-US" sz="2100" b="1" i="1" dirty="0">
              <a:solidFill>
                <a:schemeClr val="tx2">
                  <a:lumMod val="50000"/>
                  <a:lumOff val="50000"/>
                </a:schemeClr>
              </a:solidFill>
              <a:latin typeface="Aptos (Body)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100" dirty="0"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7008" y="6511101"/>
            <a:ext cx="2743200" cy="365125"/>
          </a:xfrm>
        </p:spPr>
        <p:txBody>
          <a:bodyPr/>
          <a:lstStyle/>
          <a:p>
            <a:fld id="{644A9409-5B7A-4A68-9AEC-D10994391474}" type="slidenum">
              <a:rPr lang="vi-VN" smtClean="0"/>
              <a:t>14</a:t>
            </a:fld>
            <a:endParaRPr lang="vi-V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28DE5A2-1BB3-4F1F-A327-031EA5C3BF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2615" y="951440"/>
            <a:ext cx="6504173" cy="5742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3213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617" y="217305"/>
            <a:ext cx="9323733" cy="549274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10.3.</a:t>
            </a:r>
            <a:r>
              <a:rPr lang="vi-VN" b="1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Macrocell</a:t>
            </a:r>
            <a:r>
              <a:rPr lang="en-US" dirty="0">
                <a:solidFill>
                  <a:srgbClr val="FF0000"/>
                </a:solidFill>
              </a:rPr>
              <a:t> Modes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7409" y="927652"/>
            <a:ext cx="10972799" cy="593034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Multiplexer (MUX)</a:t>
            </a:r>
            <a:b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b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b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endParaRPr lang="en-US" b="1" i="1" dirty="0">
              <a:solidFill>
                <a:schemeClr val="tx2">
                  <a:lumMod val="50000"/>
                  <a:lumOff val="50000"/>
                </a:schemeClr>
              </a:solidFill>
              <a:latin typeface="Aptos (Body)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endParaRPr lang="en-US" sz="2100" b="1" i="1" dirty="0">
              <a:solidFill>
                <a:schemeClr val="tx2">
                  <a:lumMod val="50000"/>
                  <a:lumOff val="50000"/>
                </a:schemeClr>
              </a:solidFill>
              <a:latin typeface="Aptos (Body)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100" dirty="0"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7008" y="6511101"/>
            <a:ext cx="2743200" cy="365125"/>
          </a:xfrm>
        </p:spPr>
        <p:txBody>
          <a:bodyPr/>
          <a:lstStyle/>
          <a:p>
            <a:fld id="{644A9409-5B7A-4A68-9AEC-D10994391474}" type="slidenum">
              <a:rPr lang="vi-VN" smtClean="0"/>
              <a:t>15</a:t>
            </a:fld>
            <a:endParaRPr lang="vi-V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7051F5-BA45-49CF-AA62-9931F29281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313" y="2113520"/>
            <a:ext cx="3200847" cy="14480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C5CC6FF-10BC-4ECB-9D2E-72756A95FF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952" y="1378226"/>
            <a:ext cx="8168048" cy="43997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8381224-0AC7-44C2-9874-1A16304462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756" y="6198705"/>
            <a:ext cx="3025930" cy="44199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7CB9A93-8593-49ED-8041-B7FFDD772BCB}"/>
              </a:ext>
            </a:extLst>
          </p:cNvPr>
          <p:cNvSpPr txBox="1"/>
          <p:nvPr/>
        </p:nvSpPr>
        <p:spPr>
          <a:xfrm>
            <a:off x="892090" y="3954356"/>
            <a:ext cx="255929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FIGURE 10–19 </a:t>
            </a:r>
            <a:r>
              <a:rPr lang="en-US" sz="1400" dirty="0">
                <a:latin typeface="Aptos (Body)"/>
              </a:rPr>
              <a:t>Commonly used symbol for a multiplexer. It can have any number of inputs. </a:t>
            </a:r>
            <a:br>
              <a:rPr lang="en-US" sz="1400" dirty="0">
                <a:latin typeface="Aptos (Body)"/>
              </a:rPr>
            </a:br>
            <a:endParaRPr lang="en-US" sz="1400" dirty="0">
              <a:latin typeface="Aptos (Body)"/>
            </a:endParaRPr>
          </a:p>
        </p:txBody>
      </p:sp>
    </p:spTree>
    <p:extLst>
      <p:ext uri="{BB962C8B-B14F-4D97-AF65-F5344CB8AC3E}">
        <p14:creationId xmlns:p14="http://schemas.microsoft.com/office/powerpoint/2010/main" val="852874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617" y="217305"/>
            <a:ext cx="9323733" cy="549274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10.3.</a:t>
            </a:r>
            <a:r>
              <a:rPr lang="vi-VN" b="1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Macrocell</a:t>
            </a:r>
            <a:r>
              <a:rPr lang="en-US" dirty="0">
                <a:solidFill>
                  <a:srgbClr val="FF0000"/>
                </a:solidFill>
              </a:rPr>
              <a:t> Modes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930" y="927652"/>
            <a:ext cx="10840278" cy="593034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The Combinational Mode </a:t>
            </a:r>
            <a:b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b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b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b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endParaRPr lang="en-US" b="1" i="1" dirty="0">
              <a:solidFill>
                <a:schemeClr val="tx2">
                  <a:lumMod val="50000"/>
                  <a:lumOff val="50000"/>
                </a:schemeClr>
              </a:solidFill>
              <a:latin typeface="Aptos (Body)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endParaRPr lang="en-US" sz="2100" b="1" i="1" dirty="0">
              <a:solidFill>
                <a:schemeClr val="tx2">
                  <a:lumMod val="50000"/>
                  <a:lumOff val="50000"/>
                </a:schemeClr>
              </a:solidFill>
              <a:latin typeface="Aptos (Body)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100" dirty="0"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7008" y="6511101"/>
            <a:ext cx="2743200" cy="365125"/>
          </a:xfrm>
        </p:spPr>
        <p:txBody>
          <a:bodyPr/>
          <a:lstStyle/>
          <a:p>
            <a:fld id="{644A9409-5B7A-4A68-9AEC-D10994391474}" type="slidenum">
              <a:rPr lang="vi-VN" smtClean="0"/>
              <a:t>16</a:t>
            </a:fld>
            <a:endParaRPr lang="vi-V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0CF3229-F5C4-4B55-99C8-830C9488E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6765" y="1337794"/>
            <a:ext cx="9583487" cy="47631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11CA796-879E-40EB-8335-A6D01DB39A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9059" y="6187441"/>
            <a:ext cx="6296904" cy="619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0269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617" y="217305"/>
            <a:ext cx="9323733" cy="549274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10.3.</a:t>
            </a:r>
            <a:r>
              <a:rPr lang="vi-VN" b="1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Macrocell</a:t>
            </a:r>
            <a:r>
              <a:rPr lang="en-US" dirty="0">
                <a:solidFill>
                  <a:srgbClr val="FF0000"/>
                </a:solidFill>
              </a:rPr>
              <a:t> Modes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930" y="927652"/>
            <a:ext cx="10840278" cy="593034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The Registered Mode </a:t>
            </a:r>
            <a:br>
              <a:rPr lang="en-US" dirty="0"/>
            </a:br>
            <a:b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b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b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b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endParaRPr lang="en-US" b="1" i="1" dirty="0">
              <a:solidFill>
                <a:schemeClr val="tx2">
                  <a:lumMod val="50000"/>
                  <a:lumOff val="50000"/>
                </a:schemeClr>
              </a:solidFill>
              <a:latin typeface="Aptos (Body)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endParaRPr lang="en-US" sz="2100" b="1" i="1" dirty="0">
              <a:solidFill>
                <a:schemeClr val="tx2">
                  <a:lumMod val="50000"/>
                  <a:lumOff val="50000"/>
                </a:schemeClr>
              </a:solidFill>
              <a:latin typeface="Aptos (Body)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100" dirty="0"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7008" y="6511101"/>
            <a:ext cx="2743200" cy="365125"/>
          </a:xfrm>
        </p:spPr>
        <p:txBody>
          <a:bodyPr/>
          <a:lstStyle/>
          <a:p>
            <a:fld id="{644A9409-5B7A-4A68-9AEC-D10994391474}" type="slidenum">
              <a:rPr lang="vi-VN" smtClean="0"/>
              <a:t>17</a:t>
            </a:fld>
            <a:endParaRPr lang="vi-V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FE4EAA-FE34-472E-9845-7E55E40191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2497" y="1371023"/>
            <a:ext cx="8916111" cy="46164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4066D7F-B33F-462D-AE2E-39C8492B33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9405" y="6068023"/>
            <a:ext cx="7419570" cy="781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5753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617" y="217305"/>
            <a:ext cx="9323733" cy="549274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10.4. </a:t>
            </a:r>
            <a:r>
              <a:rPr lang="en-US" dirty="0">
                <a:solidFill>
                  <a:srgbClr val="FF0000"/>
                </a:solidFill>
              </a:rPr>
              <a:t>Field-Programmable Gate Arrays (FPGAs)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1148" y="927652"/>
            <a:ext cx="11039060" cy="593034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Configurable Logic Blocks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200" b="0" i="0" dirty="0">
                <a:solidFill>
                  <a:srgbClr val="242021"/>
                </a:solidFill>
                <a:effectLst/>
                <a:latin typeface="Aptos (Body)"/>
              </a:rPr>
              <a:t>Basic structure of an FPGA. CLB is configurable logic block, also known as logic array block (LAB)</a:t>
            </a:r>
            <a:r>
              <a:rPr lang="en-US" sz="2200" dirty="0">
                <a:latin typeface="Aptos (Body)"/>
              </a:rPr>
              <a:t> </a:t>
            </a:r>
            <a:br>
              <a:rPr lang="en-US" dirty="0"/>
            </a:br>
            <a: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 </a:t>
            </a:r>
            <a:br>
              <a:rPr lang="en-US" dirty="0"/>
            </a:br>
            <a:b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b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b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endParaRPr lang="en-US" b="1" i="1" dirty="0">
              <a:solidFill>
                <a:schemeClr val="tx2">
                  <a:lumMod val="50000"/>
                  <a:lumOff val="50000"/>
                </a:schemeClr>
              </a:solidFill>
              <a:latin typeface="Aptos (Body)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endParaRPr lang="en-US" sz="2100" b="1" i="1" dirty="0">
              <a:solidFill>
                <a:schemeClr val="tx2">
                  <a:lumMod val="50000"/>
                  <a:lumOff val="50000"/>
                </a:schemeClr>
              </a:solidFill>
              <a:latin typeface="Aptos (Body)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100" dirty="0"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7008" y="6511101"/>
            <a:ext cx="2743200" cy="365125"/>
          </a:xfrm>
        </p:spPr>
        <p:txBody>
          <a:bodyPr/>
          <a:lstStyle/>
          <a:p>
            <a:fld id="{644A9409-5B7A-4A68-9AEC-D10994391474}" type="slidenum">
              <a:rPr lang="vi-VN" smtClean="0"/>
              <a:t>18</a:t>
            </a:fld>
            <a:endParaRPr lang="vi-V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D3DBFF-EE94-462F-8C59-8DD39C959B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815" y="1879876"/>
            <a:ext cx="6217532" cy="49781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E4D1A47-9D22-486A-872C-73427D09E7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6867" y="2128821"/>
            <a:ext cx="5065133" cy="38015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56C1BB9-B2A2-4B48-9B8E-4A2597022A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9643" y="6030272"/>
            <a:ext cx="5812357" cy="561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2966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617" y="217305"/>
            <a:ext cx="9323733" cy="549274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10.4. </a:t>
            </a:r>
            <a:r>
              <a:rPr lang="en-US" dirty="0">
                <a:solidFill>
                  <a:srgbClr val="FF0000"/>
                </a:solidFill>
              </a:rPr>
              <a:t>Field-Programmable Gate Arrays (FPGAs)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930" y="927652"/>
            <a:ext cx="10840278" cy="593034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Logic Modules </a:t>
            </a:r>
            <a:b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b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b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b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endParaRPr lang="en-US" b="1" i="1" dirty="0">
              <a:solidFill>
                <a:schemeClr val="tx2">
                  <a:lumMod val="50000"/>
                  <a:lumOff val="50000"/>
                </a:schemeClr>
              </a:solidFill>
              <a:latin typeface="Aptos (Body)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endParaRPr lang="en-US" sz="2100" b="1" i="1" dirty="0">
              <a:solidFill>
                <a:schemeClr val="tx2">
                  <a:lumMod val="50000"/>
                  <a:lumOff val="50000"/>
                </a:schemeClr>
              </a:solidFill>
              <a:latin typeface="Aptos (Body)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100" dirty="0"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7008" y="6511101"/>
            <a:ext cx="2743200" cy="365125"/>
          </a:xfrm>
        </p:spPr>
        <p:txBody>
          <a:bodyPr/>
          <a:lstStyle/>
          <a:p>
            <a:fld id="{644A9409-5B7A-4A68-9AEC-D10994391474}" type="slidenum">
              <a:rPr lang="vi-VN" smtClean="0"/>
              <a:t>19</a:t>
            </a:fld>
            <a:endParaRPr lang="vi-V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369F567-DA81-48DC-B864-E74E951B02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598" y="2470088"/>
            <a:ext cx="5542402" cy="27223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3C206EB-F532-4AEA-A9B0-45722C07DC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4138" y="1231951"/>
            <a:ext cx="4996070" cy="51986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7A1BFAD-029B-48DF-8DD1-448E4A6786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4124" y="1475024"/>
            <a:ext cx="4286848" cy="60968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DFD1655-EE1B-44FF-81E8-44881D00E6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95" y="5269131"/>
            <a:ext cx="6894124" cy="41642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00A36BC-85E2-482B-AA51-2C7790508A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00079" y="6387258"/>
            <a:ext cx="9088118" cy="42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5664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617" y="217305"/>
            <a:ext cx="9323733" cy="549274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10.4. </a:t>
            </a:r>
            <a:r>
              <a:rPr lang="en-US" dirty="0">
                <a:solidFill>
                  <a:srgbClr val="FF0000"/>
                </a:solidFill>
              </a:rPr>
              <a:t>Field-Programmable Gate Arrays (FPGAs)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930" y="927652"/>
            <a:ext cx="10840278" cy="593034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Operating Modes of a Logic Module </a:t>
            </a:r>
            <a:b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b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b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b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endParaRPr lang="en-US" b="1" i="1" dirty="0">
              <a:solidFill>
                <a:schemeClr val="tx2">
                  <a:lumMod val="50000"/>
                  <a:lumOff val="50000"/>
                </a:schemeClr>
              </a:solidFill>
              <a:latin typeface="Aptos (Body)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endParaRPr lang="en-US" sz="2100" b="1" i="1" dirty="0">
              <a:solidFill>
                <a:schemeClr val="tx2">
                  <a:lumMod val="50000"/>
                  <a:lumOff val="50000"/>
                </a:schemeClr>
              </a:solidFill>
              <a:latin typeface="Aptos (Body)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100" dirty="0"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7008" y="6511101"/>
            <a:ext cx="2743200" cy="365125"/>
          </a:xfrm>
        </p:spPr>
        <p:txBody>
          <a:bodyPr/>
          <a:lstStyle/>
          <a:p>
            <a:fld id="{644A9409-5B7A-4A68-9AEC-D10994391474}" type="slidenum">
              <a:rPr lang="vi-VN" smtClean="0"/>
              <a:t>20</a:t>
            </a:fld>
            <a:endParaRPr lang="vi-V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1D04D72-CC1E-4386-A0D5-89864CB28F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339" y="1500299"/>
            <a:ext cx="4598505" cy="45683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23B7784-C3E0-4144-A5B0-7AD697B43B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7581" y="2166364"/>
            <a:ext cx="6759480" cy="29389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6335419-47C9-4044-AA84-ACCF7DF792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339" y="6017294"/>
            <a:ext cx="6612612" cy="8589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A1C6430-235A-4A65-AD76-7526328B41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2520" y="5105519"/>
            <a:ext cx="6759480" cy="613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1729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617" y="217305"/>
            <a:ext cx="9323733" cy="549274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10.4. </a:t>
            </a:r>
            <a:r>
              <a:rPr lang="en-US" dirty="0">
                <a:solidFill>
                  <a:srgbClr val="FF0000"/>
                </a:solidFill>
              </a:rPr>
              <a:t>Field-Programmable Gate Arrays (FPGAs)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930" y="927652"/>
            <a:ext cx="10840278" cy="593034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SRAM-Based FPGAs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 </a:t>
            </a:r>
            <a:b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b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b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b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endParaRPr lang="en-US" b="1" i="1" dirty="0">
              <a:solidFill>
                <a:schemeClr val="tx2">
                  <a:lumMod val="50000"/>
                  <a:lumOff val="50000"/>
                </a:schemeClr>
              </a:solidFill>
              <a:latin typeface="Aptos (Body)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endParaRPr lang="en-US" sz="2100" b="1" i="1" dirty="0">
              <a:solidFill>
                <a:schemeClr val="tx2">
                  <a:lumMod val="50000"/>
                  <a:lumOff val="50000"/>
                </a:schemeClr>
              </a:solidFill>
              <a:latin typeface="Aptos (Body)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100" dirty="0"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7008" y="6511101"/>
            <a:ext cx="2743200" cy="365125"/>
          </a:xfrm>
        </p:spPr>
        <p:txBody>
          <a:bodyPr/>
          <a:lstStyle/>
          <a:p>
            <a:fld id="{644A9409-5B7A-4A68-9AEC-D10994391474}" type="slidenum">
              <a:rPr lang="vi-VN" smtClean="0"/>
              <a:t>21</a:t>
            </a:fld>
            <a:endParaRPr lang="vi-V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9DDECD4-74A5-4CCB-8CBB-5EF25BCB7B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31" y="6410263"/>
            <a:ext cx="6677957" cy="44773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147DD92-8E99-4CF1-8D0F-28DAB62E29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7832" y="3485670"/>
            <a:ext cx="6754168" cy="270547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8E7110B-43CE-4F23-A7F4-5B24388051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617" y="1455048"/>
            <a:ext cx="6732216" cy="320962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5876B44-2D52-48C9-B3AC-B080B4616D4C}"/>
              </a:ext>
            </a:extLst>
          </p:cNvPr>
          <p:cNvSpPr txBox="1"/>
          <p:nvPr/>
        </p:nvSpPr>
        <p:spPr>
          <a:xfrm>
            <a:off x="2282770" y="5138379"/>
            <a:ext cx="3597909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0" i="0" dirty="0">
                <a:solidFill>
                  <a:srgbClr val="242021"/>
                </a:solidFill>
                <a:effectLst/>
                <a:latin typeface="Aptos (Body)"/>
              </a:rPr>
              <a:t>(b) Volatile FPGA with on-board memory and host processor</a:t>
            </a:r>
            <a:r>
              <a:rPr lang="en-US" sz="2200" dirty="0">
                <a:latin typeface="Aptos (Body)"/>
              </a:rPr>
              <a:t> </a:t>
            </a:r>
            <a:br>
              <a:rPr lang="en-US" sz="2200" dirty="0">
                <a:latin typeface="Aptos (Body)"/>
              </a:rPr>
            </a:br>
            <a:endParaRPr lang="en-US" sz="2200" dirty="0">
              <a:latin typeface="Aptos (Body)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05BE395-4B94-46D2-9061-4F870810BBD1}"/>
              </a:ext>
            </a:extLst>
          </p:cNvPr>
          <p:cNvSpPr txBox="1"/>
          <p:nvPr/>
        </p:nvSpPr>
        <p:spPr>
          <a:xfrm>
            <a:off x="7792333" y="1719167"/>
            <a:ext cx="3803374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0" i="0" dirty="0">
                <a:solidFill>
                  <a:srgbClr val="242021"/>
                </a:solidFill>
                <a:effectLst/>
                <a:latin typeface="Aptos (Body)"/>
              </a:rPr>
              <a:t>(a) Volatile FPGA with on-the-chip nonvolatile configuration memory</a:t>
            </a:r>
            <a:r>
              <a:rPr lang="en-US" sz="2200" dirty="0">
                <a:latin typeface="Aptos (Body)"/>
              </a:rPr>
              <a:t> </a:t>
            </a:r>
            <a:br>
              <a:rPr lang="en-US" sz="2200" dirty="0">
                <a:latin typeface="Aptos (Body)"/>
              </a:rPr>
            </a:br>
            <a:endParaRPr lang="en-US" sz="2200" dirty="0">
              <a:latin typeface="Aptos (Body)"/>
            </a:endParaRPr>
          </a:p>
        </p:txBody>
      </p:sp>
    </p:spTree>
    <p:extLst>
      <p:ext uri="{BB962C8B-B14F-4D97-AF65-F5344CB8AC3E}">
        <p14:creationId xmlns:p14="http://schemas.microsoft.com/office/powerpoint/2010/main" val="33600392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617" y="217305"/>
            <a:ext cx="9323733" cy="549274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10.4. </a:t>
            </a:r>
            <a:r>
              <a:rPr lang="en-US" dirty="0">
                <a:solidFill>
                  <a:srgbClr val="FF0000"/>
                </a:solidFill>
              </a:rPr>
              <a:t>Field-Programmable Gate Arrays (FPGAs)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930" y="927652"/>
            <a:ext cx="10840278" cy="593034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FPGA Cores </a:t>
            </a:r>
            <a:br>
              <a:rPr lang="en-US" dirty="0"/>
            </a:br>
            <a:r>
              <a:rPr lang="en-US" sz="2200" dirty="0"/>
              <a:t>In addition to programmable logic, an FPGA can also contain hard-core logic embedded by the manufacturer.</a:t>
            </a:r>
            <a:br>
              <a:rPr lang="en-US" dirty="0"/>
            </a:br>
            <a: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 </a:t>
            </a:r>
            <a:b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b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b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b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endParaRPr lang="en-US" b="1" i="1" dirty="0">
              <a:solidFill>
                <a:schemeClr val="tx2">
                  <a:lumMod val="50000"/>
                  <a:lumOff val="50000"/>
                </a:schemeClr>
              </a:solidFill>
              <a:latin typeface="Aptos (Body)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endParaRPr lang="en-US" sz="2100" b="1" i="1" dirty="0">
              <a:solidFill>
                <a:schemeClr val="tx2">
                  <a:lumMod val="50000"/>
                  <a:lumOff val="50000"/>
                </a:schemeClr>
              </a:solidFill>
              <a:latin typeface="Aptos (Body)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100" dirty="0"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7008" y="6511101"/>
            <a:ext cx="2743200" cy="365125"/>
          </a:xfrm>
        </p:spPr>
        <p:txBody>
          <a:bodyPr/>
          <a:lstStyle/>
          <a:p>
            <a:fld id="{644A9409-5B7A-4A68-9AEC-D10994391474}" type="slidenum">
              <a:rPr lang="vi-VN" smtClean="0"/>
              <a:t>22</a:t>
            </a:fld>
            <a:endParaRPr lang="vi-V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704128-EBAB-4603-9784-FCDBE91C43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2804" y="2153233"/>
            <a:ext cx="9559031" cy="40620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4E6AB9-1397-401F-9669-64DA0CDB92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4196" y="6189240"/>
            <a:ext cx="6536245" cy="643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0362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617" y="217305"/>
            <a:ext cx="9323733" cy="549274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10.4. </a:t>
            </a:r>
            <a:r>
              <a:rPr lang="en-US" dirty="0">
                <a:solidFill>
                  <a:srgbClr val="FF0000"/>
                </a:solidFill>
              </a:rPr>
              <a:t>Field-Programmable Gate Arrays (FPGAs)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930" y="927652"/>
            <a:ext cx="10840278" cy="593034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Embedded Functions </a:t>
            </a:r>
            <a:br>
              <a:rPr lang="en-US" dirty="0"/>
            </a:br>
            <a:r>
              <a:rPr lang="en-US" sz="2200" dirty="0"/>
              <a:t>FPGAs include </a:t>
            </a:r>
            <a:r>
              <a:rPr lang="en-US" sz="2200" b="1" dirty="0"/>
              <a:t>embedded memory</a:t>
            </a:r>
            <a:r>
              <a:rPr lang="en-US" sz="2200" dirty="0"/>
              <a:t> and </a:t>
            </a:r>
            <a:r>
              <a:rPr lang="en-US" sz="2200" b="1" dirty="0"/>
              <a:t>DSP (Digital Signal Processing)</a:t>
            </a:r>
            <a:r>
              <a:rPr lang="en-US" sz="2200" dirty="0"/>
              <a:t> functions.</a:t>
            </a:r>
            <a:br>
              <a:rPr lang="en-US" sz="2200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br>
              <a:rPr lang="en-US" sz="2200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b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b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endParaRPr lang="en-US" b="1" i="1" dirty="0">
              <a:solidFill>
                <a:schemeClr val="tx2">
                  <a:lumMod val="50000"/>
                  <a:lumOff val="50000"/>
                </a:schemeClr>
              </a:solidFill>
              <a:latin typeface="Aptos (Body)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endParaRPr lang="en-US" sz="2100" b="1" i="1" dirty="0">
              <a:solidFill>
                <a:schemeClr val="tx2">
                  <a:lumMod val="50000"/>
                  <a:lumOff val="50000"/>
                </a:schemeClr>
              </a:solidFill>
              <a:latin typeface="Aptos (Body)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100" dirty="0"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7008" y="6511101"/>
            <a:ext cx="2743200" cy="365125"/>
          </a:xfrm>
        </p:spPr>
        <p:txBody>
          <a:bodyPr/>
          <a:lstStyle/>
          <a:p>
            <a:fld id="{644A9409-5B7A-4A68-9AEC-D10994391474}" type="slidenum">
              <a:rPr lang="vi-VN" smtClean="0"/>
              <a:t>23</a:t>
            </a:fld>
            <a:endParaRPr lang="vi-V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19B406A-2B34-4A1D-B59F-86393D3BA7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3205" y="1682052"/>
            <a:ext cx="6725589" cy="48393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2C790F9-7A76-4758-8062-1909E5CA8F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1365" y="6473984"/>
            <a:ext cx="3439005" cy="333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436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617" y="217305"/>
            <a:ext cx="9323733" cy="549274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10.5. </a:t>
            </a:r>
            <a:r>
              <a:rPr lang="en-US" dirty="0">
                <a:solidFill>
                  <a:srgbClr val="FF0000"/>
                </a:solidFill>
              </a:rPr>
              <a:t>Programmable Logic Software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930" y="927652"/>
            <a:ext cx="10840278" cy="593034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Design Flow in Programmable Logic</a:t>
            </a:r>
            <a:b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b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b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b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endParaRPr lang="en-US" b="1" i="1" dirty="0">
              <a:solidFill>
                <a:schemeClr val="tx2">
                  <a:lumMod val="50000"/>
                  <a:lumOff val="50000"/>
                </a:schemeClr>
              </a:solidFill>
              <a:latin typeface="Aptos (Body)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endParaRPr lang="en-US" sz="2100" b="1" i="1" dirty="0">
              <a:solidFill>
                <a:schemeClr val="tx2">
                  <a:lumMod val="50000"/>
                  <a:lumOff val="50000"/>
                </a:schemeClr>
              </a:solidFill>
              <a:latin typeface="Aptos (Body)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100" dirty="0"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7008" y="6511101"/>
            <a:ext cx="2743200" cy="365125"/>
          </a:xfrm>
        </p:spPr>
        <p:txBody>
          <a:bodyPr/>
          <a:lstStyle/>
          <a:p>
            <a:fld id="{644A9409-5B7A-4A68-9AEC-D10994391474}" type="slidenum">
              <a:rPr lang="vi-VN" smtClean="0"/>
              <a:t>24</a:t>
            </a:fld>
            <a:endParaRPr lang="vi-V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72C992-58DB-420C-9D4C-F4C556E6CF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9808" y="1544242"/>
            <a:ext cx="7519542" cy="46971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85C6239-ADCF-4111-9E6D-06FDCE84DC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7622" y="6282967"/>
            <a:ext cx="9221487" cy="533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7665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617" y="217305"/>
            <a:ext cx="9323733" cy="549274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10.5. </a:t>
            </a:r>
            <a:r>
              <a:rPr lang="en-US" dirty="0">
                <a:solidFill>
                  <a:srgbClr val="FF0000"/>
                </a:solidFill>
              </a:rPr>
              <a:t>Programmable Logic Software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930" y="927652"/>
            <a:ext cx="10840278" cy="593034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Getting Started with Programmable Logic Devices</a:t>
            </a:r>
            <a:b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b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b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b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endParaRPr lang="en-US" b="1" i="1" dirty="0">
              <a:solidFill>
                <a:schemeClr val="tx2">
                  <a:lumMod val="50000"/>
                  <a:lumOff val="50000"/>
                </a:schemeClr>
              </a:solidFill>
              <a:latin typeface="Aptos (Body)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endParaRPr lang="en-US" sz="2100" b="1" i="1" dirty="0">
              <a:solidFill>
                <a:schemeClr val="tx2">
                  <a:lumMod val="50000"/>
                  <a:lumOff val="50000"/>
                </a:schemeClr>
              </a:solidFill>
              <a:latin typeface="Aptos (Body)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100" dirty="0"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7008" y="6511101"/>
            <a:ext cx="2743200" cy="365125"/>
          </a:xfrm>
        </p:spPr>
        <p:txBody>
          <a:bodyPr/>
          <a:lstStyle/>
          <a:p>
            <a:fld id="{644A9409-5B7A-4A68-9AEC-D10994391474}" type="slidenum">
              <a:rPr lang="vi-VN" smtClean="0"/>
              <a:t>25</a:t>
            </a:fld>
            <a:endParaRPr lang="vi-V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FC0349-1F1F-4AD2-B160-0EA99812DC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6209" y="1309955"/>
            <a:ext cx="6824533" cy="462039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5AA936F-8192-47E4-9363-89A67DDC44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5484" y="6068078"/>
            <a:ext cx="7055258" cy="808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1761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617" y="217305"/>
            <a:ext cx="9323733" cy="549274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10.5. </a:t>
            </a:r>
            <a:r>
              <a:rPr lang="en-US" dirty="0">
                <a:solidFill>
                  <a:srgbClr val="FF0000"/>
                </a:solidFill>
              </a:rPr>
              <a:t>Programmable Logic Software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930" y="927652"/>
            <a:ext cx="10840278" cy="593034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Design Entry &amp; Logic Design in PLDs</a:t>
            </a:r>
            <a:b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r>
              <a:rPr lang="en-US" sz="2200" dirty="0"/>
              <a:t>VHDL, Verilog, and schematic capture are all used in PLD development.</a:t>
            </a:r>
            <a:b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b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b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endParaRPr lang="en-US" b="1" i="1" dirty="0">
              <a:solidFill>
                <a:schemeClr val="tx2">
                  <a:lumMod val="50000"/>
                  <a:lumOff val="50000"/>
                </a:schemeClr>
              </a:solidFill>
              <a:latin typeface="Aptos (Body)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endParaRPr lang="en-US" sz="2100" b="1" i="1" dirty="0">
              <a:solidFill>
                <a:schemeClr val="tx2">
                  <a:lumMod val="50000"/>
                  <a:lumOff val="50000"/>
                </a:schemeClr>
              </a:solidFill>
              <a:latin typeface="Aptos (Body)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100" dirty="0"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7008" y="6511101"/>
            <a:ext cx="2743200" cy="365125"/>
          </a:xfrm>
        </p:spPr>
        <p:txBody>
          <a:bodyPr/>
          <a:lstStyle/>
          <a:p>
            <a:fld id="{644A9409-5B7A-4A68-9AEC-D10994391474}" type="slidenum">
              <a:rPr lang="vi-VN" smtClean="0"/>
              <a:t>26</a:t>
            </a:fld>
            <a:endParaRPr lang="vi-V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84C89E-072E-4500-BE7C-4B1B2E4958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426" y="1744089"/>
            <a:ext cx="9221487" cy="46012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ACA8A66-C6E2-46D0-8BA0-85BD5585FD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9500" y="6415889"/>
            <a:ext cx="5792785" cy="442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7174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617" y="217305"/>
            <a:ext cx="9323733" cy="549274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10.5. </a:t>
            </a:r>
            <a:r>
              <a:rPr lang="en-US" dirty="0">
                <a:solidFill>
                  <a:srgbClr val="FF0000"/>
                </a:solidFill>
              </a:rPr>
              <a:t>Programmable Logic Software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930" y="927652"/>
            <a:ext cx="10840278" cy="593034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Programmable Logic </a:t>
            </a:r>
            <a:b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b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b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b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b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endParaRPr lang="en-US" b="1" i="1" dirty="0">
              <a:solidFill>
                <a:schemeClr val="tx2">
                  <a:lumMod val="50000"/>
                  <a:lumOff val="50000"/>
                </a:schemeClr>
              </a:solidFill>
              <a:latin typeface="Aptos (Body)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endParaRPr lang="en-US" sz="2100" b="1" i="1" dirty="0">
              <a:solidFill>
                <a:schemeClr val="tx2">
                  <a:lumMod val="50000"/>
                  <a:lumOff val="50000"/>
                </a:schemeClr>
              </a:solidFill>
              <a:latin typeface="Aptos (Body)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100" dirty="0"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7008" y="6511101"/>
            <a:ext cx="2743200" cy="365125"/>
          </a:xfrm>
        </p:spPr>
        <p:txBody>
          <a:bodyPr/>
          <a:lstStyle/>
          <a:p>
            <a:fld id="{644A9409-5B7A-4A68-9AEC-D10994391474}" type="slidenum">
              <a:rPr lang="vi-VN" smtClean="0"/>
              <a:t>27</a:t>
            </a:fld>
            <a:endParaRPr lang="vi-V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FFC1B5-A057-4465-A82C-C28E1361E5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1499" y="1117127"/>
            <a:ext cx="3632515" cy="97941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CD23F6D-6811-4848-A996-DBEAEC99CB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426" y="1309629"/>
            <a:ext cx="4667077" cy="459074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1E723F2-85C0-4127-B146-A4378EE405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426" y="5918602"/>
            <a:ext cx="6810536" cy="5708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F0E35BD-8D98-4125-B35E-F0B8F010D6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1046" y="2322460"/>
            <a:ext cx="3501024" cy="265796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DF27DB6-3B79-4007-ADC2-377BB82284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9594" y="5240228"/>
            <a:ext cx="4540614" cy="418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6599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617" y="217305"/>
            <a:ext cx="9323733" cy="549274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10.5. </a:t>
            </a:r>
            <a:r>
              <a:rPr lang="en-US" dirty="0">
                <a:solidFill>
                  <a:srgbClr val="FF0000"/>
                </a:solidFill>
              </a:rPr>
              <a:t>Programmable Logic Software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930" y="927652"/>
            <a:ext cx="10840278" cy="593034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Functional Simulation </a:t>
            </a:r>
            <a:b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b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b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b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b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endParaRPr lang="en-US" b="1" i="1" dirty="0">
              <a:solidFill>
                <a:schemeClr val="tx2">
                  <a:lumMod val="50000"/>
                  <a:lumOff val="50000"/>
                </a:schemeClr>
              </a:solidFill>
              <a:latin typeface="Aptos (Body)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endParaRPr lang="en-US" sz="2100" b="1" i="1" dirty="0">
              <a:solidFill>
                <a:schemeClr val="tx2">
                  <a:lumMod val="50000"/>
                  <a:lumOff val="50000"/>
                </a:schemeClr>
              </a:solidFill>
              <a:latin typeface="Aptos (Body)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100" dirty="0"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7008" y="6511101"/>
            <a:ext cx="2743200" cy="365125"/>
          </a:xfrm>
        </p:spPr>
        <p:txBody>
          <a:bodyPr/>
          <a:lstStyle/>
          <a:p>
            <a:fld id="{644A9409-5B7A-4A68-9AEC-D10994391474}" type="slidenum">
              <a:rPr lang="vi-VN" smtClean="0"/>
              <a:t>28</a:t>
            </a:fld>
            <a:endParaRPr lang="vi-V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8F48C2-F509-4677-A5ED-30D3A07CCF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0846" y="1394431"/>
            <a:ext cx="8914376" cy="50361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45DAFBE-CC95-417B-8A0D-0C78D34B37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1425" y="6181339"/>
            <a:ext cx="3684575" cy="575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6512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617" y="217305"/>
            <a:ext cx="9323733" cy="549274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10.5. </a:t>
            </a:r>
            <a:r>
              <a:rPr lang="en-US" dirty="0">
                <a:solidFill>
                  <a:srgbClr val="FF0000"/>
                </a:solidFill>
              </a:rPr>
              <a:t>Programmable Logic Software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930" y="927652"/>
            <a:ext cx="10840278" cy="593034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Device Programming (Downloading) </a:t>
            </a:r>
            <a:b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b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b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b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b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b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endParaRPr lang="en-US" b="1" i="1" dirty="0">
              <a:solidFill>
                <a:schemeClr val="tx2">
                  <a:lumMod val="50000"/>
                  <a:lumOff val="50000"/>
                </a:schemeClr>
              </a:solidFill>
              <a:latin typeface="Aptos (Body)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endParaRPr lang="en-US" sz="2100" b="1" i="1" dirty="0">
              <a:solidFill>
                <a:schemeClr val="tx2">
                  <a:lumMod val="50000"/>
                  <a:lumOff val="50000"/>
                </a:schemeClr>
              </a:solidFill>
              <a:latin typeface="Aptos (Body)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100" dirty="0"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7008" y="6511101"/>
            <a:ext cx="2743200" cy="365125"/>
          </a:xfrm>
        </p:spPr>
        <p:txBody>
          <a:bodyPr/>
          <a:lstStyle/>
          <a:p>
            <a:fld id="{644A9409-5B7A-4A68-9AEC-D10994391474}" type="slidenum">
              <a:rPr lang="vi-VN" smtClean="0"/>
              <a:t>29</a:t>
            </a:fld>
            <a:endParaRPr lang="vi-V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267EF7A-5538-4FDE-A3BC-216BB57646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0705" y="1718848"/>
            <a:ext cx="7630590" cy="400105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174BBB9-12BA-4CC4-B661-AC7B0E48B7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2481" y="5719906"/>
            <a:ext cx="9615175" cy="583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9472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617" y="217305"/>
            <a:ext cx="9323733" cy="549274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10.6. </a:t>
            </a:r>
            <a:r>
              <a:rPr lang="en-US" dirty="0">
                <a:solidFill>
                  <a:srgbClr val="FF0000"/>
                </a:solidFill>
              </a:rPr>
              <a:t>Boundary Scan Logic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1148" y="927652"/>
            <a:ext cx="7513983" cy="5930348"/>
          </a:xfrm>
        </p:spPr>
        <p:txBody>
          <a:bodyPr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IEEE Std. 1149.1 – Boundary Scan Registers &amp; Instructions</a:t>
            </a:r>
            <a:b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r>
              <a:rPr lang="en-US" sz="2200" dirty="0"/>
              <a:t>IEEE 1149.1 is commonly used for testing, verification, and debugging of digital hardware without requiring physical access.</a:t>
            </a:r>
            <a:b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b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b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endParaRPr lang="en-US" b="1" i="1" dirty="0">
              <a:solidFill>
                <a:schemeClr val="tx2">
                  <a:lumMod val="50000"/>
                  <a:lumOff val="50000"/>
                </a:schemeClr>
              </a:solidFill>
              <a:latin typeface="Aptos (Body)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endParaRPr lang="en-US" sz="2100" b="1" i="1" dirty="0">
              <a:solidFill>
                <a:schemeClr val="tx2">
                  <a:lumMod val="50000"/>
                  <a:lumOff val="50000"/>
                </a:schemeClr>
              </a:solidFill>
              <a:latin typeface="Aptos (Body)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100" dirty="0"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7008" y="6511101"/>
            <a:ext cx="2743200" cy="365125"/>
          </a:xfrm>
        </p:spPr>
        <p:txBody>
          <a:bodyPr/>
          <a:lstStyle/>
          <a:p>
            <a:fld id="{644A9409-5B7A-4A68-9AEC-D10994391474}" type="slidenum">
              <a:rPr lang="vi-VN" smtClean="0"/>
              <a:t>30</a:t>
            </a:fld>
            <a:endParaRPr lang="vi-V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46056F-5E90-43A8-959D-271AFE717E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9357" y="1317723"/>
            <a:ext cx="3776869" cy="503006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6D5EC74-0924-4193-99BB-53989877E945}"/>
              </a:ext>
            </a:extLst>
          </p:cNvPr>
          <p:cNvSpPr txBox="1"/>
          <p:nvPr/>
        </p:nvSpPr>
        <p:spPr>
          <a:xfrm>
            <a:off x="927655" y="2435846"/>
            <a:ext cx="7182678" cy="2257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2200" dirty="0"/>
              <a:t>Greatly simplified diagram of a JTAG-compliant (IEEE Std. 1149.1) programmable logic device (CPLD or FPGA). The BSCs (boundary scan cells) form the boundary scan register. Only a small number of BSCs are shown for illustration. </a:t>
            </a:r>
            <a:br>
              <a:rPr lang="en-US" sz="2200" dirty="0"/>
            </a:b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3769018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617" y="217305"/>
            <a:ext cx="9323733" cy="549274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10.6. </a:t>
            </a:r>
            <a:r>
              <a:rPr lang="en-US" dirty="0">
                <a:solidFill>
                  <a:srgbClr val="FF0000"/>
                </a:solidFill>
              </a:rPr>
              <a:t>Boundary Scan Logic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930" y="927652"/>
            <a:ext cx="10840278" cy="593034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IEEE 1149.1 TAP &amp; Boundary Scan Logic</a:t>
            </a:r>
            <a:b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r>
              <a:rPr lang="en-US" sz="2200" dirty="0"/>
              <a:t>The Test Access Port (TAP) consists of control logic, four mandatory inputs and outputs, and one defined optional input, Test Reset (TRST). </a:t>
            </a:r>
            <a:br>
              <a:rPr lang="en-US" sz="2200" dirty="0"/>
            </a:br>
            <a:b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b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b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endParaRPr lang="en-US" b="1" i="1" dirty="0">
              <a:solidFill>
                <a:schemeClr val="tx2">
                  <a:lumMod val="50000"/>
                  <a:lumOff val="50000"/>
                </a:schemeClr>
              </a:solidFill>
              <a:latin typeface="Aptos (Body)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endParaRPr lang="en-US" sz="2100" b="1" i="1" dirty="0">
              <a:solidFill>
                <a:schemeClr val="tx2">
                  <a:lumMod val="50000"/>
                  <a:lumOff val="50000"/>
                </a:schemeClr>
              </a:solidFill>
              <a:latin typeface="Aptos (Body)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100" dirty="0"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7008" y="6511101"/>
            <a:ext cx="2743200" cy="365125"/>
          </a:xfrm>
        </p:spPr>
        <p:txBody>
          <a:bodyPr/>
          <a:lstStyle/>
          <a:p>
            <a:fld id="{644A9409-5B7A-4A68-9AEC-D10994391474}" type="slidenum">
              <a:rPr lang="vi-VN" smtClean="0"/>
              <a:t>31</a:t>
            </a:fld>
            <a:endParaRPr lang="vi-V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78AEB7-8D91-4C1F-92AB-3A86EF9ABB62}"/>
              </a:ext>
            </a:extLst>
          </p:cNvPr>
          <p:cNvSpPr txBox="1"/>
          <p:nvPr/>
        </p:nvSpPr>
        <p:spPr>
          <a:xfrm>
            <a:off x="1099930" y="1984611"/>
            <a:ext cx="4996070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/>
              <a:t>Test Access Port (TAP) </a:t>
            </a:r>
            <a:r>
              <a:rPr lang="en-US" sz="2200" dirty="0"/>
              <a:t>– Main Components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1" dirty="0"/>
              <a:t> TDI (Test Data In) </a:t>
            </a:r>
            <a:r>
              <a:rPr lang="en-US" sz="2200" dirty="0"/>
              <a:t>– Receives test/programming data serially.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1" dirty="0"/>
              <a:t> TDO (Test Data Out) </a:t>
            </a:r>
            <a:r>
              <a:rPr lang="en-US" sz="2200" dirty="0"/>
              <a:t>– Outputs test data/instructions serially.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1" dirty="0"/>
              <a:t> TMS (Test Mode Select) </a:t>
            </a:r>
            <a:r>
              <a:rPr lang="en-US" sz="2200" dirty="0"/>
              <a:t>– Controls the state of the TAP controller.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1" dirty="0"/>
              <a:t> TCK (Test Clock) </a:t>
            </a:r>
            <a:r>
              <a:rPr lang="en-US" sz="2200" dirty="0"/>
              <a:t>– Provides clock signals to coordinate TAP operations.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 </a:t>
            </a:r>
            <a:r>
              <a:rPr lang="en-US" sz="2200" b="1" dirty="0"/>
              <a:t>TRST</a:t>
            </a:r>
            <a:r>
              <a:rPr lang="en-US" sz="2200" dirty="0"/>
              <a:t> – Optional reset input)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8CA956-A41C-4921-BFDE-4AB923CBAC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1288" y="1827291"/>
            <a:ext cx="5809152" cy="481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0721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617" y="217305"/>
            <a:ext cx="9323733" cy="549274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10.6. </a:t>
            </a:r>
            <a:r>
              <a:rPr lang="en-US" dirty="0">
                <a:solidFill>
                  <a:srgbClr val="FF0000"/>
                </a:solidFill>
              </a:rPr>
              <a:t>Boundary Scan Logic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930" y="927652"/>
            <a:ext cx="10840278" cy="593034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The Boundary Scan Cell (BSC) </a:t>
            </a:r>
            <a:br>
              <a:rPr lang="en-US" dirty="0"/>
            </a:br>
            <a:b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b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b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b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endParaRPr lang="en-US" b="1" i="1" dirty="0">
              <a:solidFill>
                <a:schemeClr val="tx2">
                  <a:lumMod val="50000"/>
                  <a:lumOff val="50000"/>
                </a:schemeClr>
              </a:solidFill>
              <a:latin typeface="Aptos (Body)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endParaRPr lang="en-US" sz="2100" b="1" i="1" dirty="0">
              <a:solidFill>
                <a:schemeClr val="tx2">
                  <a:lumMod val="50000"/>
                  <a:lumOff val="50000"/>
                </a:schemeClr>
              </a:solidFill>
              <a:latin typeface="Aptos (Body)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100" dirty="0"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7008" y="6511101"/>
            <a:ext cx="2743200" cy="365125"/>
          </a:xfrm>
        </p:spPr>
        <p:txBody>
          <a:bodyPr/>
          <a:lstStyle/>
          <a:p>
            <a:fld id="{644A9409-5B7A-4A68-9AEC-D10994391474}" type="slidenum">
              <a:rPr lang="vi-VN" smtClean="0"/>
              <a:t>32</a:t>
            </a:fld>
            <a:endParaRPr lang="vi-V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190865-FE97-45F8-B46F-36986B9C2A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265" y="1433234"/>
            <a:ext cx="4096322" cy="39915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18DAF81-E79E-4BD7-B414-31D70350A0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3884" y="1435033"/>
            <a:ext cx="7278116" cy="491558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F65C8B4-7B24-4F8A-B349-A76B18E531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264" y="5585838"/>
            <a:ext cx="4096321" cy="5379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2E33826-3506-48CB-9CB1-A4A95D7B86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9718" y="6407986"/>
            <a:ext cx="7076177" cy="392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1737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617" y="217305"/>
            <a:ext cx="9323733" cy="549274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10.6. </a:t>
            </a:r>
            <a:r>
              <a:rPr lang="en-US" dirty="0">
                <a:solidFill>
                  <a:srgbClr val="FF0000"/>
                </a:solidFill>
              </a:rPr>
              <a:t>Boundary Scan Logic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930" y="927652"/>
            <a:ext cx="10840278" cy="5930348"/>
          </a:xfrm>
        </p:spPr>
        <p:txBody>
          <a:bodyPr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Boundary Scan Testing of Multiple Devices </a:t>
            </a:r>
            <a:b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r>
              <a:rPr lang="en-US" sz="2200" dirty="0"/>
              <a:t>Basic concept of boundary scan testing of multiple devices and interconnections. The test path is shown in red. </a:t>
            </a:r>
            <a:br>
              <a:rPr lang="en-US" sz="2200" dirty="0"/>
            </a:br>
            <a:b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b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b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endParaRPr lang="en-US" b="1" i="1" dirty="0">
              <a:solidFill>
                <a:schemeClr val="tx2">
                  <a:lumMod val="50000"/>
                  <a:lumOff val="50000"/>
                </a:schemeClr>
              </a:solidFill>
              <a:latin typeface="Aptos (Body)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endParaRPr lang="en-US" sz="2100" b="1" i="1" dirty="0">
              <a:solidFill>
                <a:schemeClr val="tx2">
                  <a:lumMod val="50000"/>
                  <a:lumOff val="50000"/>
                </a:schemeClr>
              </a:solidFill>
              <a:latin typeface="Aptos (Body)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100" dirty="0"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7008" y="6511101"/>
            <a:ext cx="2743200" cy="365125"/>
          </a:xfrm>
        </p:spPr>
        <p:txBody>
          <a:bodyPr/>
          <a:lstStyle/>
          <a:p>
            <a:fld id="{644A9409-5B7A-4A68-9AEC-D10994391474}" type="slidenum">
              <a:rPr lang="vi-VN" smtClean="0"/>
              <a:t>33</a:t>
            </a:fld>
            <a:endParaRPr lang="vi-V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BB92D62-319A-4668-AB24-37514FDE38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4173" y="2371812"/>
            <a:ext cx="7951305" cy="4268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0551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B787D-A297-DF1F-4825-FC3889EE1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887" y="217305"/>
            <a:ext cx="9204463" cy="549274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SUMMARY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6E0FDF-6605-A786-B6B6-E7920844DB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3426" y="1479787"/>
            <a:ext cx="10455965" cy="5059128"/>
          </a:xfrm>
        </p:spPr>
        <p:txBody>
          <a:bodyPr>
            <a:noAutofit/>
          </a:bodyPr>
          <a:lstStyle/>
          <a:p>
            <a:pPr marL="342900" marR="0" indent="-342900">
              <a:buFont typeface="+mj-lt"/>
              <a:buAutoNum type="arabicPeriod"/>
            </a:pPr>
            <a:r>
              <a:rPr lang="en-US" sz="2200" b="1" dirty="0"/>
              <a:t>Types of Programmable Logic Devices:</a:t>
            </a:r>
          </a:p>
          <a:p>
            <a:pPr marL="0" marR="0" lvl="0" indent="0">
              <a:buSzPts val="1000"/>
              <a:buNone/>
              <a:tabLst>
                <a:tab pos="457200" algn="l"/>
              </a:tabLst>
            </a:pPr>
            <a:r>
              <a:rPr lang="en-US" sz="1800" dirty="0"/>
              <a:t>	SPLDs include PAL (programmed once) and GAL (reprogrammable).</a:t>
            </a:r>
          </a:p>
          <a:p>
            <a:pPr marL="0" marR="0" lvl="0" indent="0">
              <a:buSzPts val="1000"/>
              <a:buNone/>
              <a:tabLst>
                <a:tab pos="457200" algn="l"/>
              </a:tabLst>
            </a:pPr>
            <a:r>
              <a:rPr lang="en-US" sz="1800" dirty="0"/>
              <a:t>	CPLD is a complex logic device composed of multiple SPLDs with programmable interconnections.</a:t>
            </a:r>
          </a:p>
          <a:p>
            <a:pPr marL="0" marR="0" lvl="0" indent="0">
              <a:buSzPts val="1000"/>
              <a:buNone/>
              <a:tabLst>
                <a:tab pos="457200" algn="l"/>
              </a:tabLst>
            </a:pPr>
            <a:r>
              <a:rPr lang="en-US" sz="1800" dirty="0"/>
              <a:t>	FPGA has a different architecture using LUTs (Look-Up Tables) and CLBs (Configurable Logic Blocks).</a:t>
            </a:r>
          </a:p>
          <a:p>
            <a:pPr marL="0" marR="0" indent="0">
              <a:buNone/>
            </a:pPr>
            <a:r>
              <a:rPr lang="en-US" sz="2200" b="1" dirty="0"/>
              <a:t>2. Structure and Programmability:</a:t>
            </a:r>
          </a:p>
          <a:p>
            <a:pPr marL="0" marR="0" lvl="0" indent="0">
              <a:buSzPts val="1000"/>
              <a:buNone/>
              <a:tabLst>
                <a:tab pos="457200" algn="l"/>
              </a:tabLst>
            </a:pPr>
            <a:r>
              <a:rPr lang="en-US" sz="1800" dirty="0"/>
              <a:t>	Devices consist of logic blocks like LABs or CLBs, each containing </a:t>
            </a:r>
            <a:r>
              <a:rPr lang="en-US" sz="1800" dirty="0" err="1"/>
              <a:t>macrocells</a:t>
            </a:r>
            <a:r>
              <a:rPr lang="en-US" sz="1800" dirty="0"/>
              <a:t>.</a:t>
            </a:r>
          </a:p>
          <a:p>
            <a:pPr marL="0" marR="0" lvl="0" indent="0">
              <a:buSzPts val="1000"/>
              <a:buNone/>
              <a:tabLst>
                <a:tab pos="457200" algn="l"/>
              </a:tabLst>
            </a:pPr>
            <a:r>
              <a:rPr lang="en-US" sz="1800" dirty="0"/>
              <a:t>	</a:t>
            </a:r>
            <a:r>
              <a:rPr lang="en-US" sz="1800" dirty="0" err="1"/>
              <a:t>Macrocells</a:t>
            </a:r>
            <a:r>
              <a:rPr lang="en-US" sz="1800" dirty="0"/>
              <a:t> can operate in two modes: combinational or sequential, depending on the design.</a:t>
            </a:r>
          </a:p>
          <a:p>
            <a:pPr marL="0" marR="0" indent="0">
              <a:buNone/>
            </a:pPr>
            <a:r>
              <a:rPr lang="en-US" sz="2200" b="1" dirty="0"/>
              <a:t>3. Digital Logic Design Process:</a:t>
            </a:r>
          </a:p>
          <a:p>
            <a:pPr marL="0" marR="0" lvl="0" indent="0">
              <a:buSzPts val="1000"/>
              <a:buNone/>
              <a:tabLst>
                <a:tab pos="457200" algn="l"/>
              </a:tabLst>
            </a:pPr>
            <a:r>
              <a:rPr lang="en-US" sz="1800" dirty="0"/>
              <a:t>	Includes steps: design entry, functional simulation, synthesis, implementation, timing simulation, and programming the device.</a:t>
            </a:r>
          </a:p>
          <a:p>
            <a:pPr marL="0" marR="0" lvl="0" indent="0">
              <a:buSzPts val="1000"/>
              <a:buNone/>
              <a:tabLst>
                <a:tab pos="457200" algn="l"/>
              </a:tabLst>
            </a:pPr>
            <a:r>
              <a:rPr lang="en-US" sz="1800" dirty="0"/>
              <a:t>	This process is known as the design flow.</a:t>
            </a:r>
          </a:p>
          <a:p>
            <a:pPr marL="0" marR="0" indent="0">
              <a:buNone/>
            </a:pPr>
            <a:r>
              <a:rPr lang="en-US" sz="2200" b="1" dirty="0"/>
              <a:t>4. Testing and Verification</a:t>
            </a:r>
          </a:p>
          <a:p>
            <a:pPr marL="0" marR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sz="2100" dirty="0">
              <a:latin typeface="Aptos (Body)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sz="2100" dirty="0">
              <a:latin typeface="Aptos (Body)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sz="2100" dirty="0">
              <a:latin typeface="Aptos (Body)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3C51AB-85E1-47DC-B5CD-F6E107480075}"/>
              </a:ext>
            </a:extLst>
          </p:cNvPr>
          <p:cNvSpPr txBox="1"/>
          <p:nvPr/>
        </p:nvSpPr>
        <p:spPr>
          <a:xfrm>
            <a:off x="834887" y="956566"/>
            <a:ext cx="85848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B0F0"/>
                </a:solidFill>
                <a:latin typeface="Aptos (Body)"/>
                <a:cs typeface="Times New Roman" panose="02020603050405020304" pitchFamily="18" charset="0"/>
              </a:rPr>
              <a:t>Chapter 10: Programmable Logic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CF23F5-C312-73D4-727D-A3CBBB3BB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34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867195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9C23C-E04A-4EDE-A572-3C9C5AF03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MULTIPLE-CHOICE TEST AND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951463-7E92-4307-A413-682266047F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982" y="2621884"/>
            <a:ext cx="10515600" cy="197662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dirty="0">
                <a:solidFill>
                  <a:srgbClr val="0070C0"/>
                </a:solidFill>
              </a:rPr>
              <a:t>Complete the true/false questions, multiple-choice questions, and end-of-chapter exercises in the primary textbook.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CA8595-C7DB-4A6B-833E-76AEA3A08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35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6047237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6199</TotalTime>
  <Words>1284</Words>
  <Application>Microsoft Office PowerPoint</Application>
  <PresentationFormat>Widescreen</PresentationFormat>
  <Paragraphs>173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3" baseType="lpstr">
      <vt:lpstr>Aptos</vt:lpstr>
      <vt:lpstr>Aptos (Body)</vt:lpstr>
      <vt:lpstr>Aptos Display</vt:lpstr>
      <vt:lpstr>Arial</vt:lpstr>
      <vt:lpstr>Helvetica</vt:lpstr>
      <vt:lpstr>Helvetica-Black</vt:lpstr>
      <vt:lpstr>Times New Roman</vt:lpstr>
      <vt:lpstr>Office Theme</vt:lpstr>
      <vt:lpstr>Chapter 10: Programmable Logic      </vt:lpstr>
      <vt:lpstr>Chapter Objectives</vt:lpstr>
      <vt:lpstr>Chapter Outline</vt:lpstr>
      <vt:lpstr>10.1. Simple Programmable Logic Devices (SPLDs)</vt:lpstr>
      <vt:lpstr>10.1. Simple Programmable Logic Devices (SPLDs)</vt:lpstr>
      <vt:lpstr>10.1. Simple Programmable Logic Devices (SPLDs)</vt:lpstr>
      <vt:lpstr>10.1. Simple Programmable Logic Devices (SPLDs)</vt:lpstr>
      <vt:lpstr>10.1. Simple Programmable Logic Devices (SPLDs)</vt:lpstr>
      <vt:lpstr>10.1. Simple Programmable Logic Devices (SPLDs)</vt:lpstr>
      <vt:lpstr>10.2. Complex Programmable Logic Devices (CPLDs)</vt:lpstr>
      <vt:lpstr>10.2. Complex Programmable Logic Devices (CPLDs)</vt:lpstr>
      <vt:lpstr>10.2. Complex Programmable Logic Devices (CPLDs)</vt:lpstr>
      <vt:lpstr>10.2. Complex Programmable Logic Devices (CPLDs)</vt:lpstr>
      <vt:lpstr>10.2. Complex Programmable Logic Devices (CPLDs)</vt:lpstr>
      <vt:lpstr>10.3. Macrocell Modes</vt:lpstr>
      <vt:lpstr>10.3. Macrocell Modes</vt:lpstr>
      <vt:lpstr>10.3. Macrocell Modes</vt:lpstr>
      <vt:lpstr>10.4. Field-Programmable Gate Arrays (FPGAs)</vt:lpstr>
      <vt:lpstr>10.4. Field-Programmable Gate Arrays (FPGAs)</vt:lpstr>
      <vt:lpstr>10.4. Field-Programmable Gate Arrays (FPGAs)</vt:lpstr>
      <vt:lpstr>10.4. Field-Programmable Gate Arrays (FPGAs)</vt:lpstr>
      <vt:lpstr>10.4. Field-Programmable Gate Arrays (FPGAs)</vt:lpstr>
      <vt:lpstr>10.4. Field-Programmable Gate Arrays (FPGAs)</vt:lpstr>
      <vt:lpstr>10.5. Programmable Logic Software</vt:lpstr>
      <vt:lpstr>10.5. Programmable Logic Software</vt:lpstr>
      <vt:lpstr>10.5. Programmable Logic Software</vt:lpstr>
      <vt:lpstr>10.5. Programmable Logic Software</vt:lpstr>
      <vt:lpstr>10.5. Programmable Logic Software</vt:lpstr>
      <vt:lpstr>10.5. Programmable Logic Software</vt:lpstr>
      <vt:lpstr>10.6. Boundary Scan Logic</vt:lpstr>
      <vt:lpstr>10.6. Boundary Scan Logic</vt:lpstr>
      <vt:lpstr>10.6. Boundary Scan Logic</vt:lpstr>
      <vt:lpstr>10.6. Boundary Scan Logic</vt:lpstr>
      <vt:lpstr>SUMMARY</vt:lpstr>
      <vt:lpstr>MULTIPLE-CHOICE TEST AND PROBLEMS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overview Chapter 1: Electrical fundamentals 1.1. Fundamentals units (SI) 1.2. Conductors, insulators, voltage and resistance 1.3. Ohm’s Law 1.4. Electric fields 1.5. Magnetic fields 1.6. Circuit diagrams 1.7. Practical investigation &amp; Problems</dc:title>
  <dc:creator>MaiCV2</dc:creator>
  <cp:keywords>ICI101</cp:keywords>
  <cp:lastModifiedBy>Đặng Văn Hiếu</cp:lastModifiedBy>
  <cp:revision>199</cp:revision>
  <dcterms:created xsi:type="dcterms:W3CDTF">2024-04-08T01:59:57Z</dcterms:created>
  <dcterms:modified xsi:type="dcterms:W3CDTF">2025-08-27T03:46:06Z</dcterms:modified>
</cp:coreProperties>
</file>