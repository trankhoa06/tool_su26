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8" r:id="rId2"/>
    <p:sldId id="327" r:id="rId3"/>
    <p:sldId id="296" r:id="rId4"/>
    <p:sldId id="329" r:id="rId5"/>
    <p:sldId id="330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52" r:id="rId24"/>
    <p:sldId id="349" r:id="rId25"/>
    <p:sldId id="350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00" r:id="rId41"/>
    <p:sldId id="36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15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33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83660468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2368251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0B5C0-74F0-4EC6-A51D-11457A899F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093"/>
            <a:ext cx="12192000" cy="69076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1E02220-0385-4125-BDB5-59B8FEFF7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32" y="3278144"/>
            <a:ext cx="10515600" cy="5492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1: </a:t>
            </a:r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99EF-8D3C-452B-935C-C3A0B15262A2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78CCE1-A7DE-F222-F3C0-FAB53CC3E40F}"/>
              </a:ext>
            </a:extLst>
          </p:cNvPr>
          <p:cNvGrpSpPr/>
          <p:nvPr userDrawn="1"/>
        </p:nvGrpSpPr>
        <p:grpSpPr>
          <a:xfrm>
            <a:off x="10566400" y="-5737"/>
            <a:ext cx="1625600" cy="1213792"/>
            <a:chOff x="7924800" y="-5737"/>
            <a:chExt cx="1219200" cy="121379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9A6EB5-51CE-4781-B164-2A67653CBBD5}"/>
                </a:ext>
              </a:extLst>
            </p:cNvPr>
            <p:cNvGrpSpPr/>
            <p:nvPr userDrawn="1"/>
          </p:nvGrpSpPr>
          <p:grpSpPr>
            <a:xfrm rot="10800000">
              <a:off x="8737600" y="-5737"/>
              <a:ext cx="406400" cy="406400"/>
              <a:chOff x="4388744" y="4805680"/>
              <a:chExt cx="406400" cy="406400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EF925B-CCED-3ED6-A724-D231382E7FAE}"/>
                </a:ext>
              </a:extLst>
            </p:cNvPr>
            <p:cNvGrpSpPr/>
            <p:nvPr userDrawn="1"/>
          </p:nvGrpSpPr>
          <p:grpSpPr>
            <a:xfrm rot="10800000">
              <a:off x="8737600" y="395255"/>
              <a:ext cx="406400" cy="406400"/>
              <a:chOff x="4388744" y="4805680"/>
              <a:chExt cx="406400" cy="40640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46E5D2-3503-0CA5-5F0A-EB3B0DF62742}"/>
                </a:ext>
              </a:extLst>
            </p:cNvPr>
            <p:cNvGrpSpPr/>
            <p:nvPr userDrawn="1"/>
          </p:nvGrpSpPr>
          <p:grpSpPr>
            <a:xfrm rot="10800000">
              <a:off x="8737600" y="801655"/>
              <a:ext cx="406400" cy="406400"/>
              <a:chOff x="4388744" y="4805680"/>
              <a:chExt cx="406400" cy="40640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0317D3-6B3D-2DF1-0986-9A0970332111}"/>
                </a:ext>
              </a:extLst>
            </p:cNvPr>
            <p:cNvGrpSpPr/>
            <p:nvPr userDrawn="1"/>
          </p:nvGrpSpPr>
          <p:grpSpPr>
            <a:xfrm rot="10800000">
              <a:off x="8331200" y="399790"/>
              <a:ext cx="406400" cy="406400"/>
              <a:chOff x="4388744" y="4805680"/>
              <a:chExt cx="406400" cy="40640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FDE1C15-F987-A9D6-90C9-FCC16E16565E}"/>
                </a:ext>
              </a:extLst>
            </p:cNvPr>
            <p:cNvGrpSpPr/>
            <p:nvPr userDrawn="1"/>
          </p:nvGrpSpPr>
          <p:grpSpPr>
            <a:xfrm rot="10800000">
              <a:off x="8331200" y="-5737"/>
              <a:ext cx="406400" cy="406400"/>
              <a:chOff x="4388744" y="4805680"/>
              <a:chExt cx="406400" cy="40640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205393-F4AA-F4B4-AD11-0C74DE379B3D}"/>
                </a:ext>
              </a:extLst>
            </p:cNvPr>
            <p:cNvGrpSpPr/>
            <p:nvPr userDrawn="1"/>
          </p:nvGrpSpPr>
          <p:grpSpPr>
            <a:xfrm rot="10800000">
              <a:off x="7924800" y="0"/>
              <a:ext cx="406400" cy="406400"/>
              <a:chOff x="4388744" y="4805680"/>
              <a:chExt cx="406400" cy="406400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4D367E-E1F8-341D-D917-08BD1F010572}"/>
              </a:ext>
            </a:extLst>
          </p:cNvPr>
          <p:cNvGrpSpPr/>
          <p:nvPr userDrawn="1"/>
        </p:nvGrpSpPr>
        <p:grpSpPr>
          <a:xfrm>
            <a:off x="0" y="5223817"/>
            <a:ext cx="2167467" cy="1627220"/>
            <a:chOff x="0" y="5223817"/>
            <a:chExt cx="1625600" cy="162722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C158FEA-DEF2-99FD-0979-F462D61695E2}"/>
                </a:ext>
              </a:extLst>
            </p:cNvPr>
            <p:cNvGrpSpPr/>
            <p:nvPr userDrawn="1"/>
          </p:nvGrpSpPr>
          <p:grpSpPr>
            <a:xfrm>
              <a:off x="0" y="6444637"/>
              <a:ext cx="406400" cy="406400"/>
              <a:chOff x="4388744" y="4805680"/>
              <a:chExt cx="406400" cy="40640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6989AF4-E961-10A8-F915-9DFEC26E085C}"/>
                </a:ext>
              </a:extLst>
            </p:cNvPr>
            <p:cNvGrpSpPr/>
            <p:nvPr userDrawn="1"/>
          </p:nvGrpSpPr>
          <p:grpSpPr>
            <a:xfrm>
              <a:off x="0" y="6036687"/>
              <a:ext cx="406400" cy="406400"/>
              <a:chOff x="4388744" y="4805680"/>
              <a:chExt cx="406400" cy="40640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246BD03-559E-886D-81AC-DBFB87CADBF9}"/>
                </a:ext>
              </a:extLst>
            </p:cNvPr>
            <p:cNvGrpSpPr/>
            <p:nvPr userDrawn="1"/>
          </p:nvGrpSpPr>
          <p:grpSpPr>
            <a:xfrm>
              <a:off x="0" y="5627513"/>
              <a:ext cx="406400" cy="406400"/>
              <a:chOff x="4388744" y="4805680"/>
              <a:chExt cx="406400" cy="40640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28B65E6-9A0C-F7BE-BC2D-BDD3DD7B8218}"/>
                </a:ext>
              </a:extLst>
            </p:cNvPr>
            <p:cNvGrpSpPr/>
            <p:nvPr userDrawn="1"/>
          </p:nvGrpSpPr>
          <p:grpSpPr>
            <a:xfrm>
              <a:off x="406400" y="6039110"/>
              <a:ext cx="406400" cy="406400"/>
              <a:chOff x="4388744" y="4805680"/>
              <a:chExt cx="406400" cy="40640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116C4A8-5AE4-E1A8-6E48-4A1C5234432D}"/>
                </a:ext>
              </a:extLst>
            </p:cNvPr>
            <p:cNvGrpSpPr/>
            <p:nvPr userDrawn="1"/>
          </p:nvGrpSpPr>
          <p:grpSpPr>
            <a:xfrm>
              <a:off x="406400" y="6444637"/>
              <a:ext cx="406400" cy="406400"/>
              <a:chOff x="4388744" y="4805680"/>
              <a:chExt cx="406400" cy="40640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37ABB6-45A0-FED1-0AAC-59A550733ECA}"/>
                </a:ext>
              </a:extLst>
            </p:cNvPr>
            <p:cNvGrpSpPr/>
            <p:nvPr userDrawn="1"/>
          </p:nvGrpSpPr>
          <p:grpSpPr>
            <a:xfrm>
              <a:off x="812800" y="6438900"/>
              <a:ext cx="406400" cy="406400"/>
              <a:chOff x="4388744" y="4805680"/>
              <a:chExt cx="406400" cy="40640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20C747-7466-D5D7-568D-2A3BFAFCDBFB}"/>
                </a:ext>
              </a:extLst>
            </p:cNvPr>
            <p:cNvGrpSpPr/>
            <p:nvPr userDrawn="1"/>
          </p:nvGrpSpPr>
          <p:grpSpPr>
            <a:xfrm>
              <a:off x="0" y="5223817"/>
              <a:ext cx="406400" cy="406400"/>
              <a:chOff x="4388744" y="4805680"/>
              <a:chExt cx="406400" cy="40640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D65BDAA-B74A-ED26-EBA5-74251871D610}"/>
                </a:ext>
              </a:extLst>
            </p:cNvPr>
            <p:cNvGrpSpPr/>
            <p:nvPr userDrawn="1"/>
          </p:nvGrpSpPr>
          <p:grpSpPr>
            <a:xfrm>
              <a:off x="406400" y="5634752"/>
              <a:ext cx="406400" cy="406400"/>
              <a:chOff x="4388744" y="4805680"/>
              <a:chExt cx="406400" cy="40640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B5BA187-B815-DCCA-A175-F6AB12C44120}"/>
                </a:ext>
              </a:extLst>
            </p:cNvPr>
            <p:cNvGrpSpPr/>
            <p:nvPr userDrawn="1"/>
          </p:nvGrpSpPr>
          <p:grpSpPr>
            <a:xfrm>
              <a:off x="795664" y="6038237"/>
              <a:ext cx="406400" cy="406400"/>
              <a:chOff x="4388744" y="4805680"/>
              <a:chExt cx="406400" cy="40640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9EC07A9-39B6-2A62-45F8-D31E81902E36}"/>
                </a:ext>
              </a:extLst>
            </p:cNvPr>
            <p:cNvGrpSpPr/>
            <p:nvPr userDrawn="1"/>
          </p:nvGrpSpPr>
          <p:grpSpPr>
            <a:xfrm>
              <a:off x="1219200" y="6433833"/>
              <a:ext cx="406400" cy="406400"/>
              <a:chOff x="4388744" y="4805680"/>
              <a:chExt cx="406400" cy="40640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200" y="773819"/>
            <a:ext cx="10244667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D40F12B-C8B7-47FD-9A66-8C604B484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2349455" y="2334255"/>
            <a:ext cx="5240782" cy="54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026" y="1"/>
            <a:ext cx="4412974" cy="527436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Chapter 1: Introductory Concepts</a:t>
            </a:r>
            <a:endParaRPr lang="vi-V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305"/>
            <a:ext cx="920115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478" y="851303"/>
            <a:ext cx="11181522" cy="570783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After studying this chapter, students should be able to: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100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sz="2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the basic differences between digital and analog quantities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Show how voltage levels are used to represent digital quantities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Describe various parameters of a pulse waveform such as rise time, fall time, pulse width, frequency, period, and duty cycle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Explain the basic logic functions of NOT, AND, and OR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Describe several types of logic operations and explain their application in an example system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Describe programmable logic, discuss the various types, and describe how PLDs are programmed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Identify fixed-function digital integrated circuits according to their complexity and the type of circuit packaging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Identify pin numbers on integrated circuit packages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Recognize various instruments and understand how they are used in measurement and troubleshooting digital circuits and systems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100" dirty="0">
              <a:solidFill>
                <a:srgbClr val="0D0D0D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B9C3314-EA8F-4264-A427-B52B4ED40BA8}"/>
              </a:ext>
            </a:extLst>
          </p:cNvPr>
          <p:cNvSpPr txBox="1">
            <a:spLocks/>
          </p:cNvSpPr>
          <p:nvPr/>
        </p:nvSpPr>
        <p:spPr>
          <a:xfrm>
            <a:off x="2152650" y="3941529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217305"/>
            <a:ext cx="9257472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Outline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164" y="926295"/>
            <a:ext cx="10880035" cy="50505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1.1 Digital and Analog Quantities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1.2 Binary Digits, Logic Levels, and Digital Waveforms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1.3 Basic Logic Functions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1.4 Combinational and Sequential Logic Functions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1.5 Introduction to Programmable Logic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1.6 Fixed-Function Logic Devices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1.7 Test and Measurement Instruments </a:t>
            </a:r>
            <a:b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1.8 Introduction to Troubleshooting </a:t>
            </a:r>
            <a:br>
              <a:rPr lang="en-US" dirty="0">
                <a:latin typeface="Aptos Display (Headings)"/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Multiple-choice test and Problems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B9C3314-EA8F-4264-A427-B52B4ED40BA8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1.1. </a:t>
            </a:r>
            <a:r>
              <a:rPr lang="en-US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Digital and Analog Quantities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3" y="927653"/>
            <a:ext cx="11065565" cy="5407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Electronic circuits can be divided into two broad categories, digital and analog.</a:t>
            </a: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Define analog</a:t>
            </a:r>
            <a:endParaRPr lang="en-US" dirty="0"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Define digital</a:t>
            </a:r>
            <a:endParaRPr lang="en-US" dirty="0"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Explain the difference between digital and analog quantities</a:t>
            </a:r>
            <a:endParaRPr lang="en-US" dirty="0"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The advantages of digital over analog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0070C0"/>
                </a:solidFill>
              </a:rPr>
              <a:t>An analog quantity is one having continuous values. </a:t>
            </a:r>
            <a:r>
              <a:rPr lang="en-US" sz="2000" i="1" dirty="0">
                <a:solidFill>
                  <a:srgbClr val="0070C0"/>
                </a:solidFill>
                <a:latin typeface="Aptos Display (Headings)"/>
              </a:rPr>
              <a:t>A digital quantity is one having a discrete set of values.</a:t>
            </a:r>
            <a:endParaRPr lang="en-US" sz="2300" i="1" dirty="0">
              <a:solidFill>
                <a:srgbClr val="0070C0"/>
              </a:solidFill>
              <a:latin typeface="Aptos Display (Headings)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i="1" dirty="0">
              <a:solidFill>
                <a:srgbClr val="FF0000"/>
              </a:solidFill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3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B77F3-2BF0-4367-A09C-96BABF68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22" y="3917121"/>
            <a:ext cx="5197121" cy="25524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166F32-514A-4A93-A467-9FBE3A8C1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22" y="3990719"/>
            <a:ext cx="4910341" cy="271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3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5" y="217305"/>
            <a:ext cx="9217715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1.1. </a:t>
            </a:r>
            <a:r>
              <a:rPr lang="en-US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Digital and Analog Quantities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67409"/>
            <a:ext cx="9379834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An Analog System </a:t>
            </a:r>
            <a:br>
              <a:rPr lang="en-US" sz="2000" dirty="0"/>
            </a:br>
            <a:endParaRPr lang="en-US" sz="2300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46C31-5D9C-4485-A6FB-976AB802A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530" y="1747353"/>
            <a:ext cx="8834171" cy="458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0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0" y="217305"/>
            <a:ext cx="924422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1.1. </a:t>
            </a:r>
            <a:r>
              <a:rPr lang="en-US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Digital and Analog Quantities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0" y="967409"/>
            <a:ext cx="940633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A System Using Digital and Analog Methods </a:t>
            </a:r>
            <a:br>
              <a:rPr lang="en-US" sz="2000" dirty="0"/>
            </a:br>
            <a:r>
              <a:rPr lang="en-US" sz="2300" b="1" i="1" dirty="0">
                <a:solidFill>
                  <a:srgbClr val="0070C0"/>
                </a:solidFill>
              </a:rPr>
              <a:t> </a:t>
            </a:r>
            <a:br>
              <a:rPr lang="en-US" sz="2000" dirty="0"/>
            </a:br>
            <a:endParaRPr lang="en-US" sz="2300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E18D8-0875-48EE-933B-89273F5FD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87" y="1627742"/>
            <a:ext cx="9449416" cy="471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7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17305"/>
            <a:ext cx="9204463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1.1. </a:t>
            </a:r>
            <a:r>
              <a:rPr lang="en-US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Digital and Analog Quantities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530144A-9F75-EC36-599B-77662C755DD7}"/>
              </a:ext>
            </a:extLst>
          </p:cNvPr>
          <p:cNvSpPr txBox="1">
            <a:spLocks/>
          </p:cNvSpPr>
          <p:nvPr/>
        </p:nvSpPr>
        <p:spPr>
          <a:xfrm>
            <a:off x="2152650" y="3941530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967409"/>
            <a:ext cx="10972799" cy="53680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Mechatronics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Both digital and analog electronics are used in the control of various mechanical systems. The interdisciplinary field that comprises both mechanical and electronic components is known as </a:t>
            </a:r>
            <a:r>
              <a:rPr lang="en-US" b="1" dirty="0"/>
              <a:t>mechatronics</a:t>
            </a:r>
            <a:r>
              <a:rPr lang="en-US" dirty="0"/>
              <a:t>.</a:t>
            </a:r>
            <a:br>
              <a:rPr lang="en-US" sz="2000" dirty="0"/>
            </a:br>
            <a:endParaRPr lang="en-US" sz="2300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C2720-396D-4283-8FF8-8537C87A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22" y="2504661"/>
            <a:ext cx="9937905" cy="430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1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148" y="136525"/>
            <a:ext cx="7606749" cy="630055"/>
          </a:xfrm>
        </p:spPr>
        <p:txBody>
          <a:bodyPr/>
          <a:lstStyle/>
          <a:p>
            <a:pPr lvl="0"/>
            <a:r>
              <a:rPr lang="en-US" sz="2600" dirty="0">
                <a:solidFill>
                  <a:srgbClr val="FF0000"/>
                </a:solidFill>
                <a:latin typeface="Aptos (Body)"/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(Body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  <a:latin typeface="Aptos (Body)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8" y="967409"/>
            <a:ext cx="1093304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Binary Digits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Each of the two digits in the binary system, 1 and 0, is called a bit, which is a contraction of the words binary digit. In digital circuits, two different voltage levels are used to represent the two bits.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i="1" dirty="0">
              <a:solidFill>
                <a:srgbClr val="FF0000"/>
              </a:solidFill>
              <a:latin typeface="Aptos Display (Headings)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i="1" dirty="0">
              <a:solidFill>
                <a:srgbClr val="FF0000"/>
              </a:solidFill>
              <a:latin typeface="Aptos Display (Headings)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F286B-9285-4532-B63A-30DA17A09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405" y="3771378"/>
            <a:ext cx="3769145" cy="674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31B9F6-07C9-4A42-9613-7E6CF5FAF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452" y="2257367"/>
            <a:ext cx="3480341" cy="44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98" y="136525"/>
            <a:ext cx="8540803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98" y="988273"/>
            <a:ext cx="11009154" cy="53680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Digital Waveforms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242021"/>
                </a:solidFill>
                <a:latin typeface="Aptos (Body)"/>
              </a:rPr>
              <a:t>Digital waveforms consist of voltage levels that are changing back and forth between the HIGH and LOW levels or states. </a:t>
            </a:r>
            <a:br>
              <a:rPr lang="en-US" sz="1600" dirty="0"/>
            </a:br>
            <a:endParaRPr lang="en-US" sz="2000" i="1" dirty="0">
              <a:solidFill>
                <a:srgbClr val="FF0000"/>
              </a:solidFill>
              <a:latin typeface="Aptos Display (Headings)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300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08EFB1-EC1F-44FC-BDCA-9FA6E277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77" y="2827153"/>
            <a:ext cx="10830475" cy="352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05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211338" cy="53680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The Pulse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2000" dirty="0"/>
            </a:br>
            <a:endParaRPr lang="en-US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300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C76D4-0887-4678-A06A-6692CE22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37" y="1592404"/>
            <a:ext cx="8776736" cy="476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8" y="136525"/>
            <a:ext cx="8613914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8" y="988273"/>
            <a:ext cx="11039060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i="1" dirty="0">
                <a:solidFill>
                  <a:srgbClr val="0070C0"/>
                </a:solidFill>
              </a:rPr>
              <a:t>Waveform Characteristics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Most waveforms encountered in digital systems are composed of series of pulses, sometimes called </a:t>
            </a:r>
            <a:r>
              <a:rPr lang="en-US" sz="2000" i="1" dirty="0"/>
              <a:t>pulse trains</a:t>
            </a:r>
            <a:r>
              <a:rPr lang="en-US" sz="2000" dirty="0"/>
              <a:t>, and can be classified as either periodic or nonperiodic.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300" i="1" dirty="0">
              <a:solidFill>
                <a:srgbClr val="FF000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F19B3-A030-4F82-A5B3-672042A66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47" y="2284231"/>
            <a:ext cx="11344949" cy="2819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D1A6C1-BA13-4220-A609-4F1D37EE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221" y="5387041"/>
            <a:ext cx="1362029" cy="922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7945F4-08FA-4FE8-974F-692DD9C90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030" y="5387042"/>
            <a:ext cx="1362028" cy="972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1CA13D-E9F5-4397-B249-8E6672B41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77" y="5361935"/>
            <a:ext cx="3544052" cy="97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6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96" y="136525"/>
            <a:ext cx="8560905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96" y="988273"/>
            <a:ext cx="10747513" cy="53680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The Clock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In digital systems, all waveforms are synchronized with a basic timing waveform </a:t>
            </a:r>
            <a:r>
              <a:rPr lang="en-US" i="1" dirty="0"/>
              <a:t>called</a:t>
            </a:r>
            <a:r>
              <a:rPr lang="en-US" dirty="0"/>
              <a:t> the clock. The clock is a periodic waveform in which each interval between pulses (the period) equals the time for one bit.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EDDC0-49DB-4A65-A157-78558F7E7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60" y="2612761"/>
            <a:ext cx="9827942" cy="41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26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140" y="136525"/>
            <a:ext cx="8600662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140" y="988273"/>
            <a:ext cx="11237843" cy="53680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Timing Diagrams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A </a:t>
            </a:r>
            <a:r>
              <a:rPr lang="en-US" i="1" dirty="0"/>
              <a:t>timing diagram</a:t>
            </a:r>
            <a:r>
              <a:rPr lang="en-US" dirty="0"/>
              <a:t> is a graph of digital waveforms showing the actual time relationship of two or more waveforms and how each waveform changes in relation to the others.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64889-CACD-4298-BE7A-D99D7A71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3" y="2282963"/>
            <a:ext cx="9620818" cy="45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8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</a:rPr>
              <a:t>Timing Diagrams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A </a:t>
            </a:r>
            <a:r>
              <a:rPr lang="en-US" i="1" dirty="0"/>
              <a:t>timing diagram</a:t>
            </a:r>
            <a:r>
              <a:rPr lang="en-US" dirty="0"/>
              <a:t> is a graph of digital waveforms showing the actual time relationship of two or more waveforms and how each waveform changes in relation to the others.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64889-CACD-4298-BE7A-D99D7A71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649" y="2318144"/>
            <a:ext cx="9546837" cy="453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15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1.2. </a:t>
            </a:r>
            <a:r>
              <a:rPr lang="en-US" sz="2600" dirty="0">
                <a:solidFill>
                  <a:srgbClr val="FF0000"/>
                </a:solidFill>
                <a:latin typeface="Aptos Display (Headings)"/>
                <a:ea typeface="Calibri" panose="020F0502020204030204" pitchFamily="34" charset="0"/>
                <a:cs typeface="Times New Roman" panose="02020603050405020304" pitchFamily="18" charset="0"/>
              </a:rPr>
              <a:t>Binary Digits, Logic Levels, and Digital Waveforms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i="1" dirty="0">
                <a:solidFill>
                  <a:srgbClr val="0070C0"/>
                </a:solidFill>
              </a:rPr>
              <a:t>Data Transfer </a:t>
            </a:r>
            <a:br>
              <a:rPr lang="en-US" sz="2000" dirty="0"/>
            </a:br>
            <a:r>
              <a:rPr lang="en-US" sz="2100" b="1" dirty="0"/>
              <a:t>Data</a:t>
            </a:r>
            <a:r>
              <a:rPr lang="en-US" sz="2100" dirty="0"/>
              <a:t> refers to groups of bits that convey some type of information. Binary data, which are represented by digital waveforms, must be transferred from one device to another within a digital system or from one system to another in order to accomplish a given purpose.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9CA57-C08C-4565-B251-AB55E97E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64" y="2526431"/>
            <a:ext cx="10061671" cy="43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93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Basic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1219199"/>
            <a:ext cx="10707755" cy="513715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Three basic logic functions (NOT, AND, and OR) are indicated by standard distinctive shape symbols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2562A-DD81-48D7-9761-DED5BEB0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51" y="2680651"/>
            <a:ext cx="9745698" cy="221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59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Basic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NOT GATE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When the input is HIGH (1), the output is LOW (0). When the input is LOW, the output is HIGH. In either case, the output is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not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same as the input. The NOT function is implemented by a logic circuit known as an </a:t>
            </a:r>
            <a:r>
              <a:rPr lang="en-US" b="1" i="0" dirty="0">
                <a:solidFill>
                  <a:srgbClr val="006D96"/>
                </a:solidFill>
                <a:effectLst/>
                <a:latin typeface="Aptos (Body)"/>
              </a:rPr>
              <a:t>inverter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73C380-2EF8-4E2E-A753-AD7ECEB91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862" y="3672312"/>
            <a:ext cx="9044275" cy="129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73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Basic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1258957"/>
            <a:ext cx="11158329" cy="50973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AND GATE</a:t>
            </a:r>
            <a:br>
              <a:rPr lang="en-US" sz="2100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When one input is HIGH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and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other input is HIGH, the output is HIGH. When any or all inputs are LOW, the output is LOW. The AND function is implemented by a logic circuit known as an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AND gate.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0433D-0F1F-4FFD-B782-E908C9CFF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34" y="3153526"/>
            <a:ext cx="9507030" cy="320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1.3. Basic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OR GATE</a:t>
            </a:r>
            <a:br>
              <a:rPr lang="en-US" sz="2100" dirty="0"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When one input is HIGH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or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other input is HIGH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or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both inputs are HIGH, the output is HIGH. When both inputs are LOW, the output is LOW. The OR function is implemented by a logic circuit known as an </a:t>
            </a:r>
            <a:r>
              <a:rPr lang="en-US" b="0" i="1" dirty="0">
                <a:solidFill>
                  <a:srgbClr val="242021"/>
                </a:solidFill>
                <a:effectLst/>
                <a:latin typeface="Aptos (Body)"/>
              </a:rPr>
              <a:t>OR gate.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716D3-83EA-402D-9F92-96B638644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16" y="2925480"/>
            <a:ext cx="9104102" cy="29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4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Combinational and Sequential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Comparison Function 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r>
              <a:rPr lang="en-US" b="1" dirty="0"/>
              <a:t>Magnitude</a:t>
            </a:r>
            <a:r>
              <a:rPr lang="en-US" dirty="0"/>
              <a:t> comparison is performed by a logic circuit called a </a:t>
            </a:r>
            <a:r>
              <a:rPr lang="en-US" b="1" dirty="0"/>
              <a:t>comparator. 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endParaRPr lang="en-US" sz="2100" b="1" i="1" dirty="0">
              <a:solidFill>
                <a:srgbClr val="0070C0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ABD98-50CD-48EA-B901-F8C78973F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971" y="2370364"/>
            <a:ext cx="9538353" cy="398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86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Combinational and Sequential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Arithmetic Functions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0" dirty="0">
                <a:solidFill>
                  <a:srgbClr val="0090D6"/>
                </a:solidFill>
                <a:effectLst/>
                <a:latin typeface="Aptos (Body)"/>
              </a:rPr>
              <a:t>Addition</a:t>
            </a:r>
            <a:br>
              <a:rPr lang="en-US" sz="2100" b="1" i="0" dirty="0">
                <a:solidFill>
                  <a:srgbClr val="0090D6"/>
                </a:solidFill>
                <a:effectLst/>
                <a:latin typeface="Aptos (Body)"/>
              </a:rPr>
            </a:br>
            <a:r>
              <a:rPr lang="en-US" b="0" i="0" dirty="0" err="1">
                <a:solidFill>
                  <a:srgbClr val="242021"/>
                </a:solidFill>
                <a:effectLst/>
                <a:latin typeface="Aptos (Body)"/>
              </a:rPr>
              <a:t>Addition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 is performed by a logic circuit called an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adder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r>
              <a:rPr lang="en-US" sz="2100" b="1" i="1" dirty="0">
                <a:solidFill>
                  <a:srgbClr val="0070C0"/>
                </a:solidFill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2F2E9-37BE-4DF3-BD49-834EEA54C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42" y="2620284"/>
            <a:ext cx="10217002" cy="373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11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Combinational and Sequential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i="1" dirty="0">
                <a:solidFill>
                  <a:srgbClr val="0070C0"/>
                </a:solidFill>
                <a:latin typeface="Aptos (Body)"/>
              </a:rPr>
              <a:t>The Encoding Function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100" b="0" i="0" dirty="0">
                <a:solidFill>
                  <a:srgbClr val="242021"/>
                </a:solidFill>
                <a:effectLst/>
                <a:latin typeface="Aptos (Body)"/>
              </a:rPr>
              <a:t>The encoding function is performed by a logic circuit called an </a:t>
            </a:r>
            <a:r>
              <a:rPr lang="en-US" sz="2100" b="1" i="0" dirty="0">
                <a:solidFill>
                  <a:srgbClr val="242021"/>
                </a:solidFill>
                <a:effectLst/>
                <a:latin typeface="Aptos (Body)"/>
              </a:rPr>
              <a:t>encoder.</a:t>
            </a:r>
            <a:r>
              <a:rPr lang="en-US" sz="2100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EF1F8D-39FA-400D-B0C6-75486CC7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05" y="1968339"/>
            <a:ext cx="9464172" cy="460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09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Combinational and Sequential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Data Selection Function </a:t>
            </a:r>
            <a:br>
              <a:rPr lang="en-US" sz="1600" dirty="0"/>
            </a:br>
            <a:r>
              <a:rPr lang="en-US" dirty="0">
                <a:solidFill>
                  <a:srgbClr val="242021"/>
                </a:solidFill>
                <a:latin typeface="Aptos (Body)"/>
              </a:rPr>
              <a:t>Two types of circuits that select data are the multiplexer and the demultiplexer. The multiplexer, or mux for short, is a logic circuit that switches digital data from several input lines onto a single output line in a specified time sequence.</a:t>
            </a: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br>
              <a:rPr lang="en-US" sz="2100" dirty="0">
                <a:solidFill>
                  <a:srgbClr val="242021"/>
                </a:solidFill>
                <a:latin typeface="Aptos (Body)"/>
              </a:rPr>
            </a:br>
            <a:endParaRPr lang="en-US" sz="2100" dirty="0">
              <a:solidFill>
                <a:srgbClr val="242021"/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3665B6-BD7F-4DA4-98DD-69A264A7F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91" y="2686340"/>
            <a:ext cx="9880218" cy="385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5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Combinational and Sequential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1158329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Registers</a:t>
            </a:r>
            <a:br>
              <a:rPr lang="en-US" sz="2100" b="1" i="0" dirty="0">
                <a:solidFill>
                  <a:srgbClr val="0090D6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 </a:t>
            </a:r>
            <a:r>
              <a:rPr lang="en-US" b="1" i="0" dirty="0">
                <a:solidFill>
                  <a:srgbClr val="242021"/>
                </a:solidFill>
                <a:effectLst/>
                <a:latin typeface="Aptos (Body)"/>
              </a:rPr>
              <a:t>register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is formed by combining several flip-flops so that groups of bits can be stored.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21EDE2-2F28-4604-84AB-C0C4D88AD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34" y="2183189"/>
            <a:ext cx="6583939" cy="430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93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1.4. Combinational and Sequential Logic Functions </a:t>
            </a:r>
            <a:endParaRPr lang="vi-VN" sz="2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4200938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General Operation</a:t>
            </a:r>
            <a:br>
              <a:rPr lang="en-US" sz="2100" dirty="0">
                <a:latin typeface="Aptos (Body)"/>
              </a:rPr>
            </a:br>
            <a:r>
              <a:rPr lang="en-US" dirty="0">
                <a:latin typeface="Aptos (Body)"/>
              </a:rPr>
              <a:t>The maximum number of tablets per bottle is entered from the keypad, changed to a code by the </a:t>
            </a:r>
            <a:r>
              <a:rPr lang="en-US" b="1" dirty="0">
                <a:latin typeface="Aptos (Body)"/>
              </a:rPr>
              <a:t>Encoder</a:t>
            </a:r>
            <a:r>
              <a:rPr lang="en-US" dirty="0">
                <a:latin typeface="Aptos (Body)"/>
              </a:rPr>
              <a:t>, and stored in </a:t>
            </a:r>
            <a:r>
              <a:rPr lang="en-US" b="1" dirty="0">
                <a:latin typeface="Aptos (Body)"/>
              </a:rPr>
              <a:t>Register A</a:t>
            </a:r>
            <a:r>
              <a:rPr lang="en-US" dirty="0">
                <a:latin typeface="Aptos (Body)"/>
              </a:rPr>
              <a:t>.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B7929A-301F-466C-97AB-29762F857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67" y="875471"/>
            <a:ext cx="6267412" cy="598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13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Introduction to Programmable Logic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946294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Programmable Logic Devices (PLDs) </a:t>
            </a:r>
            <a:br>
              <a:rPr lang="en-US" sz="2400" b="1" i="1" dirty="0">
                <a:solidFill>
                  <a:srgbClr val="0070C0"/>
                </a:solidFill>
                <a:latin typeface="Aptos (Body)"/>
              </a:rPr>
            </a:br>
            <a:r>
              <a:rPr lang="en-US" dirty="0">
                <a:latin typeface="Aptos (Body)"/>
              </a:rPr>
              <a:t>Two major categories of user-programmable logic are </a:t>
            </a:r>
            <a:r>
              <a:rPr lang="en-US" b="1" dirty="0">
                <a:latin typeface="Aptos (Body)"/>
              </a:rPr>
              <a:t>PLD</a:t>
            </a:r>
            <a:r>
              <a:rPr lang="en-US" dirty="0">
                <a:latin typeface="Aptos (Body)"/>
              </a:rPr>
              <a:t> (programmable logic device) and </a:t>
            </a:r>
            <a:r>
              <a:rPr lang="en-US" b="1" dirty="0">
                <a:latin typeface="Aptos (Body)"/>
              </a:rPr>
              <a:t>FPGA</a:t>
            </a:r>
            <a:r>
              <a:rPr lang="en-US" dirty="0">
                <a:latin typeface="Aptos (Body)"/>
              </a:rPr>
              <a:t> (field-programmable gate array), as indicated in Figure 1–29. PLDs are either </a:t>
            </a:r>
            <a:r>
              <a:rPr lang="en-US" b="1" dirty="0">
                <a:latin typeface="Aptos (Body)"/>
              </a:rPr>
              <a:t>SPLDs</a:t>
            </a:r>
            <a:r>
              <a:rPr lang="en-US" dirty="0">
                <a:latin typeface="Aptos (Body)"/>
              </a:rPr>
              <a:t> (simple PLDs) or </a:t>
            </a:r>
            <a:r>
              <a:rPr lang="en-US" b="1" dirty="0">
                <a:latin typeface="Aptos (Body)"/>
              </a:rPr>
              <a:t>CPLDs</a:t>
            </a:r>
            <a:r>
              <a:rPr lang="en-US" dirty="0">
                <a:latin typeface="Aptos (Body)"/>
              </a:rPr>
              <a:t> (complex PLDs).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B75A8-CD73-4478-A44A-89C82F97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4" y="2754811"/>
            <a:ext cx="4265237" cy="2862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C25ED-17D9-4CA6-9B83-13691B3C4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880" y="3419412"/>
            <a:ext cx="7266120" cy="219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55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Introduction to Programmable Logic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Simple Programmable Logic Device (SPLD)</a:t>
            </a:r>
            <a:br>
              <a:rPr lang="en-US" b="1" i="1" dirty="0">
                <a:solidFill>
                  <a:srgbClr val="0070C0"/>
                </a:solidFill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SPLD was the original PLD and is still available for small-scale applications.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Complex Programmable Logic Device (CPLD)</a:t>
            </a:r>
            <a:br>
              <a:rPr lang="en-US" b="1" i="1" dirty="0">
                <a:solidFill>
                  <a:srgbClr val="0070C0"/>
                </a:solidFill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As technology progressed and the amount of circuitry that could be put on a chip (chip</a:t>
            </a:r>
            <a:r>
              <a:rPr lang="vi-VN" b="0" i="0" dirty="0">
                <a:solidFill>
                  <a:srgbClr val="242021"/>
                </a:solidFill>
                <a:effectLst/>
                <a:latin typeface="Aptos (Body)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density) increased, manufacturers were able to put more than one SPLD on a single chip</a:t>
            </a:r>
            <a:r>
              <a:rPr lang="vi-VN" b="0" i="0" dirty="0">
                <a:solidFill>
                  <a:srgbClr val="242021"/>
                </a:solidFill>
                <a:effectLst/>
                <a:latin typeface="Aptos (Body)"/>
              </a:rPr>
              <a:t>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and the CPLD was born. </a:t>
            </a: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48B1D-1D0A-43ED-B16D-638FF1F4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3872353"/>
            <a:ext cx="3022611" cy="2299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44678D-6FF2-4981-8EEB-E7FEE059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59" y="3366626"/>
            <a:ext cx="6796680" cy="28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20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Introduction to Programmable Logic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Field-Programmable Gate Array (FPGA)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An </a:t>
            </a:r>
            <a:r>
              <a:rPr lang="en-US" b="1" i="0" dirty="0">
                <a:solidFill>
                  <a:srgbClr val="006D96"/>
                </a:solidFill>
                <a:effectLst/>
                <a:latin typeface="Aptos (Body)"/>
              </a:rPr>
              <a:t>FPGA </a:t>
            </a: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is generally more complex and has a much higher density than a CPLD, although their applications can sometimes overlap.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EDE41-B726-4442-B026-456260DFC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2365080"/>
            <a:ext cx="5336965" cy="4492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5C8BD5-3A21-4FEB-AFC4-616CBB3BD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7" y="2927494"/>
            <a:ext cx="5772913" cy="245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75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1.5. Introduction to Programmable Logic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Programming Process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An SPLD, CPLD, or FPGA can be thought of as a “blank slate” on which you implement a specified circuit or system design using a certain process. 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453" y="6424613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7AED90-D22F-46B3-A2D5-992B4CAEC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27" y="2412437"/>
            <a:ext cx="5626073" cy="3792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9C071C-2C28-43CB-A4B9-5944E7C9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57" y="1979050"/>
            <a:ext cx="4341695" cy="444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78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1.6. Fixed-Function Logic Devices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0" i="0" dirty="0">
                <a:solidFill>
                  <a:srgbClr val="242021"/>
                </a:solidFill>
                <a:effectLst/>
                <a:latin typeface="Aptos (Body)"/>
              </a:rPr>
              <a:t>A monolithic </a:t>
            </a:r>
            <a:r>
              <a:rPr lang="en-US" sz="2100" b="1" i="0" dirty="0">
                <a:solidFill>
                  <a:srgbClr val="006D96"/>
                </a:solidFill>
                <a:effectLst/>
                <a:latin typeface="Aptos (Body)"/>
              </a:rPr>
              <a:t>integrated circuit (IC) </a:t>
            </a:r>
            <a:r>
              <a:rPr lang="en-US" sz="2100" b="0" i="0" dirty="0">
                <a:solidFill>
                  <a:srgbClr val="242021"/>
                </a:solidFill>
                <a:effectLst/>
                <a:latin typeface="Aptos (Body)"/>
              </a:rPr>
              <a:t>is an electronic circuit that is constructed entirely on a single small chip of silicon. All the components that make up the circuit—transistors, diodes, resistors, and capacitors—are an integral part of that single chip. Fixed-function logic and programmable logic are two broad categories of digital ICs. In </a:t>
            </a:r>
            <a:r>
              <a:rPr lang="en-US" sz="2100" b="1" i="0" dirty="0">
                <a:solidFill>
                  <a:srgbClr val="006D96"/>
                </a:solidFill>
                <a:effectLst/>
                <a:latin typeface="Aptos (Body)"/>
              </a:rPr>
              <a:t>fixed-function logic </a:t>
            </a:r>
            <a:r>
              <a:rPr lang="en-US" sz="2100" b="0" i="0" dirty="0">
                <a:solidFill>
                  <a:srgbClr val="242021"/>
                </a:solidFill>
                <a:effectLst/>
                <a:latin typeface="Aptos (Body)"/>
              </a:rPr>
              <a:t>devices, the logic functions are set by the manufacturer and cannot be altered.</a:t>
            </a:r>
            <a:r>
              <a:rPr lang="en-US" sz="2100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D2C64-85C6-4557-A147-03400245C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659" y="2662176"/>
            <a:ext cx="8758682" cy="391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56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1.6. Fixed-Function Logic Devices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IC Packages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Integrated circuit (IC) packages are classified according to the way they are mounted on printed circuit boards (PCBs) as either through-hole mounted or surface mounted.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CC378-BCAA-4049-BD74-CDEA62CA5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3422760"/>
            <a:ext cx="5300869" cy="2650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0C6BB5-C651-4036-BCE9-35D2CCB3D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542" y="2459301"/>
            <a:ext cx="5801535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77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1.6. Fixed-Function Logic Devices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Pin Numbering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All IC packages have a standard format for numbering the pins (leads).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21BC8-BCA3-48B9-B946-2C4A3DC41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32" y="2287301"/>
            <a:ext cx="7577396" cy="368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42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Test and Measurement Instruments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Oscilloscope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The oscilloscope (scope for short) is one of the most widely used instruments for general testing and troubleshooting. 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E8528-8519-4326-B5EB-849569EC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2656889"/>
            <a:ext cx="4744279" cy="4159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657E48-6C3F-4F8F-999A-3469E7A6D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219" y="2435195"/>
            <a:ext cx="7001250" cy="392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90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Test and Measurement Instruments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Oscilloscope Controls</a:t>
            </a:r>
            <a:br>
              <a:rPr lang="en-US" sz="2100" b="1" i="0" dirty="0">
                <a:solidFill>
                  <a:srgbClr val="0090D6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A front panel view of a typical four-channel digital oscilloscope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6461" y="6456599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F96718-0EAB-4CAD-8756-CABED7A3E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9" y="2267184"/>
            <a:ext cx="7516382" cy="3769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FDEB16-73F3-4B39-A218-EE919504E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254" y="1899647"/>
            <a:ext cx="4002879" cy="1958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3B15C-0A77-473A-91BF-50F993BA8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255" y="4633697"/>
            <a:ext cx="4002879" cy="172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604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Test and Measurement Instruments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Logic Analyzer</a:t>
            </a:r>
            <a:br>
              <a:rPr lang="en-US" sz="2100" b="0" i="0" dirty="0">
                <a:solidFill>
                  <a:srgbClr val="00803E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Logic analyzers are used for measurements of multiple digital signals and measurement situations with difficult trigger requirements. 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146A9-1BE6-45CF-8950-4DD14121E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7" y="2589470"/>
            <a:ext cx="5213111" cy="3719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74B4ED-B2AB-4503-B67D-96C908A6A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244" y="2874582"/>
            <a:ext cx="6605756" cy="35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68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Test and Measurement Instruments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Analysis and Display</a:t>
            </a:r>
            <a:br>
              <a:rPr lang="en-US" sz="2100" b="1" i="0" dirty="0">
                <a:solidFill>
                  <a:srgbClr val="0090D6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Once data has been sampled and stored in the acquisition memory, it can typically be used in several different display and analysis modes.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1FA67-C48C-4A07-AB40-A2CFC18C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990" y="2614889"/>
            <a:ext cx="7702020" cy="374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36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1.7. Test and Measurement Instruments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The DC Power Supply</a:t>
            </a:r>
            <a:br>
              <a:rPr lang="en-US" sz="1800" b="0" i="0" dirty="0">
                <a:solidFill>
                  <a:srgbClr val="00803E"/>
                </a:solidFill>
                <a:effectLst/>
                <a:latin typeface="Helvetica" panose="020B0604020202020204" pitchFamily="34" charset="0"/>
              </a:rPr>
            </a:br>
            <a:r>
              <a:rPr lang="en-US" dirty="0">
                <a:solidFill>
                  <a:srgbClr val="242021"/>
                </a:solidFill>
                <a:latin typeface="Aptos (Body)"/>
              </a:rPr>
              <a:t>This instrument is an indispensable instrument on any test bench. </a:t>
            </a: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37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D68EA-1AF1-4B84-B0B4-D74B9812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" y="2410422"/>
            <a:ext cx="5539409" cy="3203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700DC7-C760-44D8-9D2B-B4611AA22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5" y="2927817"/>
            <a:ext cx="5684640" cy="26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24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1.8. Introduction to Troubleshooting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Half-Splitting Method</a:t>
            </a:r>
            <a:br>
              <a:rPr lang="en-US" sz="2100" b="1" i="0" dirty="0">
                <a:solidFill>
                  <a:srgbClr val="0090D6"/>
                </a:solidFill>
                <a:effectLst/>
                <a:latin typeface="Aptos (Body)"/>
              </a:rPr>
            </a:br>
            <a:r>
              <a:rPr lang="en-US" b="0" i="0" dirty="0">
                <a:solidFill>
                  <a:srgbClr val="242021"/>
                </a:solidFill>
                <a:effectLst/>
                <a:latin typeface="Aptos (Body)"/>
              </a:rPr>
              <a:t>In this procedure, you check for the presence or absence of a signal at a point halfway between input and output.</a:t>
            </a:r>
            <a:r>
              <a:rPr lang="en-US" dirty="0">
                <a:latin typeface="Aptos (Body)"/>
              </a:rPr>
              <a:t> </a:t>
            </a:r>
            <a:br>
              <a:rPr lang="en-US" sz="2100" dirty="0">
                <a:latin typeface="Aptos (Body)"/>
              </a:rPr>
            </a:br>
            <a:br>
              <a:rPr lang="en-US" sz="2100" b="1" i="1" dirty="0">
                <a:solidFill>
                  <a:srgbClr val="0070C0"/>
                </a:solidFill>
                <a:latin typeface="Aptos (Body)"/>
              </a:rPr>
            </a:br>
            <a:br>
              <a:rPr lang="en-US" sz="2100" dirty="0">
                <a:latin typeface="Aptos (Body)"/>
              </a:rPr>
            </a:b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EB35D-7BAA-43E4-A871-FB3A1AFB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186" y="2152472"/>
            <a:ext cx="8568276" cy="470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08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6" y="136525"/>
            <a:ext cx="8627166" cy="630055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1.8. Introduction to Troubleshooting 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6" y="988273"/>
            <a:ext cx="10813773" cy="5368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Aptos (Body)"/>
              </a:rPr>
              <a:t>Signal-Tracing Method</a:t>
            </a:r>
            <a:br>
              <a:rPr lang="en-US" sz="1800" b="1" i="0" dirty="0">
                <a:solidFill>
                  <a:srgbClr val="0090D6"/>
                </a:solidFill>
                <a:effectLst/>
                <a:latin typeface="Helvetica-Bold"/>
              </a:rPr>
            </a:br>
            <a:r>
              <a:rPr lang="en-US" dirty="0">
                <a:solidFill>
                  <a:srgbClr val="242021"/>
                </a:solidFill>
                <a:latin typeface="Aptos (Body)"/>
              </a:rPr>
              <a:t>Signal tracing is the procedure of tracking signals as they progress through a system from input to output. </a:t>
            </a:r>
            <a:br>
              <a:rPr lang="en-US" sz="2100" dirty="0">
                <a:latin typeface="Aptos (Body)"/>
              </a:rPr>
            </a:b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EFB0D-AEA0-4216-9288-6ACD98D6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219" y="2065679"/>
            <a:ext cx="9456605" cy="451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64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787D-A297-DF1F-4825-FC3889EE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17305"/>
            <a:ext cx="9204463" cy="54927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SUMMARY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E0FDF-6605-A786-B6B6-E7920844D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183" y="1519382"/>
            <a:ext cx="10694504" cy="5338618"/>
          </a:xfrm>
        </p:spPr>
        <p:txBody>
          <a:bodyPr>
            <a:noAutofit/>
          </a:bodyPr>
          <a:lstStyle/>
          <a:p>
            <a:pPr marL="0" marR="0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Analog signals are continuous; digital signals have discrete values.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Frequency and period are inversely related: </a:t>
            </a:r>
          </a:p>
          <a:p>
            <a:pPr marL="0" marR="0"/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Duty cycle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the ratio of pulse width to period, and basic logic operations include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NOT, AND, 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standard symbols.</a:t>
            </a:r>
          </a:p>
          <a:p>
            <a:pPr marL="0" marR="0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PLDs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include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SPLDs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(e.g., PAL, GAL) and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CPLDs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while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FPGAs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are used for more complex designs.</a:t>
            </a:r>
          </a:p>
          <a:p>
            <a:pPr marL="0" marR="0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ICs are categorized by packaging (through-hole, surface-mounted), logic families (CMOS, TTL/Bipolar,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BiCMOS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and complexity levels (SSI to ULSI).</a:t>
            </a:r>
          </a:p>
          <a:p>
            <a:pPr marL="0" marR="0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tools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testing digital circuits include oscilloscopes, logic analyzers, multimeters, and power supplies. Troubleshooting methods include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half-splitting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signal-tracing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  <a:p>
            <a:pPr marL="0" indent="0"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C51AB-85E1-47DC-B5CD-F6E107480075}"/>
              </a:ext>
            </a:extLst>
          </p:cNvPr>
          <p:cNvSpPr txBox="1"/>
          <p:nvPr/>
        </p:nvSpPr>
        <p:spPr>
          <a:xfrm>
            <a:off x="834888" y="855786"/>
            <a:ext cx="8584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ptos (Body)"/>
                <a:cs typeface="Times New Roman" panose="02020603050405020304" pitchFamily="18" charset="0"/>
              </a:rPr>
              <a:t>Chapter 1: Introduction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F23F5-C312-73D4-727D-A3CBBB3B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40</a:t>
            </a:fld>
            <a:endParaRPr lang="vi-V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7EE76E-C981-4B30-9EBB-6AFBC37949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77112" y="1940809"/>
            <a:ext cx="2191165" cy="92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18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3388</TotalTime>
  <Words>1862</Words>
  <Application>Microsoft Office PowerPoint</Application>
  <PresentationFormat>Widescreen</PresentationFormat>
  <Paragraphs>156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Aptos</vt:lpstr>
      <vt:lpstr>Aptos (Body)</vt:lpstr>
      <vt:lpstr>Aptos Display</vt:lpstr>
      <vt:lpstr>Aptos Display (Headings)</vt:lpstr>
      <vt:lpstr>Arial</vt:lpstr>
      <vt:lpstr>Calibri</vt:lpstr>
      <vt:lpstr>Helvetica</vt:lpstr>
      <vt:lpstr>Helvetica-Bold</vt:lpstr>
      <vt:lpstr>Symbol</vt:lpstr>
      <vt:lpstr>Times New Roman</vt:lpstr>
      <vt:lpstr>Office Theme</vt:lpstr>
      <vt:lpstr>Chapter 1: Introductory Concepts</vt:lpstr>
      <vt:lpstr>Chapter Objectives</vt:lpstr>
      <vt:lpstr>Chapter Outline</vt:lpstr>
      <vt:lpstr>1.1. Digital and Analog Quantities </vt:lpstr>
      <vt:lpstr>1.1. Digital and Analog Quantities </vt:lpstr>
      <vt:lpstr>1.1. Digital and Analog Quantities </vt:lpstr>
      <vt:lpstr>1.1. Digital and Analog Quantities </vt:lpstr>
      <vt:lpstr>1.2. Binary Digits, Logic Levels, and Digital Waveforms </vt:lpstr>
      <vt:lpstr>1.2. Binary Digits, Logic Levels, and Digital Waveforms </vt:lpstr>
      <vt:lpstr>1.2. Binary Digits, Logic Levels, and Digital Waveforms </vt:lpstr>
      <vt:lpstr>1.2. Binary Digits, Logic Levels, and Digital Waveforms </vt:lpstr>
      <vt:lpstr>1.2. Binary Digits, Logic Levels, and Digital Waveforms </vt:lpstr>
      <vt:lpstr>1.2. Binary Digits, Logic Levels, and Digital Waveforms </vt:lpstr>
      <vt:lpstr>1.2. Binary Digits, Logic Levels, and Digital Waveforms </vt:lpstr>
      <vt:lpstr>1.2. Binary Digits, Logic Levels, and Digital Waveforms </vt:lpstr>
      <vt:lpstr>1.3. Basic Logic Functions </vt:lpstr>
      <vt:lpstr>1.3. Basic Logic Functions </vt:lpstr>
      <vt:lpstr>1.3. Basic Logic Functions </vt:lpstr>
      <vt:lpstr>1.3. Basic Logic Functions </vt:lpstr>
      <vt:lpstr>1.4. Combinational and Sequential Logic Functions </vt:lpstr>
      <vt:lpstr>1.4. Combinational and Sequential Logic Functions </vt:lpstr>
      <vt:lpstr>1.4. Combinational and Sequential Logic Functions </vt:lpstr>
      <vt:lpstr>1.4. Combinational and Sequential Logic Functions </vt:lpstr>
      <vt:lpstr>1.4. Combinational and Sequential Logic Functions </vt:lpstr>
      <vt:lpstr>1.4. Combinational and Sequential Logic Functions </vt:lpstr>
      <vt:lpstr>1.5. Introduction to Programmable Logic </vt:lpstr>
      <vt:lpstr>1.5. Introduction to Programmable Logic </vt:lpstr>
      <vt:lpstr>1.5. Introduction to Programmable Logic </vt:lpstr>
      <vt:lpstr>1.5. Introduction to Programmable Logic </vt:lpstr>
      <vt:lpstr>1.6. Fixed-Function Logic Devices </vt:lpstr>
      <vt:lpstr>1.6. Fixed-Function Logic Devices </vt:lpstr>
      <vt:lpstr>1.6. Fixed-Function Logic Devices </vt:lpstr>
      <vt:lpstr>1.7. Test and Measurement Instruments </vt:lpstr>
      <vt:lpstr>1.7. Test and Measurement Instruments </vt:lpstr>
      <vt:lpstr>1.7. Test and Measurement Instruments </vt:lpstr>
      <vt:lpstr>1.7. Test and Measurement Instruments </vt:lpstr>
      <vt:lpstr>1.7. Test and Measurement Instruments </vt:lpstr>
      <vt:lpstr>1.8. Introduction to Troubleshooting </vt:lpstr>
      <vt:lpstr>1.8. Introduction to Troubleshooting 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81</cp:revision>
  <dcterms:created xsi:type="dcterms:W3CDTF">2024-04-08T01:59:57Z</dcterms:created>
  <dcterms:modified xsi:type="dcterms:W3CDTF">2025-08-27T03:47:13Z</dcterms:modified>
</cp:coreProperties>
</file>